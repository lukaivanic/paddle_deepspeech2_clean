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eepspeech2_architecture_generated_slide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206750" cy="6858000"/>
          </a:xfrm>
          <a:prstGeom prst="rect">
            <a:avLst/>
          </a:prstGeom>
          <a:solidFill>
            <a:srgbClr val="15171A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3206750" y="0"/>
            <a:ext cx="177800" cy="68580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419100" y="520700"/>
            <a:ext cx="2032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200" b="1">
                <a:solidFill>
                  <a:srgbClr val="F0B429"/>
                </a:solidFill>
                <a:latin typeface="Aptos"/>
              </a:rPr>
              <a:t>ROGJ 2025/26</a:t>
            </a:r>
            <a:endParaRPr lang="hr-HR" sz="2200"/>
          </a:p>
        </p:txBody>
      </p:sp>
      <p:sp>
        <p:nvSpPr>
          <p:cNvPr id="5" name="Text"/>
          <p:cNvSpPr txBox="1"/>
          <p:nvPr/>
        </p:nvSpPr>
        <p:spPr>
          <a:xfrm>
            <a:off x="419100" y="952500"/>
            <a:ext cx="2095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3800" b="1">
                <a:solidFill>
                  <a:srgbClr val="F8F3E8"/>
                </a:solidFill>
                <a:latin typeface="Aptos"/>
              </a:rPr>
              <a:t>Tema 12</a:t>
            </a:r>
            <a:endParaRPr lang="hr-HR" sz="3800"/>
          </a:p>
        </p:txBody>
      </p:sp>
      <p:sp>
        <p:nvSpPr>
          <p:cNvPr id="6" name="Text"/>
          <p:cNvSpPr txBox="1"/>
          <p:nvPr/>
        </p:nvSpPr>
        <p:spPr>
          <a:xfrm>
            <a:off x="3873500" y="952500"/>
            <a:ext cx="6858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3700" b="1">
                <a:solidFill>
                  <a:srgbClr val="15171A"/>
                </a:solidFill>
                <a:latin typeface="Aptos"/>
              </a:rPr>
              <a:t>Učenje akustičkih modela govora za raspoznavanje</a:t>
            </a:r>
            <a:endParaRPr lang="hr-HR" sz="3700"/>
          </a:p>
          <a:p>
            <a:r>
              <a:rPr lang="hr-HR" sz="3700" b="1">
                <a:solidFill>
                  <a:srgbClr val="15171A"/>
                </a:solidFill>
                <a:latin typeface="Aptos"/>
              </a:rPr>
              <a:t>pomoću alata DeepSpeech2</a:t>
            </a:r>
            <a:endParaRPr lang="hr-HR" sz="3700"/>
          </a:p>
        </p:txBody>
      </p:sp>
      <p:sp>
        <p:nvSpPr>
          <p:cNvPr id="7" name="Rule"/>
          <p:cNvSpPr/>
          <p:nvPr/>
        </p:nvSpPr>
        <p:spPr>
          <a:xfrm>
            <a:off x="3911600" y="2730500"/>
            <a:ext cx="5588000" cy="5715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3911600" y="3175000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400">
                <a:solidFill>
                  <a:srgbClr val="20282C"/>
                </a:solidFill>
                <a:latin typeface="Aptos"/>
              </a:rPr>
              <a:t>Zadatak: na temelju VEPRAD baze snimljenog i transkribiranog govora naučiti akustičke modele govora i testirati rad sustava.</a:t>
            </a:r>
            <a:endParaRPr lang="hr-HR" sz="2400"/>
          </a:p>
        </p:txBody>
      </p:sp>
      <p:sp>
        <p:nvSpPr>
          <p:cNvPr id="9" name="Text"/>
          <p:cNvSpPr txBox="1"/>
          <p:nvPr/>
        </p:nvSpPr>
        <p:spPr>
          <a:xfrm>
            <a:off x="3911600" y="4826000"/>
            <a:ext cx="330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>
                <a:solidFill>
                  <a:srgbClr val="6F6A5B"/>
                </a:solidFill>
                <a:latin typeface="Aptos"/>
              </a:rPr>
              <a:t>Luka Ivanić</a:t>
            </a:r>
            <a:endParaRPr lang="hr-H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44500" y="2921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E24A2A"/>
                </a:solidFill>
                <a:latin typeface="Aptos"/>
              </a:rPr>
              <a:t>02</a:t>
            </a:r>
            <a:endParaRPr lang="hr-HR" sz="1500"/>
          </a:p>
        </p:txBody>
      </p:sp>
      <p:sp>
        <p:nvSpPr>
          <p:cNvPr id="3" name="Title"/>
          <p:cNvSpPr txBox="1"/>
          <p:nvPr/>
        </p:nvSpPr>
        <p:spPr>
          <a:xfrm>
            <a:off x="444500" y="5207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350" b="1">
                <a:solidFill>
                  <a:srgbClr val="15171A"/>
                </a:solidFill>
                <a:latin typeface="Aptos"/>
              </a:rPr>
              <a:t>VEPRAD dataset</a:t>
            </a:r>
            <a:endParaRPr lang="hr-HR" sz="2350"/>
          </a:p>
        </p:txBody>
      </p:sp>
      <p:sp>
        <p:nvSpPr>
          <p:cNvPr id="4" name="Support"/>
          <p:cNvSpPr txBox="1"/>
          <p:nvPr/>
        </p:nvSpPr>
        <p:spPr>
          <a:xfrm>
            <a:off x="444500" y="1130300"/>
            <a:ext cx="793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80">
                <a:solidFill>
                  <a:srgbClr val="6F6A5B"/>
                </a:solidFill>
                <a:latin typeface="Aptos"/>
              </a:rPr>
              <a:t>Korišteni VEPRAD korpus nakon izdvajanja sm04 ima 25 govornika, 5 255 snimljenih iskaza i 8.03 h govora.</a:t>
            </a:r>
            <a:endParaRPr lang="hr-HR" sz="1080"/>
          </a:p>
        </p:txBody>
      </p:sp>
      <p:sp>
        <p:nvSpPr>
          <p:cNvPr id="5" name="Rule"/>
          <p:cNvSpPr/>
          <p:nvPr/>
        </p:nvSpPr>
        <p:spPr>
          <a:xfrm>
            <a:off x="444500" y="1447800"/>
            <a:ext cx="736600" cy="4445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444500" y="1587500"/>
            <a:ext cx="2730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Test skup</a:t>
            </a:r>
            <a:endParaRPr lang="hr-HR" sz="1800"/>
          </a:p>
        </p:txBody>
      </p:sp>
      <p:sp>
        <p:nvSpPr>
          <p:cNvPr id="7" name="Rule"/>
          <p:cNvSpPr/>
          <p:nvPr/>
        </p:nvSpPr>
        <p:spPr>
          <a:xfrm>
            <a:off x="444500" y="1828800"/>
            <a:ext cx="571500" cy="381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8" name="Rectangle"/>
          <p:cNvSpPr/>
          <p:nvPr/>
        </p:nvSpPr>
        <p:spPr>
          <a:xfrm>
            <a:off x="444500" y="2032000"/>
            <a:ext cx="266700" cy="2667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527050" y="2076450"/>
            <a:ext cx="1587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F8F3E8"/>
                </a:solidFill>
                <a:latin typeface="Aptos"/>
              </a:rPr>
              <a:t>1</a:t>
            </a:r>
            <a:endParaRPr lang="hr-HR" sz="1500"/>
          </a:p>
        </p:txBody>
      </p:sp>
      <p:sp>
        <p:nvSpPr>
          <p:cNvPr id="10" name="Text"/>
          <p:cNvSpPr txBox="1"/>
          <p:nvPr/>
        </p:nvSpPr>
        <p:spPr>
          <a:xfrm>
            <a:off x="825500" y="2044700"/>
            <a:ext cx="2730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250" b="1">
                <a:solidFill>
                  <a:srgbClr val="20282C"/>
                </a:solidFill>
                <a:latin typeface="Aptos"/>
              </a:rPr>
              <a:t>3 govornika se potpuno izdvajaju za test</a:t>
            </a:r>
            <a:endParaRPr lang="hr-HR" sz="1250"/>
          </a:p>
        </p:txBody>
      </p:sp>
      <p:sp>
        <p:nvSpPr>
          <p:cNvPr id="11" name="Rectangle"/>
          <p:cNvSpPr/>
          <p:nvPr/>
        </p:nvSpPr>
        <p:spPr>
          <a:xfrm>
            <a:off x="444500" y="2616200"/>
            <a:ext cx="266700" cy="2667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527050" y="2660650"/>
            <a:ext cx="1587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F8F3E8"/>
                </a:solidFill>
                <a:latin typeface="Aptos"/>
              </a:rPr>
              <a:t>2</a:t>
            </a:r>
            <a:endParaRPr lang="hr-HR" sz="1500"/>
          </a:p>
        </p:txBody>
      </p:sp>
      <p:sp>
        <p:nvSpPr>
          <p:cNvPr id="13" name="Text"/>
          <p:cNvSpPr txBox="1"/>
          <p:nvPr/>
        </p:nvSpPr>
        <p:spPr>
          <a:xfrm>
            <a:off x="825500" y="2628900"/>
            <a:ext cx="2730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250" b="1">
                <a:solidFill>
                  <a:srgbClr val="20282C"/>
                </a:solidFill>
                <a:latin typeface="Aptos"/>
              </a:rPr>
              <a:t>iz svih ostalih govornika uzima se oko 10% utterancea za test</a:t>
            </a:r>
            <a:endParaRPr lang="hr-HR" sz="1250"/>
          </a:p>
        </p:txBody>
      </p:sp>
      <p:sp>
        <p:nvSpPr>
          <p:cNvPr id="14" name="Rectangle"/>
          <p:cNvSpPr/>
          <p:nvPr/>
        </p:nvSpPr>
        <p:spPr>
          <a:xfrm>
            <a:off x="444500" y="3200400"/>
            <a:ext cx="266700" cy="266700"/>
          </a:xfrm>
          <a:prstGeom prst="rect">
            <a:avLst/>
          </a:prstGeom>
          <a:solidFill>
            <a:srgbClr val="F0B429"/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527050" y="3244850"/>
            <a:ext cx="1587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15171A"/>
                </a:solidFill>
                <a:latin typeface="Aptos"/>
              </a:rPr>
              <a:t>3</a:t>
            </a:r>
            <a:endParaRPr lang="hr-HR" sz="1500"/>
          </a:p>
        </p:txBody>
      </p:sp>
      <p:sp>
        <p:nvSpPr>
          <p:cNvPr id="16" name="Text"/>
          <p:cNvSpPr txBox="1"/>
          <p:nvPr/>
        </p:nvSpPr>
        <p:spPr>
          <a:xfrm>
            <a:off x="825500" y="3213100"/>
            <a:ext cx="2730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250" b="1">
                <a:solidFill>
                  <a:srgbClr val="20282C"/>
                </a:solidFill>
                <a:latin typeface="Aptos"/>
              </a:rPr>
              <a:t>test snimke i transkripte izdvojili smo jednom i držimo ih odvojeno od CV skupova</a:t>
            </a:r>
            <a:endParaRPr lang="hr-HR" sz="1250"/>
          </a:p>
        </p:txBody>
      </p:sp>
      <p:sp>
        <p:nvSpPr>
          <p:cNvPr id="17" name="Text"/>
          <p:cNvSpPr txBox="1"/>
          <p:nvPr/>
        </p:nvSpPr>
        <p:spPr>
          <a:xfrm>
            <a:off x="444500" y="3873500"/>
            <a:ext cx="3302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220">
                <a:solidFill>
                  <a:srgbClr val="6F6A5B"/>
                </a:solidFill>
                <a:latin typeface="Aptos"/>
              </a:rPr>
              <a:t>sm04 je ostavljen izvan aktivnog split poola jer nije bilo dovoljno jasno što točno predstavlja; time smanjujemo rizik od curenja podataka.</a:t>
            </a:r>
            <a:endParaRPr lang="hr-HR" sz="1220"/>
          </a:p>
        </p:txBody>
      </p:sp>
      <p:sp>
        <p:nvSpPr>
          <p:cNvPr id="18" name="Text"/>
          <p:cNvSpPr txBox="1"/>
          <p:nvPr/>
        </p:nvSpPr>
        <p:spPr>
          <a:xfrm>
            <a:off x="4127500" y="1587500"/>
            <a:ext cx="3175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Jedan VEPRAD CV split</a:t>
            </a:r>
            <a:endParaRPr lang="hr-HR" sz="1800"/>
          </a:p>
        </p:txBody>
      </p:sp>
      <p:sp>
        <p:nvSpPr>
          <p:cNvPr id="19" name="Rule"/>
          <p:cNvSpPr/>
          <p:nvPr/>
        </p:nvSpPr>
        <p:spPr>
          <a:xfrm>
            <a:off x="4127500" y="1828800"/>
            <a:ext cx="571500" cy="381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20" name="Table background"/>
          <p:cNvSpPr/>
          <p:nvPr/>
        </p:nvSpPr>
        <p:spPr>
          <a:xfrm>
            <a:off x="4127500" y="2032000"/>
            <a:ext cx="5397500" cy="2844800"/>
          </a:xfrm>
          <a:prstGeom prst="rect">
            <a:avLst/>
          </a:prstGeom>
          <a:solidFill>
            <a:srgbClr val="F8F3E8"/>
          </a:solidFill>
          <a:ln w="12700">
            <a:solidFill>
              <a:srgbClr val="D6C8B5"/>
            </a:solidFill>
          </a:ln>
        </p:spPr>
      </p:sp>
      <p:sp>
        <p:nvSpPr>
          <p:cNvPr id="21" name="Table header"/>
          <p:cNvSpPr/>
          <p:nvPr/>
        </p:nvSpPr>
        <p:spPr>
          <a:xfrm>
            <a:off x="4127500" y="2032000"/>
            <a:ext cx="5397500" cy="3556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22" name="Table stripe"/>
          <p:cNvSpPr/>
          <p:nvPr/>
        </p:nvSpPr>
        <p:spPr>
          <a:xfrm>
            <a:off x="4127500" y="2743200"/>
            <a:ext cx="5397500" cy="355600"/>
          </a:xfrm>
          <a:prstGeom prst="rect">
            <a:avLst/>
          </a:prstGeom>
          <a:solidFill>
            <a:srgbClr val="F2DFC7"/>
          </a:solidFill>
          <a:ln>
            <a:noFill/>
          </a:ln>
        </p:spPr>
      </p:sp>
      <p:sp>
        <p:nvSpPr>
          <p:cNvPr id="23" name="Table stripe"/>
          <p:cNvSpPr/>
          <p:nvPr/>
        </p:nvSpPr>
        <p:spPr>
          <a:xfrm>
            <a:off x="4127500" y="3454400"/>
            <a:ext cx="5397500" cy="355600"/>
          </a:xfrm>
          <a:prstGeom prst="rect">
            <a:avLst/>
          </a:prstGeom>
          <a:solidFill>
            <a:srgbClr val="F2DFC7"/>
          </a:solidFill>
          <a:ln>
            <a:noFill/>
          </a:ln>
        </p:spPr>
      </p:sp>
      <p:sp>
        <p:nvSpPr>
          <p:cNvPr id="24" name="Table stripe"/>
          <p:cNvSpPr/>
          <p:nvPr/>
        </p:nvSpPr>
        <p:spPr>
          <a:xfrm>
            <a:off x="4127500" y="4165600"/>
            <a:ext cx="5397500" cy="355600"/>
          </a:xfrm>
          <a:prstGeom prst="rect">
            <a:avLst/>
          </a:prstGeom>
          <a:solidFill>
            <a:srgbClr val="F2DFC7"/>
          </a:solidFill>
          <a:ln>
            <a:noFill/>
          </a:ln>
        </p:spPr>
      </p:sp>
      <p:sp>
        <p:nvSpPr>
          <p:cNvPr id="25" name="Header"/>
          <p:cNvSpPr txBox="1"/>
          <p:nvPr/>
        </p:nvSpPr>
        <p:spPr>
          <a:xfrm>
            <a:off x="4178300" y="2089150"/>
            <a:ext cx="1358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F8F3E8"/>
                </a:solidFill>
                <a:latin typeface="Aptos"/>
              </a:rPr>
              <a:t>Subset</a:t>
            </a:r>
            <a:endParaRPr lang="hr-HR" sz="1000"/>
          </a:p>
        </p:txBody>
      </p:sp>
      <p:sp>
        <p:nvSpPr>
          <p:cNvPr id="26" name="Header"/>
          <p:cNvSpPr txBox="1"/>
          <p:nvPr/>
        </p:nvSpPr>
        <p:spPr>
          <a:xfrm>
            <a:off x="5638800" y="208915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F8F3E8"/>
                </a:solidFill>
                <a:latin typeface="Aptos"/>
              </a:rPr>
              <a:t>utt.</a:t>
            </a:r>
            <a:endParaRPr lang="hr-HR" sz="1000"/>
          </a:p>
        </p:txBody>
      </p:sp>
      <p:sp>
        <p:nvSpPr>
          <p:cNvPr id="27" name="Header"/>
          <p:cNvSpPr txBox="1"/>
          <p:nvPr/>
        </p:nvSpPr>
        <p:spPr>
          <a:xfrm>
            <a:off x="6591300" y="208915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F8F3E8"/>
                </a:solidFill>
                <a:latin typeface="Aptos"/>
              </a:rPr>
              <a:t>gov.</a:t>
            </a:r>
            <a:endParaRPr lang="hr-HR" sz="1000"/>
          </a:p>
        </p:txBody>
      </p:sp>
      <p:sp>
        <p:nvSpPr>
          <p:cNvPr id="28" name="Header"/>
          <p:cNvSpPr txBox="1"/>
          <p:nvPr/>
        </p:nvSpPr>
        <p:spPr>
          <a:xfrm>
            <a:off x="7543800" y="208915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F8F3E8"/>
                </a:solidFill>
                <a:latin typeface="Aptos"/>
              </a:rPr>
              <a:t>h</a:t>
            </a:r>
            <a:endParaRPr lang="hr-HR" sz="1000"/>
          </a:p>
        </p:txBody>
      </p:sp>
      <p:sp>
        <p:nvSpPr>
          <p:cNvPr id="29" name="Header"/>
          <p:cNvSpPr txBox="1"/>
          <p:nvPr/>
        </p:nvSpPr>
        <p:spPr>
          <a:xfrm>
            <a:off x="8496300" y="2089150"/>
            <a:ext cx="977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F8F3E8"/>
                </a:solidFill>
                <a:latin typeface="Aptos"/>
              </a:rPr>
              <a:t>uloga</a:t>
            </a:r>
            <a:endParaRPr lang="hr-HR" sz="1000"/>
          </a:p>
        </p:txBody>
      </p:sp>
      <p:sp>
        <p:nvSpPr>
          <p:cNvPr id="30" name="Cell"/>
          <p:cNvSpPr txBox="1"/>
          <p:nvPr/>
        </p:nvSpPr>
        <p:spPr>
          <a:xfrm>
            <a:off x="4178300" y="2438400"/>
            <a:ext cx="1358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15171A"/>
                </a:solidFill>
                <a:latin typeface="Aptos"/>
              </a:rPr>
              <a:t>train</a:t>
            </a:r>
            <a:endParaRPr lang="hr-HR" sz="1000"/>
          </a:p>
        </p:txBody>
      </p:sp>
      <p:sp>
        <p:nvSpPr>
          <p:cNvPr id="31" name="Cell"/>
          <p:cNvSpPr txBox="1"/>
          <p:nvPr/>
        </p:nvSpPr>
        <p:spPr>
          <a:xfrm>
            <a:off x="5638800" y="24384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3057</a:t>
            </a:r>
            <a:endParaRPr lang="hr-HR" sz="1000"/>
          </a:p>
        </p:txBody>
      </p:sp>
      <p:sp>
        <p:nvSpPr>
          <p:cNvPr id="32" name="Cell"/>
          <p:cNvSpPr txBox="1"/>
          <p:nvPr/>
        </p:nvSpPr>
        <p:spPr>
          <a:xfrm>
            <a:off x="6591300" y="24384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19</a:t>
            </a:r>
            <a:endParaRPr lang="hr-HR" sz="1000"/>
          </a:p>
        </p:txBody>
      </p:sp>
      <p:sp>
        <p:nvSpPr>
          <p:cNvPr id="33" name="Cell"/>
          <p:cNvSpPr txBox="1"/>
          <p:nvPr/>
        </p:nvSpPr>
        <p:spPr>
          <a:xfrm>
            <a:off x="7543800" y="24384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4.72</a:t>
            </a:r>
            <a:endParaRPr lang="hr-HR" sz="1000"/>
          </a:p>
        </p:txBody>
      </p:sp>
      <p:sp>
        <p:nvSpPr>
          <p:cNvPr id="34" name="Cell"/>
          <p:cNvSpPr txBox="1"/>
          <p:nvPr/>
        </p:nvSpPr>
        <p:spPr>
          <a:xfrm>
            <a:off x="8496300" y="2438400"/>
            <a:ext cx="977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učenje modela</a:t>
            </a:r>
            <a:endParaRPr lang="hr-HR" sz="1000"/>
          </a:p>
        </p:txBody>
      </p:sp>
      <p:sp>
        <p:nvSpPr>
          <p:cNvPr id="35" name="Cell"/>
          <p:cNvSpPr txBox="1"/>
          <p:nvPr/>
        </p:nvSpPr>
        <p:spPr>
          <a:xfrm>
            <a:off x="4178300" y="2794000"/>
            <a:ext cx="1358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15171A"/>
                </a:solidFill>
                <a:latin typeface="Aptos"/>
              </a:rPr>
              <a:t>val</a:t>
            </a:r>
            <a:endParaRPr lang="hr-HR" sz="1000"/>
          </a:p>
        </p:txBody>
      </p:sp>
      <p:sp>
        <p:nvSpPr>
          <p:cNvPr id="36" name="Cell"/>
          <p:cNvSpPr txBox="1"/>
          <p:nvPr/>
        </p:nvSpPr>
        <p:spPr>
          <a:xfrm>
            <a:off x="5638800" y="27940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1205</a:t>
            </a:r>
            <a:endParaRPr lang="hr-HR" sz="1000"/>
          </a:p>
        </p:txBody>
      </p:sp>
      <p:sp>
        <p:nvSpPr>
          <p:cNvPr id="37" name="Cell"/>
          <p:cNvSpPr txBox="1"/>
          <p:nvPr/>
        </p:nvSpPr>
        <p:spPr>
          <a:xfrm>
            <a:off x="6591300" y="27940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22</a:t>
            </a:r>
            <a:endParaRPr lang="hr-HR" sz="1000"/>
          </a:p>
        </p:txBody>
      </p:sp>
      <p:sp>
        <p:nvSpPr>
          <p:cNvPr id="38" name="Cell"/>
          <p:cNvSpPr txBox="1"/>
          <p:nvPr/>
        </p:nvSpPr>
        <p:spPr>
          <a:xfrm>
            <a:off x="7543800" y="27940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1.81</a:t>
            </a:r>
            <a:endParaRPr lang="hr-HR" sz="1000"/>
          </a:p>
        </p:txBody>
      </p:sp>
      <p:sp>
        <p:nvSpPr>
          <p:cNvPr id="39" name="Cell"/>
          <p:cNvSpPr txBox="1"/>
          <p:nvPr/>
        </p:nvSpPr>
        <p:spPr>
          <a:xfrm>
            <a:off x="8496300" y="2794000"/>
            <a:ext cx="977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odabir/usporedba</a:t>
            </a:r>
            <a:endParaRPr lang="hr-HR" sz="1000"/>
          </a:p>
        </p:txBody>
      </p:sp>
      <p:sp>
        <p:nvSpPr>
          <p:cNvPr id="40" name="Cell"/>
          <p:cNvSpPr txBox="1"/>
          <p:nvPr/>
        </p:nvSpPr>
        <p:spPr>
          <a:xfrm>
            <a:off x="4178300" y="3149600"/>
            <a:ext cx="1358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15171A"/>
                </a:solidFill>
                <a:latin typeface="Aptos"/>
              </a:rPr>
              <a:t>val seen</a:t>
            </a:r>
            <a:endParaRPr lang="hr-HR" sz="1000"/>
          </a:p>
        </p:txBody>
      </p:sp>
      <p:sp>
        <p:nvSpPr>
          <p:cNvPr id="41" name="Cell"/>
          <p:cNvSpPr txBox="1"/>
          <p:nvPr/>
        </p:nvSpPr>
        <p:spPr>
          <a:xfrm>
            <a:off x="5638800" y="31496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349</a:t>
            </a:r>
            <a:endParaRPr lang="hr-HR" sz="1000"/>
          </a:p>
        </p:txBody>
      </p:sp>
      <p:sp>
        <p:nvSpPr>
          <p:cNvPr id="42" name="Cell"/>
          <p:cNvSpPr txBox="1"/>
          <p:nvPr/>
        </p:nvSpPr>
        <p:spPr>
          <a:xfrm>
            <a:off x="6591300" y="31496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19</a:t>
            </a:r>
            <a:endParaRPr lang="hr-HR" sz="1000"/>
          </a:p>
        </p:txBody>
      </p:sp>
      <p:sp>
        <p:nvSpPr>
          <p:cNvPr id="43" name="Cell"/>
          <p:cNvSpPr txBox="1"/>
          <p:nvPr/>
        </p:nvSpPr>
        <p:spPr>
          <a:xfrm>
            <a:off x="7543800" y="31496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0.54</a:t>
            </a:r>
            <a:endParaRPr lang="hr-HR" sz="1000"/>
          </a:p>
        </p:txBody>
      </p:sp>
      <p:sp>
        <p:nvSpPr>
          <p:cNvPr id="44" name="Cell"/>
          <p:cNvSpPr txBox="1"/>
          <p:nvPr/>
        </p:nvSpPr>
        <p:spPr>
          <a:xfrm>
            <a:off x="8496300" y="3149600"/>
            <a:ext cx="977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isti govornici</a:t>
            </a:r>
            <a:endParaRPr lang="hr-HR" sz="1000"/>
          </a:p>
        </p:txBody>
      </p:sp>
      <p:sp>
        <p:nvSpPr>
          <p:cNvPr id="45" name="Cell"/>
          <p:cNvSpPr txBox="1"/>
          <p:nvPr/>
        </p:nvSpPr>
        <p:spPr>
          <a:xfrm>
            <a:off x="4178300" y="3505200"/>
            <a:ext cx="1358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15171A"/>
                </a:solidFill>
                <a:latin typeface="Aptos"/>
              </a:rPr>
              <a:t>val unseen</a:t>
            </a:r>
            <a:endParaRPr lang="hr-HR" sz="1000"/>
          </a:p>
        </p:txBody>
      </p:sp>
      <p:sp>
        <p:nvSpPr>
          <p:cNvPr id="46" name="Cell"/>
          <p:cNvSpPr txBox="1"/>
          <p:nvPr/>
        </p:nvSpPr>
        <p:spPr>
          <a:xfrm>
            <a:off x="5638800" y="35052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856</a:t>
            </a:r>
            <a:endParaRPr lang="hr-HR" sz="1000"/>
          </a:p>
        </p:txBody>
      </p:sp>
      <p:sp>
        <p:nvSpPr>
          <p:cNvPr id="47" name="Cell"/>
          <p:cNvSpPr txBox="1"/>
          <p:nvPr/>
        </p:nvSpPr>
        <p:spPr>
          <a:xfrm>
            <a:off x="6591300" y="35052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3</a:t>
            </a:r>
            <a:endParaRPr lang="hr-HR" sz="1000"/>
          </a:p>
        </p:txBody>
      </p:sp>
      <p:sp>
        <p:nvSpPr>
          <p:cNvPr id="48" name="Cell"/>
          <p:cNvSpPr txBox="1"/>
          <p:nvPr/>
        </p:nvSpPr>
        <p:spPr>
          <a:xfrm>
            <a:off x="7543800" y="35052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1.26</a:t>
            </a:r>
            <a:endParaRPr lang="hr-HR" sz="1000"/>
          </a:p>
        </p:txBody>
      </p:sp>
      <p:sp>
        <p:nvSpPr>
          <p:cNvPr id="49" name="Cell"/>
          <p:cNvSpPr txBox="1"/>
          <p:nvPr/>
        </p:nvSpPr>
        <p:spPr>
          <a:xfrm>
            <a:off x="8496300" y="3505200"/>
            <a:ext cx="977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novi govornici</a:t>
            </a:r>
            <a:endParaRPr lang="hr-HR" sz="1000"/>
          </a:p>
        </p:txBody>
      </p:sp>
      <p:sp>
        <p:nvSpPr>
          <p:cNvPr id="50" name="Cell"/>
          <p:cNvSpPr txBox="1"/>
          <p:nvPr/>
        </p:nvSpPr>
        <p:spPr>
          <a:xfrm>
            <a:off x="4178300" y="3860800"/>
            <a:ext cx="1358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15171A"/>
                </a:solidFill>
                <a:latin typeface="Aptos"/>
              </a:rPr>
              <a:t>test</a:t>
            </a:r>
            <a:endParaRPr lang="hr-HR" sz="1000"/>
          </a:p>
        </p:txBody>
      </p:sp>
      <p:sp>
        <p:nvSpPr>
          <p:cNvPr id="51" name="Cell"/>
          <p:cNvSpPr txBox="1"/>
          <p:nvPr/>
        </p:nvSpPr>
        <p:spPr>
          <a:xfrm>
            <a:off x="5638800" y="38608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993</a:t>
            </a:r>
            <a:endParaRPr lang="hr-HR" sz="1000"/>
          </a:p>
        </p:txBody>
      </p:sp>
      <p:sp>
        <p:nvSpPr>
          <p:cNvPr id="52" name="Cell"/>
          <p:cNvSpPr txBox="1"/>
          <p:nvPr/>
        </p:nvSpPr>
        <p:spPr>
          <a:xfrm>
            <a:off x="6591300" y="38608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25</a:t>
            </a:r>
            <a:endParaRPr lang="hr-HR" sz="1000"/>
          </a:p>
        </p:txBody>
      </p:sp>
      <p:sp>
        <p:nvSpPr>
          <p:cNvPr id="53" name="Cell"/>
          <p:cNvSpPr txBox="1"/>
          <p:nvPr/>
        </p:nvSpPr>
        <p:spPr>
          <a:xfrm>
            <a:off x="7543800" y="38608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1.50</a:t>
            </a:r>
            <a:endParaRPr lang="hr-HR" sz="1000"/>
          </a:p>
        </p:txBody>
      </p:sp>
      <p:sp>
        <p:nvSpPr>
          <p:cNvPr id="54" name="Cell"/>
          <p:cNvSpPr txBox="1"/>
          <p:nvPr/>
        </p:nvSpPr>
        <p:spPr>
          <a:xfrm>
            <a:off x="8496300" y="3860800"/>
            <a:ext cx="977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zamrznuta provjera</a:t>
            </a:r>
            <a:endParaRPr lang="hr-HR" sz="1000"/>
          </a:p>
        </p:txBody>
      </p:sp>
      <p:sp>
        <p:nvSpPr>
          <p:cNvPr id="55" name="Cell"/>
          <p:cNvSpPr txBox="1"/>
          <p:nvPr/>
        </p:nvSpPr>
        <p:spPr>
          <a:xfrm>
            <a:off x="4178300" y="4216400"/>
            <a:ext cx="1358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15171A"/>
                </a:solidFill>
                <a:latin typeface="Aptos"/>
              </a:rPr>
              <a:t>test seen</a:t>
            </a:r>
            <a:endParaRPr lang="hr-HR" sz="1000"/>
          </a:p>
        </p:txBody>
      </p:sp>
      <p:sp>
        <p:nvSpPr>
          <p:cNvPr id="56" name="Cell"/>
          <p:cNvSpPr txBox="1"/>
          <p:nvPr/>
        </p:nvSpPr>
        <p:spPr>
          <a:xfrm>
            <a:off x="5638800" y="42164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486</a:t>
            </a:r>
            <a:endParaRPr lang="hr-HR" sz="1000"/>
          </a:p>
        </p:txBody>
      </p:sp>
      <p:sp>
        <p:nvSpPr>
          <p:cNvPr id="57" name="Cell"/>
          <p:cNvSpPr txBox="1"/>
          <p:nvPr/>
        </p:nvSpPr>
        <p:spPr>
          <a:xfrm>
            <a:off x="6591300" y="42164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22</a:t>
            </a:r>
            <a:endParaRPr lang="hr-HR" sz="1000"/>
          </a:p>
        </p:txBody>
      </p:sp>
      <p:sp>
        <p:nvSpPr>
          <p:cNvPr id="58" name="Cell"/>
          <p:cNvSpPr txBox="1"/>
          <p:nvPr/>
        </p:nvSpPr>
        <p:spPr>
          <a:xfrm>
            <a:off x="7543800" y="42164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0.74</a:t>
            </a:r>
            <a:endParaRPr lang="hr-HR" sz="1000"/>
          </a:p>
        </p:txBody>
      </p:sp>
      <p:sp>
        <p:nvSpPr>
          <p:cNvPr id="59" name="Cell"/>
          <p:cNvSpPr txBox="1"/>
          <p:nvPr/>
        </p:nvSpPr>
        <p:spPr>
          <a:xfrm>
            <a:off x="8496300" y="4216400"/>
            <a:ext cx="977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isti govornici</a:t>
            </a:r>
            <a:endParaRPr lang="hr-HR" sz="1000"/>
          </a:p>
        </p:txBody>
      </p:sp>
      <p:sp>
        <p:nvSpPr>
          <p:cNvPr id="60" name="Cell"/>
          <p:cNvSpPr txBox="1"/>
          <p:nvPr/>
        </p:nvSpPr>
        <p:spPr>
          <a:xfrm>
            <a:off x="4178300" y="4572000"/>
            <a:ext cx="1358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 b="1">
                <a:solidFill>
                  <a:srgbClr val="15171A"/>
                </a:solidFill>
                <a:latin typeface="Aptos"/>
              </a:rPr>
              <a:t>test unseen</a:t>
            </a:r>
            <a:endParaRPr lang="hr-HR" sz="1000"/>
          </a:p>
        </p:txBody>
      </p:sp>
      <p:sp>
        <p:nvSpPr>
          <p:cNvPr id="61" name="Cell"/>
          <p:cNvSpPr txBox="1"/>
          <p:nvPr/>
        </p:nvSpPr>
        <p:spPr>
          <a:xfrm>
            <a:off x="5638800" y="45720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507</a:t>
            </a:r>
            <a:endParaRPr lang="hr-HR" sz="1000"/>
          </a:p>
        </p:txBody>
      </p:sp>
      <p:sp>
        <p:nvSpPr>
          <p:cNvPr id="62" name="Cell"/>
          <p:cNvSpPr txBox="1"/>
          <p:nvPr/>
        </p:nvSpPr>
        <p:spPr>
          <a:xfrm>
            <a:off x="6591300" y="45720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3</a:t>
            </a:r>
            <a:endParaRPr lang="hr-HR" sz="1000"/>
          </a:p>
        </p:txBody>
      </p:sp>
      <p:sp>
        <p:nvSpPr>
          <p:cNvPr id="63" name="Cell"/>
          <p:cNvSpPr txBox="1"/>
          <p:nvPr/>
        </p:nvSpPr>
        <p:spPr>
          <a:xfrm>
            <a:off x="7543800" y="4572000"/>
            <a:ext cx="850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0.76</a:t>
            </a:r>
            <a:endParaRPr lang="hr-HR" sz="1000"/>
          </a:p>
        </p:txBody>
      </p:sp>
      <p:sp>
        <p:nvSpPr>
          <p:cNvPr id="64" name="Cell"/>
          <p:cNvSpPr txBox="1"/>
          <p:nvPr/>
        </p:nvSpPr>
        <p:spPr>
          <a:xfrm>
            <a:off x="8496300" y="4572000"/>
            <a:ext cx="977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00">
                <a:solidFill>
                  <a:srgbClr val="20282C"/>
                </a:solidFill>
                <a:latin typeface="Aptos"/>
              </a:rPr>
              <a:t>novi govornici</a:t>
            </a:r>
            <a:endParaRPr lang="hr-HR" sz="1000"/>
          </a:p>
        </p:txBody>
      </p:sp>
      <p:sp>
        <p:nvSpPr>
          <p:cNvPr id="65" name="Text"/>
          <p:cNvSpPr txBox="1"/>
          <p:nvPr/>
        </p:nvSpPr>
        <p:spPr>
          <a:xfrm>
            <a:off x="4127500" y="4826000"/>
            <a:ext cx="48895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400">
                <a:solidFill>
                  <a:srgbClr val="6F6A5B"/>
                </a:solidFill>
                <a:latin typeface="Aptos"/>
              </a:rPr>
              <a:t>Namjera VEPRAD splitova je mjeriti dvije stvari odvojeno: koliko model generalizira na nove rečenice istih govornika i koliko generalizira na potpuno neviđene govornike.</a:t>
            </a:r>
            <a:endParaRPr lang="hr-HR" sz="1400"/>
          </a:p>
        </p:txBody>
      </p:sp>
      <p:sp>
        <p:nvSpPr>
          <p:cNvPr id="66" name="Rectangle"/>
          <p:cNvSpPr/>
          <p:nvPr/>
        </p:nvSpPr>
        <p:spPr>
          <a:xfrm>
            <a:off x="444500" y="5588000"/>
            <a:ext cx="9461500" cy="469900"/>
          </a:xfrm>
          <a:prstGeom prst="rect">
            <a:avLst/>
          </a:prstGeom>
          <a:solidFill>
            <a:srgbClr val="F2DFC7"/>
          </a:solidFill>
          <a:ln w="12700">
            <a:solidFill>
              <a:srgbClr val="D6C8B5"/>
            </a:solidFill>
          </a:ln>
        </p:spPr>
      </p:sp>
      <p:sp>
        <p:nvSpPr>
          <p:cNvPr id="67" name="Text"/>
          <p:cNvSpPr txBox="1"/>
          <p:nvPr/>
        </p:nvSpPr>
        <p:spPr>
          <a:xfrm>
            <a:off x="609600" y="5702300"/>
            <a:ext cx="91313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450" b="1">
                <a:solidFill>
                  <a:srgbClr val="15171A"/>
                </a:solidFill>
                <a:latin typeface="Aptos"/>
              </a:rPr>
              <a:t>Reproducibilnost: permanentni test skup ne diramo nakon stvaranja; za nove validacijske eksperimente generiramo nove CV splitove iz non-test poola.</a:t>
            </a:r>
            <a:endParaRPr lang="hr-HR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44500" y="2921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E24A2A"/>
                </a:solidFill>
                <a:latin typeface="Aptos"/>
              </a:rPr>
              <a:t>03</a:t>
            </a:r>
            <a:endParaRPr lang="hr-HR" sz="1500"/>
          </a:p>
        </p:txBody>
      </p:sp>
      <p:sp>
        <p:nvSpPr>
          <p:cNvPr id="3" name="Title"/>
          <p:cNvSpPr txBox="1"/>
          <p:nvPr/>
        </p:nvSpPr>
        <p:spPr>
          <a:xfrm>
            <a:off x="444500" y="5207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350" b="1">
                <a:solidFill>
                  <a:srgbClr val="15171A"/>
                </a:solidFill>
                <a:latin typeface="Aptos"/>
              </a:rPr>
              <a:t>VEPRAD + DeepSpeech2 Pipeline</a:t>
            </a:r>
            <a:endParaRPr lang="hr-HR" sz="2350"/>
          </a:p>
        </p:txBody>
      </p:sp>
      <p:sp>
        <p:nvSpPr>
          <p:cNvPr id="4" name="Support"/>
          <p:cNvSpPr txBox="1"/>
          <p:nvPr/>
        </p:nvSpPr>
        <p:spPr>
          <a:xfrm>
            <a:off x="444500" y="1130300"/>
            <a:ext cx="793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80">
                <a:solidFill>
                  <a:srgbClr val="6F6A5B"/>
                </a:solidFill>
                <a:latin typeface="Aptos"/>
              </a:rPr>
              <a:t>Od VEPRAD snimki i transkripata gradimo značajke, CTC rječnik, akustički model i WER/CER evaluaciju.</a:t>
            </a:r>
            <a:endParaRPr lang="hr-HR" sz="1080"/>
          </a:p>
        </p:txBody>
      </p:sp>
      <p:sp>
        <p:nvSpPr>
          <p:cNvPr id="5" name="Rule"/>
          <p:cNvSpPr/>
          <p:nvPr/>
        </p:nvSpPr>
        <p:spPr>
          <a:xfrm>
            <a:off x="444500" y="1447800"/>
            <a:ext cx="736600" cy="4445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6" name="Rectangle"/>
          <p:cNvSpPr/>
          <p:nvPr/>
        </p:nvSpPr>
        <p:spPr>
          <a:xfrm>
            <a:off x="444500" y="1854200"/>
            <a:ext cx="1422400" cy="711200"/>
          </a:xfrm>
          <a:prstGeom prst="rect">
            <a:avLst/>
          </a:prstGeom>
          <a:solidFill>
            <a:srgbClr val="15171A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58800" y="1955800"/>
            <a:ext cx="1193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F8F3E8"/>
                </a:solidFill>
                <a:latin typeface="Aptos"/>
              </a:rPr>
              <a:t>VEPRAD</a:t>
            </a:r>
            <a:endParaRPr lang="hr-HR" sz="1800"/>
          </a:p>
        </p:txBody>
      </p:sp>
      <p:sp>
        <p:nvSpPr>
          <p:cNvPr id="8" name="Text"/>
          <p:cNvSpPr txBox="1"/>
          <p:nvPr/>
        </p:nvSpPr>
        <p:spPr>
          <a:xfrm>
            <a:off x="558800" y="2197100"/>
            <a:ext cx="119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80">
                <a:solidFill>
                  <a:srgbClr val="F8F3E8"/>
                </a:solidFill>
                <a:latin typeface="Aptos"/>
              </a:rPr>
              <a:t>audio + txt</a:t>
            </a:r>
            <a:endParaRPr lang="hr-HR" sz="980"/>
          </a:p>
        </p:txBody>
      </p:sp>
      <p:sp>
        <p:nvSpPr>
          <p:cNvPr id="9" name="Text"/>
          <p:cNvSpPr txBox="1"/>
          <p:nvPr/>
        </p:nvSpPr>
        <p:spPr>
          <a:xfrm>
            <a:off x="1943100" y="207645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400" b="1">
                <a:solidFill>
                  <a:srgbClr val="E24A2A"/>
                </a:solidFill>
                <a:latin typeface="Aptos"/>
              </a:rPr>
              <a:t>→</a:t>
            </a:r>
            <a:endParaRPr lang="hr-HR" sz="2400"/>
          </a:p>
        </p:txBody>
      </p:sp>
      <p:sp>
        <p:nvSpPr>
          <p:cNvPr id="10" name="Rectangle"/>
          <p:cNvSpPr/>
          <p:nvPr/>
        </p:nvSpPr>
        <p:spPr>
          <a:xfrm>
            <a:off x="2197100" y="1854200"/>
            <a:ext cx="1422400" cy="7112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2311400" y="1955800"/>
            <a:ext cx="1193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F8F3E8"/>
                </a:solidFill>
                <a:latin typeface="Aptos"/>
              </a:rPr>
              <a:t>manifesti</a:t>
            </a:r>
            <a:endParaRPr lang="hr-HR" sz="1800"/>
          </a:p>
        </p:txBody>
      </p:sp>
      <p:sp>
        <p:nvSpPr>
          <p:cNvPr id="12" name="Text"/>
          <p:cNvSpPr txBox="1"/>
          <p:nvPr/>
        </p:nvSpPr>
        <p:spPr>
          <a:xfrm>
            <a:off x="2311400" y="2197100"/>
            <a:ext cx="119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80">
                <a:solidFill>
                  <a:srgbClr val="F8F3E8"/>
                </a:solidFill>
                <a:latin typeface="Aptos"/>
              </a:rPr>
              <a:t>JSONL rel. paths</a:t>
            </a:r>
            <a:endParaRPr lang="hr-HR" sz="980"/>
          </a:p>
        </p:txBody>
      </p:sp>
      <p:sp>
        <p:nvSpPr>
          <p:cNvPr id="13" name="Text"/>
          <p:cNvSpPr txBox="1"/>
          <p:nvPr/>
        </p:nvSpPr>
        <p:spPr>
          <a:xfrm>
            <a:off x="3695700" y="207645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400" b="1">
                <a:solidFill>
                  <a:srgbClr val="E24A2A"/>
                </a:solidFill>
                <a:latin typeface="Aptos"/>
              </a:rPr>
              <a:t>→</a:t>
            </a:r>
            <a:endParaRPr lang="hr-HR" sz="2400"/>
          </a:p>
        </p:txBody>
      </p:sp>
      <p:sp>
        <p:nvSpPr>
          <p:cNvPr id="14" name="Rectangle"/>
          <p:cNvSpPr/>
          <p:nvPr/>
        </p:nvSpPr>
        <p:spPr>
          <a:xfrm>
            <a:off x="3949700" y="1854200"/>
            <a:ext cx="1422400" cy="711200"/>
          </a:xfrm>
          <a:prstGeom prst="rect">
            <a:avLst/>
          </a:prstGeom>
          <a:solidFill>
            <a:srgbClr val="F0B429"/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4064000" y="1955800"/>
            <a:ext cx="1193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features</a:t>
            </a:r>
            <a:endParaRPr lang="hr-HR" sz="1800"/>
          </a:p>
        </p:txBody>
      </p:sp>
      <p:sp>
        <p:nvSpPr>
          <p:cNvPr id="16" name="Text"/>
          <p:cNvSpPr txBox="1"/>
          <p:nvPr/>
        </p:nvSpPr>
        <p:spPr>
          <a:xfrm>
            <a:off x="4064000" y="2197100"/>
            <a:ext cx="119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80">
                <a:solidFill>
                  <a:srgbClr val="15171A"/>
                </a:solidFill>
                <a:latin typeface="Aptos"/>
              </a:rPr>
              <a:t>fbank_kaldi</a:t>
            </a:r>
            <a:endParaRPr lang="hr-HR" sz="980"/>
          </a:p>
          <a:p>
            <a:r>
              <a:rPr lang="hr-HR" sz="980">
                <a:solidFill>
                  <a:srgbClr val="15171A"/>
                </a:solidFill>
                <a:latin typeface="Aptos"/>
              </a:rPr>
              <a:t>+ CMVN</a:t>
            </a:r>
            <a:endParaRPr lang="hr-HR" sz="980"/>
          </a:p>
        </p:txBody>
      </p:sp>
      <p:sp>
        <p:nvSpPr>
          <p:cNvPr id="17" name="Text"/>
          <p:cNvSpPr txBox="1"/>
          <p:nvPr/>
        </p:nvSpPr>
        <p:spPr>
          <a:xfrm>
            <a:off x="5448300" y="207645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400" b="1">
                <a:solidFill>
                  <a:srgbClr val="E24A2A"/>
                </a:solidFill>
                <a:latin typeface="Aptos"/>
              </a:rPr>
              <a:t>→</a:t>
            </a:r>
            <a:endParaRPr lang="hr-HR" sz="2400"/>
          </a:p>
        </p:txBody>
      </p:sp>
      <p:sp>
        <p:nvSpPr>
          <p:cNvPr id="18" name="Rectangle"/>
          <p:cNvSpPr/>
          <p:nvPr/>
        </p:nvSpPr>
        <p:spPr>
          <a:xfrm>
            <a:off x="5702300" y="1854200"/>
            <a:ext cx="1422400" cy="711200"/>
          </a:xfrm>
          <a:prstGeom prst="rect">
            <a:avLst/>
          </a:prstGeom>
          <a:solidFill>
            <a:srgbClr val="5A7D3A"/>
          </a:solidFill>
          <a:ln>
            <a:noFill/>
          </a:ln>
        </p:spPr>
      </p:sp>
      <p:sp>
        <p:nvSpPr>
          <p:cNvPr id="19" name="Text"/>
          <p:cNvSpPr txBox="1"/>
          <p:nvPr/>
        </p:nvSpPr>
        <p:spPr>
          <a:xfrm>
            <a:off x="5816600" y="1955800"/>
            <a:ext cx="1193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F8F3E8"/>
                </a:solidFill>
                <a:latin typeface="Aptos"/>
              </a:rPr>
              <a:t>vocab</a:t>
            </a:r>
            <a:endParaRPr lang="hr-HR" sz="1800"/>
          </a:p>
        </p:txBody>
      </p:sp>
      <p:sp>
        <p:nvSpPr>
          <p:cNvPr id="20" name="Text"/>
          <p:cNvSpPr txBox="1"/>
          <p:nvPr/>
        </p:nvSpPr>
        <p:spPr>
          <a:xfrm>
            <a:off x="5816600" y="2197100"/>
            <a:ext cx="119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80">
                <a:solidFill>
                  <a:srgbClr val="F8F3E8"/>
                </a:solidFill>
                <a:latin typeface="Aptos"/>
              </a:rPr>
              <a:t>31 char, train-only</a:t>
            </a:r>
            <a:endParaRPr lang="hr-HR" sz="980"/>
          </a:p>
        </p:txBody>
      </p:sp>
      <p:sp>
        <p:nvSpPr>
          <p:cNvPr id="21" name="Text"/>
          <p:cNvSpPr txBox="1"/>
          <p:nvPr/>
        </p:nvSpPr>
        <p:spPr>
          <a:xfrm>
            <a:off x="7200900" y="207645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400" b="1">
                <a:solidFill>
                  <a:srgbClr val="E24A2A"/>
                </a:solidFill>
                <a:latin typeface="Aptos"/>
              </a:rPr>
              <a:t>→</a:t>
            </a:r>
            <a:endParaRPr lang="hr-HR" sz="2400"/>
          </a:p>
        </p:txBody>
      </p:sp>
      <p:sp>
        <p:nvSpPr>
          <p:cNvPr id="22" name="Rectangle"/>
          <p:cNvSpPr/>
          <p:nvPr/>
        </p:nvSpPr>
        <p:spPr>
          <a:xfrm>
            <a:off x="7454900" y="1854200"/>
            <a:ext cx="1422400" cy="7112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23" name="Text"/>
          <p:cNvSpPr txBox="1"/>
          <p:nvPr/>
        </p:nvSpPr>
        <p:spPr>
          <a:xfrm>
            <a:off x="7569200" y="1955800"/>
            <a:ext cx="1193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F8F3E8"/>
                </a:solidFill>
                <a:latin typeface="Aptos"/>
              </a:rPr>
              <a:t>DS2</a:t>
            </a:r>
            <a:endParaRPr lang="hr-HR" sz="1800"/>
          </a:p>
        </p:txBody>
      </p:sp>
      <p:sp>
        <p:nvSpPr>
          <p:cNvPr id="24" name="Text"/>
          <p:cNvSpPr txBox="1"/>
          <p:nvPr/>
        </p:nvSpPr>
        <p:spPr>
          <a:xfrm>
            <a:off x="7569200" y="2197100"/>
            <a:ext cx="119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80">
                <a:solidFill>
                  <a:srgbClr val="F8F3E8"/>
                </a:solidFill>
                <a:latin typeface="Aptos"/>
              </a:rPr>
              <a:t>CTC trening</a:t>
            </a:r>
            <a:endParaRPr lang="hr-HR" sz="980"/>
          </a:p>
        </p:txBody>
      </p:sp>
      <p:sp>
        <p:nvSpPr>
          <p:cNvPr id="25" name="Text"/>
          <p:cNvSpPr txBox="1"/>
          <p:nvPr/>
        </p:nvSpPr>
        <p:spPr>
          <a:xfrm>
            <a:off x="8953500" y="207645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400" b="1">
                <a:solidFill>
                  <a:srgbClr val="E24A2A"/>
                </a:solidFill>
                <a:latin typeface="Aptos"/>
              </a:rPr>
              <a:t>→</a:t>
            </a:r>
            <a:endParaRPr lang="hr-HR" sz="2400"/>
          </a:p>
        </p:txBody>
      </p:sp>
      <p:sp>
        <p:nvSpPr>
          <p:cNvPr id="26" name="Rectangle"/>
          <p:cNvSpPr/>
          <p:nvPr/>
        </p:nvSpPr>
        <p:spPr>
          <a:xfrm>
            <a:off x="9207500" y="1854200"/>
            <a:ext cx="1422400" cy="711200"/>
          </a:xfrm>
          <a:prstGeom prst="rect">
            <a:avLst/>
          </a:prstGeom>
          <a:solidFill>
            <a:srgbClr val="15171A"/>
          </a:solidFill>
          <a:ln>
            <a:noFill/>
          </a:ln>
        </p:spPr>
      </p:sp>
      <p:sp>
        <p:nvSpPr>
          <p:cNvPr id="27" name="Text"/>
          <p:cNvSpPr txBox="1"/>
          <p:nvPr/>
        </p:nvSpPr>
        <p:spPr>
          <a:xfrm>
            <a:off x="9321800" y="1955800"/>
            <a:ext cx="1193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F8F3E8"/>
                </a:solidFill>
                <a:latin typeface="Aptos"/>
              </a:rPr>
              <a:t>eval</a:t>
            </a:r>
            <a:endParaRPr lang="hr-HR" sz="1800"/>
          </a:p>
        </p:txBody>
      </p:sp>
      <p:sp>
        <p:nvSpPr>
          <p:cNvPr id="28" name="Text"/>
          <p:cNvSpPr txBox="1"/>
          <p:nvPr/>
        </p:nvSpPr>
        <p:spPr>
          <a:xfrm>
            <a:off x="9321800" y="2197100"/>
            <a:ext cx="119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80">
                <a:solidFill>
                  <a:srgbClr val="F8F3E8"/>
                </a:solidFill>
                <a:latin typeface="Aptos"/>
              </a:rPr>
              <a:t>WER/CER</a:t>
            </a:r>
            <a:endParaRPr lang="hr-HR" sz="980"/>
          </a:p>
          <a:p>
            <a:r>
              <a:rPr lang="hr-HR" sz="980">
                <a:solidFill>
                  <a:srgbClr val="F8F3E8"/>
                </a:solidFill>
                <a:latin typeface="Aptos"/>
              </a:rPr>
              <a:t>po subsetu</a:t>
            </a:r>
            <a:endParaRPr lang="hr-HR" sz="980"/>
          </a:p>
        </p:txBody>
      </p:sp>
      <p:sp>
        <p:nvSpPr>
          <p:cNvPr id="29" name="Text"/>
          <p:cNvSpPr txBox="1"/>
          <p:nvPr/>
        </p:nvSpPr>
        <p:spPr>
          <a:xfrm>
            <a:off x="584200" y="2984500"/>
            <a:ext cx="273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Preprocessing odluke</a:t>
            </a:r>
            <a:endParaRPr lang="hr-HR" sz="1800"/>
          </a:p>
        </p:txBody>
      </p:sp>
      <p:sp>
        <p:nvSpPr>
          <p:cNvPr id="30" name="Rule"/>
          <p:cNvSpPr/>
          <p:nvPr/>
        </p:nvSpPr>
        <p:spPr>
          <a:xfrm>
            <a:off x="584200" y="3225800"/>
            <a:ext cx="571500" cy="381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584200" y="3365500"/>
            <a:ext cx="36195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50">
                <a:solidFill>
                  <a:srgbClr val="20282C"/>
                </a:solidFill>
                <a:latin typeface="Aptos"/>
              </a:rPr>
              <a:t>• 16 kHz, 25 ms window, 10 ms shift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161-bin fbank_kaldi + CMVN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character CTC vocab built only from train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Croatian letters covered: 0 unknown chars on val/test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no data augmentation in these runs</a:t>
            </a:r>
            <a:endParaRPr lang="hr-HR" sz="1350"/>
          </a:p>
        </p:txBody>
      </p:sp>
      <p:sp>
        <p:nvSpPr>
          <p:cNvPr id="32" name="Text"/>
          <p:cNvSpPr txBox="1"/>
          <p:nvPr/>
        </p:nvSpPr>
        <p:spPr>
          <a:xfrm>
            <a:off x="4762500" y="2984500"/>
            <a:ext cx="2984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Transkripti i event tagovi</a:t>
            </a:r>
            <a:endParaRPr lang="hr-HR" sz="1800"/>
          </a:p>
        </p:txBody>
      </p:sp>
      <p:sp>
        <p:nvSpPr>
          <p:cNvPr id="33" name="Rule"/>
          <p:cNvSpPr/>
          <p:nvPr/>
        </p:nvSpPr>
        <p:spPr>
          <a:xfrm>
            <a:off x="4762500" y="3225800"/>
            <a:ext cx="571500" cy="381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34" name="Text"/>
          <p:cNvSpPr txBox="1"/>
          <p:nvPr/>
        </p:nvSpPr>
        <p:spPr>
          <a:xfrm>
            <a:off x="4762500" y="3365500"/>
            <a:ext cx="41275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400" b="1">
                <a:solidFill>
                  <a:srgbClr val="20282C"/>
                </a:solidFill>
                <a:latin typeface="Aptos"/>
              </a:rPr>
              <a:t>ASR target je normalizirano polje text.</a:t>
            </a:r>
            <a:endParaRPr lang="hr-HR" sz="1400"/>
          </a:p>
          <a:p>
            <a:r>
              <a:rPr lang="hr-HR" sz="1300">
                <a:solidFill>
                  <a:srgbClr val="6F6A5B"/>
                </a:solidFill>
                <a:latin typeface="Aptos"/>
              </a:rPr>
              <a:t>Event tagovi poput &lt;uzdah&gt; ostaju u text_raw/non_speech_events, ali se ne treniraju kao CTC znakovi jer bi se u character modu rastavili na &lt;, u, z, ...</a:t>
            </a:r>
            <a:endParaRPr lang="hr-HR" sz="1300"/>
          </a:p>
        </p:txBody>
      </p:sp>
      <p:sp>
        <p:nvSpPr>
          <p:cNvPr id="35" name="Rectangle"/>
          <p:cNvSpPr/>
          <p:nvPr/>
        </p:nvSpPr>
        <p:spPr>
          <a:xfrm>
            <a:off x="584200" y="5016500"/>
            <a:ext cx="8509000" cy="596900"/>
          </a:xfrm>
          <a:prstGeom prst="rect">
            <a:avLst/>
          </a:prstGeom>
          <a:solidFill>
            <a:srgbClr val="15171A"/>
          </a:solidFill>
          <a:ln>
            <a:noFill/>
          </a:ln>
        </p:spPr>
      </p:sp>
      <p:sp>
        <p:nvSpPr>
          <p:cNvPr id="36" name="Text"/>
          <p:cNvSpPr txBox="1"/>
          <p:nvPr/>
        </p:nvSpPr>
        <p:spPr>
          <a:xfrm>
            <a:off x="762000" y="5130800"/>
            <a:ext cx="8128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50" b="1">
                <a:solidFill>
                  <a:srgbClr val="F8F3E8"/>
                </a:solidFill>
                <a:latin typeface="Aptos"/>
              </a:rPr>
              <a:t>Isti preprocessing i isti split protokol koriste se za sve modele, pa razlike u WER/CER rezultatima dolaze iz arhitekture modela i dekodiranja, a ne iz promjene podataka.</a:t>
            </a:r>
            <a:endParaRPr lang="hr-HR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epSpeech2 archite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44500" y="2921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E24A2A"/>
                </a:solidFill>
                <a:latin typeface="Aptos"/>
              </a:rPr>
              <a:t>05 · MODELI I HIPERPARAMETRI</a:t>
            </a:r>
            <a:endParaRPr lang="hr-HR" sz="1500"/>
          </a:p>
        </p:txBody>
      </p:sp>
      <p:sp>
        <p:nvSpPr>
          <p:cNvPr id="3" name="Title"/>
          <p:cNvSpPr txBox="1"/>
          <p:nvPr/>
        </p:nvSpPr>
        <p:spPr>
          <a:xfrm>
            <a:off x="444500" y="5207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350" b="1">
                <a:solidFill>
                  <a:srgbClr val="15171A"/>
                </a:solidFill>
                <a:latin typeface="Aptos"/>
              </a:rPr>
              <a:t>Paper-small i dvije varijante na istom VEPRAD splitu.</a:t>
            </a:r>
            <a:endParaRPr lang="hr-HR" sz="2350"/>
          </a:p>
        </p:txBody>
      </p:sp>
      <p:sp>
        <p:nvSpPr>
          <p:cNvPr id="4" name="Support"/>
          <p:cNvSpPr txBox="1"/>
          <p:nvPr/>
        </p:nvSpPr>
        <p:spPr>
          <a:xfrm>
            <a:off x="444500" y="1130300"/>
            <a:ext cx="793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80">
                <a:solidFill>
                  <a:srgbClr val="6F6A5B"/>
                </a:solidFill>
                <a:latin typeface="Aptos"/>
              </a:rPr>
              <a:t>Konfiguracije su paper-close unutar PaddleSpeech DS2 opcija, ali nisu doslovna reprodukcija Deep Speech 2 rada.</a:t>
            </a:r>
            <a:endParaRPr lang="hr-HR" sz="1080"/>
          </a:p>
        </p:txBody>
      </p:sp>
      <p:sp>
        <p:nvSpPr>
          <p:cNvPr id="5" name="Rule"/>
          <p:cNvSpPr/>
          <p:nvPr/>
        </p:nvSpPr>
        <p:spPr>
          <a:xfrm>
            <a:off x="444500" y="1447800"/>
            <a:ext cx="736600" cy="4445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6" name="Table background"/>
          <p:cNvSpPr/>
          <p:nvPr/>
        </p:nvSpPr>
        <p:spPr>
          <a:xfrm>
            <a:off x="444500" y="1587500"/>
            <a:ext cx="8032750" cy="1371600"/>
          </a:xfrm>
          <a:prstGeom prst="rect">
            <a:avLst/>
          </a:prstGeom>
          <a:solidFill>
            <a:srgbClr val="F8F3E8"/>
          </a:solidFill>
          <a:ln w="12700">
            <a:solidFill>
              <a:srgbClr val="D6C8B5"/>
            </a:solidFill>
          </a:ln>
        </p:spPr>
      </p:sp>
      <p:sp>
        <p:nvSpPr>
          <p:cNvPr id="7" name="Table header"/>
          <p:cNvSpPr/>
          <p:nvPr/>
        </p:nvSpPr>
        <p:spPr>
          <a:xfrm>
            <a:off x="444500" y="1587500"/>
            <a:ext cx="8032750" cy="3429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8" name="Table stripe"/>
          <p:cNvSpPr/>
          <p:nvPr/>
        </p:nvSpPr>
        <p:spPr>
          <a:xfrm>
            <a:off x="444500" y="2273300"/>
            <a:ext cx="8032750" cy="342900"/>
          </a:xfrm>
          <a:prstGeom prst="rect">
            <a:avLst/>
          </a:prstGeom>
          <a:solidFill>
            <a:srgbClr val="F2DFC7"/>
          </a:solidFill>
          <a:ln>
            <a:noFill/>
          </a:ln>
        </p:spPr>
      </p:sp>
      <p:sp>
        <p:nvSpPr>
          <p:cNvPr id="9" name="Header"/>
          <p:cNvSpPr txBox="1"/>
          <p:nvPr/>
        </p:nvSpPr>
        <p:spPr>
          <a:xfrm>
            <a:off x="495300" y="164465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Run</a:t>
            </a:r>
            <a:endParaRPr lang="hr-HR" sz="1020"/>
          </a:p>
        </p:txBody>
      </p:sp>
      <p:sp>
        <p:nvSpPr>
          <p:cNvPr id="10" name="Header"/>
          <p:cNvSpPr txBox="1"/>
          <p:nvPr/>
        </p:nvSpPr>
        <p:spPr>
          <a:xfrm>
            <a:off x="2273300" y="1644650"/>
            <a:ext cx="977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cell</a:t>
            </a:r>
            <a:endParaRPr lang="hr-HR" sz="1020"/>
          </a:p>
        </p:txBody>
      </p:sp>
      <p:sp>
        <p:nvSpPr>
          <p:cNvPr id="11" name="Header"/>
          <p:cNvSpPr txBox="1"/>
          <p:nvPr/>
        </p:nvSpPr>
        <p:spPr>
          <a:xfrm>
            <a:off x="3352800" y="1644650"/>
            <a:ext cx="850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layers</a:t>
            </a:r>
            <a:endParaRPr lang="hr-HR" sz="1020"/>
          </a:p>
        </p:txBody>
      </p:sp>
      <p:sp>
        <p:nvSpPr>
          <p:cNvPr id="12" name="Header"/>
          <p:cNvSpPr txBox="1"/>
          <p:nvPr/>
        </p:nvSpPr>
        <p:spPr>
          <a:xfrm>
            <a:off x="4305300" y="1644650"/>
            <a:ext cx="787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hidden</a:t>
            </a:r>
            <a:endParaRPr lang="hr-HR" sz="1020"/>
          </a:p>
        </p:txBody>
      </p:sp>
      <p:sp>
        <p:nvSpPr>
          <p:cNvPr id="13" name="Header"/>
          <p:cNvSpPr txBox="1"/>
          <p:nvPr/>
        </p:nvSpPr>
        <p:spPr>
          <a:xfrm>
            <a:off x="5194300" y="1644650"/>
            <a:ext cx="819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params</a:t>
            </a:r>
            <a:endParaRPr lang="hr-HR" sz="1020"/>
          </a:p>
        </p:txBody>
      </p:sp>
      <p:sp>
        <p:nvSpPr>
          <p:cNvPr id="14" name="Header"/>
          <p:cNvSpPr txBox="1"/>
          <p:nvPr/>
        </p:nvSpPr>
        <p:spPr>
          <a:xfrm>
            <a:off x="6115050" y="1644650"/>
            <a:ext cx="850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epochs</a:t>
            </a:r>
            <a:endParaRPr lang="hr-HR" sz="1020"/>
          </a:p>
        </p:txBody>
      </p:sp>
      <p:sp>
        <p:nvSpPr>
          <p:cNvPr id="15" name="Header"/>
          <p:cNvSpPr txBox="1"/>
          <p:nvPr/>
        </p:nvSpPr>
        <p:spPr>
          <a:xfrm>
            <a:off x="7067550" y="1644650"/>
            <a:ext cx="1358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uloga</a:t>
            </a:r>
            <a:endParaRPr lang="hr-HR" sz="1020"/>
          </a:p>
        </p:txBody>
      </p:sp>
      <p:sp>
        <p:nvSpPr>
          <p:cNvPr id="16" name="Cell"/>
          <p:cNvSpPr txBox="1"/>
          <p:nvPr/>
        </p:nvSpPr>
        <p:spPr>
          <a:xfrm>
            <a:off x="495300" y="1981200"/>
            <a:ext cx="167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15171A"/>
                </a:solidFill>
                <a:latin typeface="Aptos"/>
              </a:rPr>
              <a:t>paper_small_001</a:t>
            </a:r>
            <a:endParaRPr lang="hr-HR" sz="1020"/>
          </a:p>
        </p:txBody>
      </p:sp>
      <p:sp>
        <p:nvSpPr>
          <p:cNvPr id="17" name="Cell"/>
          <p:cNvSpPr txBox="1"/>
          <p:nvPr/>
        </p:nvSpPr>
        <p:spPr>
          <a:xfrm>
            <a:off x="2273300" y="1981200"/>
            <a:ext cx="977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GRU</a:t>
            </a:r>
            <a:endParaRPr lang="hr-HR" sz="1020"/>
          </a:p>
        </p:txBody>
      </p:sp>
      <p:sp>
        <p:nvSpPr>
          <p:cNvPr id="18" name="Cell"/>
          <p:cNvSpPr txBox="1"/>
          <p:nvPr/>
        </p:nvSpPr>
        <p:spPr>
          <a:xfrm>
            <a:off x="3352800" y="198120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5 biRNN</a:t>
            </a:r>
            <a:endParaRPr lang="hr-HR" sz="1020"/>
          </a:p>
        </p:txBody>
      </p:sp>
      <p:sp>
        <p:nvSpPr>
          <p:cNvPr id="19" name="Cell"/>
          <p:cNvSpPr txBox="1"/>
          <p:nvPr/>
        </p:nvSpPr>
        <p:spPr>
          <a:xfrm>
            <a:off x="4305300" y="19812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650</a:t>
            </a:r>
            <a:endParaRPr lang="hr-HR" sz="1020"/>
          </a:p>
        </p:txBody>
      </p:sp>
      <p:sp>
        <p:nvSpPr>
          <p:cNvPr id="20" name="Cell"/>
          <p:cNvSpPr txBox="1"/>
          <p:nvPr/>
        </p:nvSpPr>
        <p:spPr>
          <a:xfrm>
            <a:off x="5194300" y="1981200"/>
            <a:ext cx="8191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36.21M</a:t>
            </a:r>
            <a:endParaRPr lang="hr-HR" sz="1020"/>
          </a:p>
        </p:txBody>
      </p:sp>
      <p:sp>
        <p:nvSpPr>
          <p:cNvPr id="21" name="Cell"/>
          <p:cNvSpPr txBox="1"/>
          <p:nvPr/>
        </p:nvSpPr>
        <p:spPr>
          <a:xfrm>
            <a:off x="6115050" y="198120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20</a:t>
            </a:r>
            <a:endParaRPr lang="hr-HR" sz="1020"/>
          </a:p>
        </p:txBody>
      </p:sp>
      <p:sp>
        <p:nvSpPr>
          <p:cNvPr id="22" name="Cell"/>
          <p:cNvSpPr txBox="1"/>
          <p:nvPr/>
        </p:nvSpPr>
        <p:spPr>
          <a:xfrm>
            <a:off x="7067550" y="1981200"/>
            <a:ext cx="1358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najbliže small DS2</a:t>
            </a:r>
            <a:endParaRPr lang="hr-HR" sz="1020"/>
          </a:p>
        </p:txBody>
      </p:sp>
      <p:sp>
        <p:nvSpPr>
          <p:cNvPr id="23" name="Cell"/>
          <p:cNvSpPr txBox="1"/>
          <p:nvPr/>
        </p:nvSpPr>
        <p:spPr>
          <a:xfrm>
            <a:off x="495300" y="2324100"/>
            <a:ext cx="167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15171A"/>
                </a:solidFill>
                <a:latin typeface="Aptos"/>
              </a:rPr>
              <a:t>paper_7gru_001</a:t>
            </a:r>
            <a:endParaRPr lang="hr-HR" sz="1020"/>
          </a:p>
        </p:txBody>
      </p:sp>
      <p:sp>
        <p:nvSpPr>
          <p:cNvPr id="24" name="Cell"/>
          <p:cNvSpPr txBox="1"/>
          <p:nvPr/>
        </p:nvSpPr>
        <p:spPr>
          <a:xfrm>
            <a:off x="2273300" y="2324100"/>
            <a:ext cx="977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GRU</a:t>
            </a:r>
            <a:endParaRPr lang="hr-HR" sz="1020"/>
          </a:p>
        </p:txBody>
      </p:sp>
      <p:sp>
        <p:nvSpPr>
          <p:cNvPr id="25" name="Cell"/>
          <p:cNvSpPr txBox="1"/>
          <p:nvPr/>
        </p:nvSpPr>
        <p:spPr>
          <a:xfrm>
            <a:off x="3352800" y="232410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7 biRNN</a:t>
            </a:r>
            <a:endParaRPr lang="hr-HR" sz="1020"/>
          </a:p>
        </p:txBody>
      </p:sp>
      <p:sp>
        <p:nvSpPr>
          <p:cNvPr id="26" name="Cell"/>
          <p:cNvSpPr txBox="1"/>
          <p:nvPr/>
        </p:nvSpPr>
        <p:spPr>
          <a:xfrm>
            <a:off x="4305300" y="23241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650</a:t>
            </a:r>
            <a:endParaRPr lang="hr-HR" sz="1020"/>
          </a:p>
        </p:txBody>
      </p:sp>
      <p:sp>
        <p:nvSpPr>
          <p:cNvPr id="27" name="Cell"/>
          <p:cNvSpPr txBox="1"/>
          <p:nvPr/>
        </p:nvSpPr>
        <p:spPr>
          <a:xfrm>
            <a:off x="5194300" y="2324100"/>
            <a:ext cx="8191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50.73M</a:t>
            </a:r>
            <a:endParaRPr lang="hr-HR" sz="1020"/>
          </a:p>
        </p:txBody>
      </p:sp>
      <p:sp>
        <p:nvSpPr>
          <p:cNvPr id="28" name="Cell"/>
          <p:cNvSpPr txBox="1"/>
          <p:nvPr/>
        </p:nvSpPr>
        <p:spPr>
          <a:xfrm>
            <a:off x="6115050" y="232410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20</a:t>
            </a:r>
            <a:endParaRPr lang="hr-HR" sz="1020"/>
          </a:p>
        </p:txBody>
      </p:sp>
      <p:sp>
        <p:nvSpPr>
          <p:cNvPr id="29" name="Cell"/>
          <p:cNvSpPr txBox="1"/>
          <p:nvPr/>
        </p:nvSpPr>
        <p:spPr>
          <a:xfrm>
            <a:off x="7067550" y="2324100"/>
            <a:ext cx="1358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+2 sloja</a:t>
            </a:r>
            <a:endParaRPr lang="hr-HR" sz="1020"/>
          </a:p>
        </p:txBody>
      </p:sp>
      <p:sp>
        <p:nvSpPr>
          <p:cNvPr id="30" name="Cell"/>
          <p:cNvSpPr txBox="1"/>
          <p:nvPr/>
        </p:nvSpPr>
        <p:spPr>
          <a:xfrm>
            <a:off x="495300" y="2667000"/>
            <a:ext cx="167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15171A"/>
                </a:solidFill>
                <a:latin typeface="Aptos"/>
              </a:rPr>
              <a:t>paper_7lstm_001</a:t>
            </a:r>
            <a:endParaRPr lang="hr-HR" sz="1020"/>
          </a:p>
        </p:txBody>
      </p:sp>
      <p:sp>
        <p:nvSpPr>
          <p:cNvPr id="31" name="Cell"/>
          <p:cNvSpPr txBox="1"/>
          <p:nvPr/>
        </p:nvSpPr>
        <p:spPr>
          <a:xfrm>
            <a:off x="2273300" y="2667000"/>
            <a:ext cx="977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LSTM</a:t>
            </a:r>
            <a:endParaRPr lang="hr-HR" sz="1020"/>
          </a:p>
        </p:txBody>
      </p:sp>
      <p:sp>
        <p:nvSpPr>
          <p:cNvPr id="32" name="Cell"/>
          <p:cNvSpPr txBox="1"/>
          <p:nvPr/>
        </p:nvSpPr>
        <p:spPr>
          <a:xfrm>
            <a:off x="3352800" y="266700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7 biRNN</a:t>
            </a:r>
            <a:endParaRPr lang="hr-HR" sz="1020"/>
          </a:p>
        </p:txBody>
      </p:sp>
      <p:sp>
        <p:nvSpPr>
          <p:cNvPr id="33" name="Cell"/>
          <p:cNvSpPr txBox="1"/>
          <p:nvPr/>
        </p:nvSpPr>
        <p:spPr>
          <a:xfrm>
            <a:off x="4305300" y="2667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650</a:t>
            </a:r>
            <a:endParaRPr lang="hr-HR" sz="1020"/>
          </a:p>
        </p:txBody>
      </p:sp>
      <p:sp>
        <p:nvSpPr>
          <p:cNvPr id="34" name="Cell"/>
          <p:cNvSpPr txBox="1"/>
          <p:nvPr/>
        </p:nvSpPr>
        <p:spPr>
          <a:xfrm>
            <a:off x="5194300" y="2667000"/>
            <a:ext cx="8191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67.61M</a:t>
            </a:r>
            <a:endParaRPr lang="hr-HR" sz="1020"/>
          </a:p>
        </p:txBody>
      </p:sp>
      <p:sp>
        <p:nvSpPr>
          <p:cNvPr id="35" name="Cell"/>
          <p:cNvSpPr txBox="1"/>
          <p:nvPr/>
        </p:nvSpPr>
        <p:spPr>
          <a:xfrm>
            <a:off x="6115050" y="2667000"/>
            <a:ext cx="850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20</a:t>
            </a:r>
            <a:endParaRPr lang="hr-HR" sz="1020"/>
          </a:p>
        </p:txBody>
      </p:sp>
      <p:sp>
        <p:nvSpPr>
          <p:cNvPr id="36" name="Cell"/>
          <p:cNvSpPr txBox="1"/>
          <p:nvPr/>
        </p:nvSpPr>
        <p:spPr>
          <a:xfrm>
            <a:off x="7067550" y="2667000"/>
            <a:ext cx="1358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usporedba cella</a:t>
            </a:r>
            <a:endParaRPr lang="hr-HR" sz="1020"/>
          </a:p>
        </p:txBody>
      </p:sp>
      <p:sp>
        <p:nvSpPr>
          <p:cNvPr id="37" name="Text"/>
          <p:cNvSpPr txBox="1"/>
          <p:nvPr/>
        </p:nvSpPr>
        <p:spPr>
          <a:xfrm>
            <a:off x="444500" y="31432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Što smo zadržali</a:t>
            </a:r>
            <a:endParaRPr lang="hr-HR" sz="1800"/>
          </a:p>
        </p:txBody>
      </p:sp>
      <p:sp>
        <p:nvSpPr>
          <p:cNvPr id="38" name="Rule"/>
          <p:cNvSpPr/>
          <p:nvPr/>
        </p:nvSpPr>
        <p:spPr>
          <a:xfrm>
            <a:off x="444500" y="3384550"/>
            <a:ext cx="571500" cy="381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39" name="Text"/>
          <p:cNvSpPr txBox="1"/>
          <p:nvPr/>
        </p:nvSpPr>
        <p:spPr>
          <a:xfrm>
            <a:off x="444500" y="3524250"/>
            <a:ext cx="3111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00">
                <a:solidFill>
                  <a:srgbClr val="20282C"/>
                </a:solidFill>
                <a:latin typeface="Aptos"/>
              </a:rPr>
              <a:t>• konvolucijski front-end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bidirectional offline recurrent layers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character CTC targets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beam-search decoding path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external word-level KenLM scorer</a:t>
            </a:r>
            <a:endParaRPr lang="hr-HR" sz="1300"/>
          </a:p>
        </p:txBody>
      </p:sp>
      <p:sp>
        <p:nvSpPr>
          <p:cNvPr id="40" name="Text"/>
          <p:cNvSpPr txBox="1"/>
          <p:nvPr/>
        </p:nvSpPr>
        <p:spPr>
          <a:xfrm>
            <a:off x="3873500" y="3143250"/>
            <a:ext cx="2984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Zajednički trening</a:t>
            </a:r>
            <a:endParaRPr lang="hr-HR" sz="1800"/>
          </a:p>
        </p:txBody>
      </p:sp>
      <p:sp>
        <p:nvSpPr>
          <p:cNvPr id="41" name="Rule"/>
          <p:cNvSpPr/>
          <p:nvPr/>
        </p:nvSpPr>
        <p:spPr>
          <a:xfrm>
            <a:off x="3873500" y="3384550"/>
            <a:ext cx="571500" cy="38100"/>
          </a:xfrm>
          <a:prstGeom prst="rect">
            <a:avLst/>
          </a:prstGeom>
          <a:solidFill>
            <a:srgbClr val="F0B429"/>
          </a:solidFill>
          <a:ln>
            <a:noFill/>
          </a:ln>
        </p:spPr>
      </p:sp>
      <p:sp>
        <p:nvSpPr>
          <p:cNvPr id="42" name="Text"/>
          <p:cNvSpPr txBox="1"/>
          <p:nvPr/>
        </p:nvSpPr>
        <p:spPr>
          <a:xfrm>
            <a:off x="3873500" y="352425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00">
                <a:solidFill>
                  <a:srgbClr val="20282C"/>
                </a:solidFill>
                <a:latin typeface="Aptos"/>
              </a:rPr>
              <a:t>• fbank_kaldi 161 + CMVN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no data augmentation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batch size 32, 8 workers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lr 5e-4, decay 0.93, grad clip 5.0</a:t>
            </a:r>
            <a:endParaRPr lang="hr-HR" sz="1300"/>
          </a:p>
          <a:p>
            <a:r>
              <a:rPr lang="hr-HR" sz="1300">
                <a:solidFill>
                  <a:srgbClr val="20282C"/>
                </a:solidFill>
                <a:latin typeface="Aptos"/>
              </a:rPr>
              <a:t>• avg_1 checkpoint for final eval</a:t>
            </a:r>
            <a:endParaRPr lang="hr-HR" sz="1300"/>
          </a:p>
        </p:txBody>
      </p:sp>
      <p:sp>
        <p:nvSpPr>
          <p:cNvPr id="43" name="Text"/>
          <p:cNvSpPr txBox="1"/>
          <p:nvPr/>
        </p:nvSpPr>
        <p:spPr>
          <a:xfrm>
            <a:off x="7048500" y="3143250"/>
            <a:ext cx="3937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700" b="1">
                <a:solidFill>
                  <a:srgbClr val="15171A"/>
                </a:solidFill>
                <a:latin typeface="Aptos"/>
              </a:rPr>
              <a:t>Razlike od paper konfiguracije</a:t>
            </a:r>
            <a:endParaRPr lang="hr-HR" sz="1700"/>
          </a:p>
        </p:txBody>
      </p:sp>
      <p:sp>
        <p:nvSpPr>
          <p:cNvPr id="44" name="Rule"/>
          <p:cNvSpPr/>
          <p:nvPr/>
        </p:nvSpPr>
        <p:spPr>
          <a:xfrm>
            <a:off x="7048500" y="3511550"/>
            <a:ext cx="571500" cy="381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45" name="Text"/>
          <p:cNvSpPr txBox="1"/>
          <p:nvPr/>
        </p:nvSpPr>
        <p:spPr>
          <a:xfrm>
            <a:off x="7048500" y="3670300"/>
            <a:ext cx="4064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240">
                <a:solidFill>
                  <a:srgbClr val="20282C"/>
                </a:solidFill>
                <a:latin typeface="Aptos"/>
              </a:rPr>
              <a:t>• BatchNorm nije izravno izložen u ovom DS2 pathu</a:t>
            </a:r>
            <a:endParaRPr lang="hr-HR" sz="1240"/>
          </a:p>
          <a:p>
            <a:r>
              <a:rPr lang="hr-HR" sz="1240">
                <a:solidFill>
                  <a:srgbClr val="20282C"/>
                </a:solidFill>
                <a:latin typeface="Aptos"/>
              </a:rPr>
              <a:t>• exact log-spectrogram setup zamijenjen je fbank_kaldi značajkama</a:t>
            </a:r>
            <a:endParaRPr lang="hr-HR" sz="1240"/>
          </a:p>
          <a:p>
            <a:r>
              <a:rPr lang="hr-HR" sz="1240">
                <a:solidFill>
                  <a:srgbClr val="20282C"/>
                </a:solidFill>
                <a:latin typeface="Aptos"/>
              </a:rPr>
              <a:t>• trainer koristi Adam + LR decay, ne Nesterov momentum</a:t>
            </a:r>
            <a:endParaRPr lang="hr-HR" sz="1240"/>
          </a:p>
          <a:p>
            <a:r>
              <a:rPr lang="hr-HR" sz="1240">
                <a:solidFill>
                  <a:srgbClr val="20282C"/>
                </a:solidFill>
                <a:latin typeface="Aptos"/>
              </a:rPr>
              <a:t>• lookahead convolution nije uključena bez source edita</a:t>
            </a:r>
            <a:endParaRPr lang="hr-HR" sz="1240"/>
          </a:p>
        </p:txBody>
      </p:sp>
      <p:sp>
        <p:nvSpPr>
          <p:cNvPr id="46" name="Rectangle"/>
          <p:cNvSpPr/>
          <p:nvPr/>
        </p:nvSpPr>
        <p:spPr>
          <a:xfrm>
            <a:off x="444500" y="5397500"/>
            <a:ext cx="8699500" cy="571500"/>
          </a:xfrm>
          <a:prstGeom prst="rect">
            <a:avLst/>
          </a:prstGeom>
          <a:solidFill>
            <a:srgbClr val="F2DFC7"/>
          </a:solidFill>
          <a:ln w="12700">
            <a:solidFill>
              <a:srgbClr val="D6C8B5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609600" y="5524500"/>
            <a:ext cx="838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00" b="1">
                <a:solidFill>
                  <a:srgbClr val="15171A"/>
                </a:solidFill>
                <a:latin typeface="Aptos"/>
              </a:rPr>
              <a:t>Zaključak: najbliži paper-small run koristi 5 bidirectional GRU slojeva s hidden size 650; dublji GRU i LSTM služe kao kontrolirane varijante na istom VEPRAD splitu.</a:t>
            </a:r>
            <a:endParaRPr lang="hr-HR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44500" y="2921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E24A2A"/>
                </a:solidFill>
                <a:latin typeface="Aptos"/>
              </a:rPr>
              <a:t>06 · KENLM DEKODIRANJE</a:t>
            </a:r>
            <a:endParaRPr lang="hr-HR" sz="1500"/>
          </a:p>
        </p:txBody>
      </p:sp>
      <p:sp>
        <p:nvSpPr>
          <p:cNvPr id="3" name="Title"/>
          <p:cNvSpPr txBox="1"/>
          <p:nvPr/>
        </p:nvSpPr>
        <p:spPr>
          <a:xfrm>
            <a:off x="444500" y="5207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350" b="1">
                <a:solidFill>
                  <a:srgbClr val="15171A"/>
                </a:solidFill>
                <a:latin typeface="Aptos"/>
              </a:rPr>
              <a:t>KenLM se trenira na VEPRAD train transkriptima.</a:t>
            </a:r>
            <a:endParaRPr lang="hr-HR" sz="2350"/>
          </a:p>
        </p:txBody>
      </p:sp>
      <p:sp>
        <p:nvSpPr>
          <p:cNvPr id="4" name="Support"/>
          <p:cNvSpPr txBox="1"/>
          <p:nvPr/>
        </p:nvSpPr>
        <p:spPr>
          <a:xfrm>
            <a:off x="444500" y="1130300"/>
            <a:ext cx="793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80">
                <a:solidFill>
                  <a:srgbClr val="6F6A5B"/>
                </a:solidFill>
                <a:latin typeface="Aptos"/>
              </a:rPr>
              <a:t>Prije LM treninga izbacujemo VEPRAD train rečenice koje se previše poklapaju s val/test tekstom.</a:t>
            </a:r>
            <a:endParaRPr lang="hr-HR" sz="1080"/>
          </a:p>
        </p:txBody>
      </p:sp>
      <p:sp>
        <p:nvSpPr>
          <p:cNvPr id="5" name="Rule"/>
          <p:cNvSpPr/>
          <p:nvPr/>
        </p:nvSpPr>
        <p:spPr>
          <a:xfrm>
            <a:off x="444500" y="1447800"/>
            <a:ext cx="736600" cy="4445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6" name="Rectangle"/>
          <p:cNvSpPr/>
          <p:nvPr/>
        </p:nvSpPr>
        <p:spPr>
          <a:xfrm>
            <a:off x="444500" y="1651000"/>
            <a:ext cx="3175000" cy="1333500"/>
          </a:xfrm>
          <a:prstGeom prst="rect">
            <a:avLst/>
          </a:prstGeom>
          <a:solidFill>
            <a:srgbClr val="15171A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609600" y="1790700"/>
            <a:ext cx="2857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F0B429"/>
                </a:solidFill>
                <a:latin typeface="Aptos"/>
              </a:rPr>
              <a:t>LM corpus filter</a:t>
            </a:r>
            <a:endParaRPr lang="hr-HR" sz="1800"/>
          </a:p>
        </p:txBody>
      </p:sp>
      <p:sp>
        <p:nvSpPr>
          <p:cNvPr id="8" name="Text"/>
          <p:cNvSpPr txBox="1"/>
          <p:nvPr/>
        </p:nvSpPr>
        <p:spPr>
          <a:xfrm>
            <a:off x="609600" y="2082800"/>
            <a:ext cx="27305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50" b="1">
                <a:solidFill>
                  <a:srgbClr val="F8F3E8"/>
                </a:solidFill>
                <a:latin typeface="Aptos"/>
              </a:rPr>
              <a:t>train rows: 3057</a:t>
            </a:r>
            <a:endParaRPr lang="hr-HR" sz="1350"/>
          </a:p>
          <a:p>
            <a:r>
              <a:rPr lang="hr-HR" sz="1350">
                <a:solidFill>
                  <a:srgbClr val="F8F3E8"/>
                </a:solidFill>
                <a:latin typeface="Aptos"/>
              </a:rPr>
              <a:t>kept for KenLM: 2290</a:t>
            </a:r>
            <a:endParaRPr lang="hr-HR" sz="1350"/>
          </a:p>
          <a:p>
            <a:r>
              <a:rPr lang="hr-HR" sz="1240">
                <a:solidFill>
                  <a:srgbClr val="F2DFC7"/>
                </a:solidFill>
                <a:latin typeface="Aptos"/>
              </a:rPr>
              <a:t>excluded: 767 exact/fuzzy held-out matches</a:t>
            </a:r>
            <a:endParaRPr lang="hr-HR" sz="1240"/>
          </a:p>
        </p:txBody>
      </p:sp>
      <p:sp>
        <p:nvSpPr>
          <p:cNvPr id="9" name="Rectangle"/>
          <p:cNvSpPr/>
          <p:nvPr/>
        </p:nvSpPr>
        <p:spPr>
          <a:xfrm>
            <a:off x="3873500" y="1651000"/>
            <a:ext cx="3175000" cy="13335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10" name="Text"/>
          <p:cNvSpPr txBox="1"/>
          <p:nvPr/>
        </p:nvSpPr>
        <p:spPr>
          <a:xfrm>
            <a:off x="4038600" y="1790700"/>
            <a:ext cx="2857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F8F3E8"/>
                </a:solidFill>
                <a:latin typeface="Aptos"/>
              </a:rPr>
              <a:t>Scorer</a:t>
            </a:r>
            <a:endParaRPr lang="hr-HR" sz="1800"/>
          </a:p>
        </p:txBody>
      </p:sp>
      <p:sp>
        <p:nvSpPr>
          <p:cNvPr id="11" name="Text"/>
          <p:cNvSpPr txBox="1"/>
          <p:nvPr/>
        </p:nvSpPr>
        <p:spPr>
          <a:xfrm>
            <a:off x="4038600" y="2082800"/>
            <a:ext cx="27305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00" b="1">
                <a:solidFill>
                  <a:srgbClr val="F8F3E8"/>
                </a:solidFill>
                <a:latin typeface="Aptos"/>
              </a:rPr>
              <a:t>word-level KenLM 5-gram</a:t>
            </a:r>
            <a:endParaRPr lang="hr-HR" sz="1300"/>
          </a:p>
          <a:p>
            <a:r>
              <a:rPr lang="hr-HR" sz="1240">
                <a:solidFill>
                  <a:srgbClr val="F8F3E8"/>
                </a:solidFill>
                <a:latin typeface="Aptos"/>
              </a:rPr>
              <a:t>is_character_based = 0</a:t>
            </a:r>
            <a:endParaRPr lang="hr-HR" sz="1240"/>
          </a:p>
          <a:p>
            <a:r>
              <a:rPr lang="hr-HR" sz="1240">
                <a:solidFill>
                  <a:srgbClr val="F8F3E8"/>
                </a:solidFill>
                <a:latin typeface="Aptos"/>
              </a:rPr>
              <a:t>max_order = 5</a:t>
            </a:r>
            <a:endParaRPr lang="hr-HR" sz="1240"/>
          </a:p>
          <a:p>
            <a:r>
              <a:rPr lang="hr-HR" sz="1240">
                <a:solidFill>
                  <a:srgbClr val="F8F3E8"/>
                </a:solidFill>
                <a:latin typeface="Aptos"/>
              </a:rPr>
              <a:t>dict_size = 1181</a:t>
            </a:r>
            <a:endParaRPr lang="hr-HR" sz="1240"/>
          </a:p>
        </p:txBody>
      </p:sp>
      <p:sp>
        <p:nvSpPr>
          <p:cNvPr id="12" name="Rectangle"/>
          <p:cNvSpPr/>
          <p:nvPr/>
        </p:nvSpPr>
        <p:spPr>
          <a:xfrm>
            <a:off x="7302500" y="1651000"/>
            <a:ext cx="3175000" cy="1333500"/>
          </a:xfrm>
          <a:prstGeom prst="rect">
            <a:avLst/>
          </a:prstGeom>
          <a:solidFill>
            <a:srgbClr val="F0B429"/>
          </a:solidFill>
          <a:ln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7467600" y="1790700"/>
            <a:ext cx="2857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Sweep grid</a:t>
            </a:r>
            <a:endParaRPr lang="hr-HR" sz="1800"/>
          </a:p>
        </p:txBody>
      </p:sp>
      <p:sp>
        <p:nvSpPr>
          <p:cNvPr id="14" name="Text"/>
          <p:cNvSpPr txBox="1"/>
          <p:nvPr/>
        </p:nvSpPr>
        <p:spPr>
          <a:xfrm>
            <a:off x="7467600" y="2082800"/>
            <a:ext cx="27305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220" b="1">
                <a:solidFill>
                  <a:srgbClr val="15171A"/>
                </a:solidFill>
                <a:latin typeface="Aptos"/>
              </a:rPr>
              <a:t>beam 5/10/20/40 at a=2.5 b=0.3</a:t>
            </a:r>
            <a:endParaRPr lang="hr-HR" sz="1220"/>
          </a:p>
          <a:p>
            <a:r>
              <a:rPr lang="hr-HR" sz="1220">
                <a:solidFill>
                  <a:srgbClr val="15171A"/>
                </a:solidFill>
                <a:latin typeface="Aptos"/>
              </a:rPr>
              <a:t>beam 20 alpha: 2.0 / 3.0</a:t>
            </a:r>
            <a:endParaRPr lang="hr-HR" sz="1220"/>
          </a:p>
          <a:p>
            <a:r>
              <a:rPr lang="hr-HR" sz="1220">
                <a:solidFill>
                  <a:srgbClr val="15171A"/>
                </a:solidFill>
                <a:latin typeface="Aptos"/>
              </a:rPr>
              <a:t>beam 20 beta: 0.0 / 0.6</a:t>
            </a:r>
            <a:endParaRPr lang="hr-HR" sz="1220"/>
          </a:p>
        </p:txBody>
      </p:sp>
      <p:sp>
        <p:nvSpPr>
          <p:cNvPr id="15" name="Text"/>
          <p:cNvSpPr txBox="1"/>
          <p:nvPr/>
        </p:nvSpPr>
        <p:spPr>
          <a:xfrm>
            <a:off x="444500" y="3429000"/>
            <a:ext cx="355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00" b="1">
                <a:solidFill>
                  <a:srgbClr val="15171A"/>
                </a:solidFill>
                <a:latin typeface="Aptos"/>
              </a:rPr>
              <a:t>WER: beam1 → KenLM</a:t>
            </a:r>
            <a:endParaRPr lang="hr-HR" sz="1800"/>
          </a:p>
        </p:txBody>
      </p:sp>
      <p:sp>
        <p:nvSpPr>
          <p:cNvPr id="16" name="Rule"/>
          <p:cNvSpPr/>
          <p:nvPr/>
        </p:nvSpPr>
        <p:spPr>
          <a:xfrm>
            <a:off x="444500" y="3670300"/>
            <a:ext cx="571500" cy="381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17" name="Table background"/>
          <p:cNvSpPr/>
          <p:nvPr/>
        </p:nvSpPr>
        <p:spPr>
          <a:xfrm>
            <a:off x="444500" y="3886200"/>
            <a:ext cx="4445000" cy="1574800"/>
          </a:xfrm>
          <a:prstGeom prst="rect">
            <a:avLst/>
          </a:prstGeom>
          <a:solidFill>
            <a:srgbClr val="F8F3E8"/>
          </a:solidFill>
          <a:ln w="12700">
            <a:solidFill>
              <a:srgbClr val="D6C8B5"/>
            </a:solidFill>
          </a:ln>
        </p:spPr>
      </p:sp>
      <p:sp>
        <p:nvSpPr>
          <p:cNvPr id="18" name="Table header"/>
          <p:cNvSpPr/>
          <p:nvPr/>
        </p:nvSpPr>
        <p:spPr>
          <a:xfrm>
            <a:off x="444500" y="3886200"/>
            <a:ext cx="4445000" cy="3937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19" name="Table stripe"/>
          <p:cNvSpPr/>
          <p:nvPr/>
        </p:nvSpPr>
        <p:spPr>
          <a:xfrm>
            <a:off x="444500" y="4673600"/>
            <a:ext cx="4445000" cy="393700"/>
          </a:xfrm>
          <a:prstGeom prst="rect">
            <a:avLst/>
          </a:prstGeom>
          <a:solidFill>
            <a:srgbClr val="F2DFC7"/>
          </a:solidFill>
          <a:ln>
            <a:noFill/>
          </a:ln>
        </p:spPr>
      </p:sp>
      <p:sp>
        <p:nvSpPr>
          <p:cNvPr id="20" name="Header"/>
          <p:cNvSpPr txBox="1"/>
          <p:nvPr/>
        </p:nvSpPr>
        <p:spPr>
          <a:xfrm>
            <a:off x="495300" y="3943350"/>
            <a:ext cx="1104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Validation</a:t>
            </a:r>
            <a:endParaRPr lang="hr-HR" sz="950"/>
          </a:p>
        </p:txBody>
      </p:sp>
      <p:sp>
        <p:nvSpPr>
          <p:cNvPr id="21" name="Header"/>
          <p:cNvSpPr txBox="1"/>
          <p:nvPr/>
        </p:nvSpPr>
        <p:spPr>
          <a:xfrm>
            <a:off x="1701800" y="394335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all</a:t>
            </a:r>
            <a:endParaRPr lang="hr-HR" sz="950"/>
          </a:p>
        </p:txBody>
      </p:sp>
      <p:sp>
        <p:nvSpPr>
          <p:cNvPr id="22" name="Header"/>
          <p:cNvSpPr txBox="1"/>
          <p:nvPr/>
        </p:nvSpPr>
        <p:spPr>
          <a:xfrm>
            <a:off x="2781300" y="394335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seen</a:t>
            </a:r>
            <a:endParaRPr lang="hr-HR" sz="950"/>
          </a:p>
        </p:txBody>
      </p:sp>
      <p:sp>
        <p:nvSpPr>
          <p:cNvPr id="23" name="Header"/>
          <p:cNvSpPr txBox="1"/>
          <p:nvPr/>
        </p:nvSpPr>
        <p:spPr>
          <a:xfrm>
            <a:off x="3860800" y="394335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unseen</a:t>
            </a:r>
            <a:endParaRPr lang="hr-HR" sz="950"/>
          </a:p>
        </p:txBody>
      </p:sp>
      <p:sp>
        <p:nvSpPr>
          <p:cNvPr id="24" name="Cell"/>
          <p:cNvSpPr txBox="1"/>
          <p:nvPr/>
        </p:nvSpPr>
        <p:spPr>
          <a:xfrm>
            <a:off x="495300" y="4330700"/>
            <a:ext cx="1104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15171A"/>
                </a:solidFill>
                <a:latin typeface="Aptos"/>
              </a:rPr>
              <a:t>paper-small</a:t>
            </a:r>
            <a:endParaRPr lang="hr-HR" sz="950"/>
          </a:p>
        </p:txBody>
      </p:sp>
      <p:sp>
        <p:nvSpPr>
          <p:cNvPr id="25" name="Cell"/>
          <p:cNvSpPr txBox="1"/>
          <p:nvPr/>
        </p:nvSpPr>
        <p:spPr>
          <a:xfrm>
            <a:off x="1701800" y="43307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0.421→0.088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-79%</a:t>
            </a:r>
            <a:endParaRPr lang="hr-HR" sz="950"/>
          </a:p>
        </p:txBody>
      </p:sp>
      <p:sp>
        <p:nvSpPr>
          <p:cNvPr id="26" name="Cell"/>
          <p:cNvSpPr txBox="1"/>
          <p:nvPr/>
        </p:nvSpPr>
        <p:spPr>
          <a:xfrm>
            <a:off x="2781300" y="43307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0.345→0.074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-79%</a:t>
            </a:r>
            <a:endParaRPr lang="hr-HR" sz="950"/>
          </a:p>
        </p:txBody>
      </p:sp>
      <p:sp>
        <p:nvSpPr>
          <p:cNvPr id="27" name="Cell"/>
          <p:cNvSpPr txBox="1"/>
          <p:nvPr/>
        </p:nvSpPr>
        <p:spPr>
          <a:xfrm>
            <a:off x="3860800" y="43307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0.451→0.094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-79%</a:t>
            </a:r>
            <a:endParaRPr lang="hr-HR" sz="950"/>
          </a:p>
        </p:txBody>
      </p:sp>
      <p:sp>
        <p:nvSpPr>
          <p:cNvPr id="28" name="Cell"/>
          <p:cNvSpPr txBox="1"/>
          <p:nvPr/>
        </p:nvSpPr>
        <p:spPr>
          <a:xfrm>
            <a:off x="495300" y="4724400"/>
            <a:ext cx="1104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15171A"/>
                </a:solidFill>
                <a:latin typeface="Aptos"/>
              </a:rPr>
              <a:t>7GRU</a:t>
            </a:r>
            <a:endParaRPr lang="hr-HR" sz="950"/>
          </a:p>
        </p:txBody>
      </p:sp>
      <p:sp>
        <p:nvSpPr>
          <p:cNvPr id="29" name="Cell"/>
          <p:cNvSpPr txBox="1"/>
          <p:nvPr/>
        </p:nvSpPr>
        <p:spPr>
          <a:xfrm>
            <a:off x="1701800" y="47244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0.400→0.094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-77%</a:t>
            </a:r>
            <a:endParaRPr lang="hr-HR" sz="950"/>
          </a:p>
        </p:txBody>
      </p:sp>
      <p:sp>
        <p:nvSpPr>
          <p:cNvPr id="30" name="Cell"/>
          <p:cNvSpPr txBox="1"/>
          <p:nvPr/>
        </p:nvSpPr>
        <p:spPr>
          <a:xfrm>
            <a:off x="2781300" y="47244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0.328→0.077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-77%</a:t>
            </a:r>
            <a:endParaRPr lang="hr-HR" sz="950"/>
          </a:p>
        </p:txBody>
      </p:sp>
      <p:sp>
        <p:nvSpPr>
          <p:cNvPr id="31" name="Cell"/>
          <p:cNvSpPr txBox="1"/>
          <p:nvPr/>
        </p:nvSpPr>
        <p:spPr>
          <a:xfrm>
            <a:off x="3860800" y="47244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0.429→0.101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-77%</a:t>
            </a:r>
            <a:endParaRPr lang="hr-HR" sz="950"/>
          </a:p>
        </p:txBody>
      </p:sp>
      <p:sp>
        <p:nvSpPr>
          <p:cNvPr id="32" name="Cell"/>
          <p:cNvSpPr txBox="1"/>
          <p:nvPr/>
        </p:nvSpPr>
        <p:spPr>
          <a:xfrm>
            <a:off x="495300" y="5118100"/>
            <a:ext cx="1104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15171A"/>
                </a:solidFill>
                <a:latin typeface="Aptos"/>
              </a:rPr>
              <a:t>7LSTM</a:t>
            </a:r>
            <a:endParaRPr lang="hr-HR" sz="950"/>
          </a:p>
        </p:txBody>
      </p:sp>
      <p:sp>
        <p:nvSpPr>
          <p:cNvPr id="33" name="Cell"/>
          <p:cNvSpPr txBox="1"/>
          <p:nvPr/>
        </p:nvSpPr>
        <p:spPr>
          <a:xfrm>
            <a:off x="1701800" y="51181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0.515→0.123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-76%</a:t>
            </a:r>
            <a:endParaRPr lang="hr-HR" sz="950"/>
          </a:p>
        </p:txBody>
      </p:sp>
      <p:sp>
        <p:nvSpPr>
          <p:cNvPr id="34" name="Cell"/>
          <p:cNvSpPr txBox="1"/>
          <p:nvPr/>
        </p:nvSpPr>
        <p:spPr>
          <a:xfrm>
            <a:off x="2781300" y="51181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0.430→0.090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-79%</a:t>
            </a:r>
            <a:endParaRPr lang="hr-HR" sz="950"/>
          </a:p>
        </p:txBody>
      </p:sp>
      <p:sp>
        <p:nvSpPr>
          <p:cNvPr id="35" name="Cell"/>
          <p:cNvSpPr txBox="1"/>
          <p:nvPr/>
        </p:nvSpPr>
        <p:spPr>
          <a:xfrm>
            <a:off x="3860800" y="51181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0.549→0.137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-75%</a:t>
            </a:r>
            <a:endParaRPr lang="hr-HR" sz="950"/>
          </a:p>
        </p:txBody>
      </p:sp>
      <p:sp>
        <p:nvSpPr>
          <p:cNvPr id="36" name="Table background"/>
          <p:cNvSpPr/>
          <p:nvPr/>
        </p:nvSpPr>
        <p:spPr>
          <a:xfrm>
            <a:off x="5207000" y="3886200"/>
            <a:ext cx="4445000" cy="1574800"/>
          </a:xfrm>
          <a:prstGeom prst="rect">
            <a:avLst/>
          </a:prstGeom>
          <a:solidFill>
            <a:srgbClr val="F8F3E8"/>
          </a:solidFill>
          <a:ln w="12700">
            <a:solidFill>
              <a:srgbClr val="D6C8B5"/>
            </a:solidFill>
          </a:ln>
        </p:spPr>
      </p:sp>
      <p:sp>
        <p:nvSpPr>
          <p:cNvPr id="37" name="Table header"/>
          <p:cNvSpPr/>
          <p:nvPr/>
        </p:nvSpPr>
        <p:spPr>
          <a:xfrm>
            <a:off x="5207000" y="3886200"/>
            <a:ext cx="4445000" cy="3937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38" name="Table stripe"/>
          <p:cNvSpPr/>
          <p:nvPr/>
        </p:nvSpPr>
        <p:spPr>
          <a:xfrm>
            <a:off x="5207000" y="4673600"/>
            <a:ext cx="4445000" cy="393700"/>
          </a:xfrm>
          <a:prstGeom prst="rect">
            <a:avLst/>
          </a:prstGeom>
          <a:solidFill>
            <a:srgbClr val="F2DFC7"/>
          </a:solidFill>
          <a:ln>
            <a:noFill/>
          </a:ln>
        </p:spPr>
      </p:sp>
      <p:sp>
        <p:nvSpPr>
          <p:cNvPr id="39" name="Header"/>
          <p:cNvSpPr txBox="1"/>
          <p:nvPr/>
        </p:nvSpPr>
        <p:spPr>
          <a:xfrm>
            <a:off x="5257800" y="3943350"/>
            <a:ext cx="1104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Frozen test</a:t>
            </a:r>
            <a:endParaRPr lang="hr-HR" sz="950"/>
          </a:p>
        </p:txBody>
      </p:sp>
      <p:sp>
        <p:nvSpPr>
          <p:cNvPr id="40" name="Header"/>
          <p:cNvSpPr txBox="1"/>
          <p:nvPr/>
        </p:nvSpPr>
        <p:spPr>
          <a:xfrm>
            <a:off x="6464300" y="394335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all</a:t>
            </a:r>
            <a:endParaRPr lang="hr-HR" sz="950"/>
          </a:p>
        </p:txBody>
      </p:sp>
      <p:sp>
        <p:nvSpPr>
          <p:cNvPr id="41" name="Header"/>
          <p:cNvSpPr txBox="1"/>
          <p:nvPr/>
        </p:nvSpPr>
        <p:spPr>
          <a:xfrm>
            <a:off x="7543800" y="394335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seen</a:t>
            </a:r>
            <a:endParaRPr lang="hr-HR" sz="950"/>
          </a:p>
        </p:txBody>
      </p:sp>
      <p:sp>
        <p:nvSpPr>
          <p:cNvPr id="42" name="Header"/>
          <p:cNvSpPr txBox="1"/>
          <p:nvPr/>
        </p:nvSpPr>
        <p:spPr>
          <a:xfrm>
            <a:off x="8623300" y="394335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F8F3E8"/>
                </a:solidFill>
                <a:latin typeface="Aptos"/>
              </a:rPr>
              <a:t>unseen</a:t>
            </a:r>
            <a:endParaRPr lang="hr-HR" sz="950"/>
          </a:p>
        </p:txBody>
      </p:sp>
      <p:sp>
        <p:nvSpPr>
          <p:cNvPr id="43" name="Cell"/>
          <p:cNvSpPr txBox="1"/>
          <p:nvPr/>
        </p:nvSpPr>
        <p:spPr>
          <a:xfrm>
            <a:off x="5257800" y="4330700"/>
            <a:ext cx="1104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15171A"/>
                </a:solidFill>
                <a:latin typeface="Aptos"/>
              </a:rPr>
              <a:t>paper-small</a:t>
            </a:r>
            <a:endParaRPr lang="hr-HR" sz="950"/>
          </a:p>
        </p:txBody>
      </p:sp>
      <p:sp>
        <p:nvSpPr>
          <p:cNvPr id="44" name="Cell"/>
          <p:cNvSpPr txBox="1"/>
          <p:nvPr/>
        </p:nvSpPr>
        <p:spPr>
          <a:xfrm>
            <a:off x="6464300" y="43307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0.453→0.118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-74%</a:t>
            </a:r>
            <a:endParaRPr lang="hr-HR" sz="950"/>
          </a:p>
        </p:txBody>
      </p:sp>
      <p:sp>
        <p:nvSpPr>
          <p:cNvPr id="45" name="Cell"/>
          <p:cNvSpPr txBox="1"/>
          <p:nvPr/>
        </p:nvSpPr>
        <p:spPr>
          <a:xfrm>
            <a:off x="7543800" y="43307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0.350→0.075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-78%</a:t>
            </a:r>
            <a:endParaRPr lang="hr-HR" sz="950"/>
          </a:p>
        </p:txBody>
      </p:sp>
      <p:sp>
        <p:nvSpPr>
          <p:cNvPr id="46" name="Cell"/>
          <p:cNvSpPr txBox="1"/>
          <p:nvPr/>
        </p:nvSpPr>
        <p:spPr>
          <a:xfrm>
            <a:off x="8623300" y="43307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0.554→0.160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-71%</a:t>
            </a:r>
            <a:endParaRPr lang="hr-HR" sz="950"/>
          </a:p>
        </p:txBody>
      </p:sp>
      <p:sp>
        <p:nvSpPr>
          <p:cNvPr id="47" name="Cell"/>
          <p:cNvSpPr txBox="1"/>
          <p:nvPr/>
        </p:nvSpPr>
        <p:spPr>
          <a:xfrm>
            <a:off x="5257800" y="4724400"/>
            <a:ext cx="1104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15171A"/>
                </a:solidFill>
                <a:latin typeface="Aptos"/>
              </a:rPr>
              <a:t>7GRU</a:t>
            </a:r>
            <a:endParaRPr lang="hr-HR" sz="950"/>
          </a:p>
        </p:txBody>
      </p:sp>
      <p:sp>
        <p:nvSpPr>
          <p:cNvPr id="48" name="Cell"/>
          <p:cNvSpPr txBox="1"/>
          <p:nvPr/>
        </p:nvSpPr>
        <p:spPr>
          <a:xfrm>
            <a:off x="6464300" y="47244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0.429→0.127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-70%</a:t>
            </a:r>
            <a:endParaRPr lang="hr-HR" sz="950"/>
          </a:p>
        </p:txBody>
      </p:sp>
      <p:sp>
        <p:nvSpPr>
          <p:cNvPr id="49" name="Cell"/>
          <p:cNvSpPr txBox="1"/>
          <p:nvPr/>
        </p:nvSpPr>
        <p:spPr>
          <a:xfrm>
            <a:off x="7543800" y="47244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0.324→0.083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-75%</a:t>
            </a:r>
            <a:endParaRPr lang="hr-HR" sz="950"/>
          </a:p>
        </p:txBody>
      </p:sp>
      <p:sp>
        <p:nvSpPr>
          <p:cNvPr id="50" name="Cell"/>
          <p:cNvSpPr txBox="1"/>
          <p:nvPr/>
        </p:nvSpPr>
        <p:spPr>
          <a:xfrm>
            <a:off x="8623300" y="47244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0.532→0.171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-68%</a:t>
            </a:r>
            <a:endParaRPr lang="hr-HR" sz="950"/>
          </a:p>
        </p:txBody>
      </p:sp>
      <p:sp>
        <p:nvSpPr>
          <p:cNvPr id="51" name="Cell"/>
          <p:cNvSpPr txBox="1"/>
          <p:nvPr/>
        </p:nvSpPr>
        <p:spPr>
          <a:xfrm>
            <a:off x="5257800" y="5118100"/>
            <a:ext cx="1104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 b="1">
                <a:solidFill>
                  <a:srgbClr val="15171A"/>
                </a:solidFill>
                <a:latin typeface="Aptos"/>
              </a:rPr>
              <a:t>7LSTM</a:t>
            </a:r>
            <a:endParaRPr lang="hr-HR" sz="950"/>
          </a:p>
        </p:txBody>
      </p:sp>
      <p:sp>
        <p:nvSpPr>
          <p:cNvPr id="52" name="Cell"/>
          <p:cNvSpPr txBox="1"/>
          <p:nvPr/>
        </p:nvSpPr>
        <p:spPr>
          <a:xfrm>
            <a:off x="6464300" y="51181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0.535→0.151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-72%</a:t>
            </a:r>
            <a:endParaRPr lang="hr-HR" sz="950"/>
          </a:p>
        </p:txBody>
      </p:sp>
      <p:sp>
        <p:nvSpPr>
          <p:cNvPr id="53" name="Cell"/>
          <p:cNvSpPr txBox="1"/>
          <p:nvPr/>
        </p:nvSpPr>
        <p:spPr>
          <a:xfrm>
            <a:off x="7543800" y="51181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0.440→0.095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-78%</a:t>
            </a:r>
            <a:endParaRPr lang="hr-HR" sz="950"/>
          </a:p>
        </p:txBody>
      </p:sp>
      <p:sp>
        <p:nvSpPr>
          <p:cNvPr id="54" name="Cell"/>
          <p:cNvSpPr txBox="1"/>
          <p:nvPr/>
        </p:nvSpPr>
        <p:spPr>
          <a:xfrm>
            <a:off x="8623300" y="5118100"/>
            <a:ext cx="977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950">
                <a:solidFill>
                  <a:srgbClr val="20282C"/>
                </a:solidFill>
                <a:latin typeface="Aptos"/>
              </a:rPr>
              <a:t>0.629→0.206</a:t>
            </a:r>
            <a:endParaRPr lang="hr-HR" sz="950"/>
          </a:p>
          <a:p>
            <a:r>
              <a:rPr lang="hr-HR" sz="950">
                <a:solidFill>
                  <a:srgbClr val="20282C"/>
                </a:solidFill>
                <a:latin typeface="Aptos"/>
              </a:rPr>
              <a:t>-67%</a:t>
            </a:r>
            <a:endParaRPr lang="hr-HR" sz="950"/>
          </a:p>
        </p:txBody>
      </p:sp>
      <p:sp>
        <p:nvSpPr>
          <p:cNvPr id="55" name="Rectangle"/>
          <p:cNvSpPr/>
          <p:nvPr/>
        </p:nvSpPr>
        <p:spPr>
          <a:xfrm>
            <a:off x="444500" y="5651500"/>
            <a:ext cx="9207500" cy="368300"/>
          </a:xfrm>
          <a:prstGeom prst="rect">
            <a:avLst/>
          </a:prstGeom>
          <a:solidFill>
            <a:srgbClr val="F2DFC7"/>
          </a:solidFill>
          <a:ln w="12700">
            <a:solidFill>
              <a:srgbClr val="D6C8B5"/>
            </a:solidFill>
          </a:ln>
        </p:spPr>
      </p:sp>
      <p:sp>
        <p:nvSpPr>
          <p:cNvPr id="56" name="Text"/>
          <p:cNvSpPr txBox="1"/>
          <p:nvPr/>
        </p:nvSpPr>
        <p:spPr>
          <a:xfrm>
            <a:off x="596900" y="5740400"/>
            <a:ext cx="8826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220" b="1">
                <a:solidFill>
                  <a:srgbClr val="15171A"/>
                </a:solidFill>
                <a:latin typeface="Aptos"/>
              </a:rPr>
              <a:t>Sve KenLM vrijednosti koriste najbolji validation-selected decoder: beam 40, alpha 2.5, beta 0.3.</a:t>
            </a:r>
            <a:endParaRPr lang="hr-HR" sz="12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44500" y="2921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500" b="1">
                <a:solidFill>
                  <a:srgbClr val="E24A2A"/>
                </a:solidFill>
                <a:latin typeface="Aptos"/>
              </a:rPr>
              <a:t>07 · REZULTATI</a:t>
            </a:r>
            <a:endParaRPr lang="hr-HR" sz="1500"/>
          </a:p>
        </p:txBody>
      </p:sp>
      <p:sp>
        <p:nvSpPr>
          <p:cNvPr id="3" name="Title"/>
          <p:cNvSpPr txBox="1"/>
          <p:nvPr/>
        </p:nvSpPr>
        <p:spPr>
          <a:xfrm>
            <a:off x="444500" y="520700"/>
            <a:ext cx="7937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350" b="1">
                <a:solidFill>
                  <a:srgbClr val="15171A"/>
                </a:solidFill>
                <a:latin typeface="Aptos"/>
              </a:rPr>
              <a:t>Najbolji VEPRAD rezultat: paper-small GRU + KenLM.</a:t>
            </a:r>
            <a:endParaRPr lang="hr-HR" sz="2350"/>
          </a:p>
        </p:txBody>
      </p:sp>
      <p:sp>
        <p:nvSpPr>
          <p:cNvPr id="4" name="Support"/>
          <p:cNvSpPr txBox="1"/>
          <p:nvPr/>
        </p:nvSpPr>
        <p:spPr>
          <a:xfrm>
            <a:off x="444500" y="1130300"/>
            <a:ext cx="793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80">
                <a:solidFill>
                  <a:srgbClr val="6F6A5B"/>
                </a:solidFill>
                <a:latin typeface="Aptos"/>
              </a:rPr>
              <a:t>VEPRAD validation odabire beam 40; KenLM smanjuje WER nekoliko puta u odnosu na no-LM CTC decoding.</a:t>
            </a:r>
            <a:endParaRPr lang="hr-HR" sz="1080"/>
          </a:p>
        </p:txBody>
      </p:sp>
      <p:sp>
        <p:nvSpPr>
          <p:cNvPr id="5" name="Rule"/>
          <p:cNvSpPr/>
          <p:nvPr/>
        </p:nvSpPr>
        <p:spPr>
          <a:xfrm>
            <a:off x="444500" y="1447800"/>
            <a:ext cx="736600" cy="4445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6" name="Table background"/>
          <p:cNvSpPr/>
          <p:nvPr/>
        </p:nvSpPr>
        <p:spPr>
          <a:xfrm>
            <a:off x="444500" y="1587500"/>
            <a:ext cx="8064500" cy="1524000"/>
          </a:xfrm>
          <a:prstGeom prst="rect">
            <a:avLst/>
          </a:prstGeom>
          <a:solidFill>
            <a:srgbClr val="F8F3E8"/>
          </a:solidFill>
          <a:ln w="12700">
            <a:solidFill>
              <a:srgbClr val="D6C8B5"/>
            </a:solidFill>
          </a:ln>
        </p:spPr>
      </p:sp>
      <p:sp>
        <p:nvSpPr>
          <p:cNvPr id="7" name="Table header"/>
          <p:cNvSpPr/>
          <p:nvPr/>
        </p:nvSpPr>
        <p:spPr>
          <a:xfrm>
            <a:off x="444500" y="1587500"/>
            <a:ext cx="8064500" cy="3810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8" name="Table stripe"/>
          <p:cNvSpPr/>
          <p:nvPr/>
        </p:nvSpPr>
        <p:spPr>
          <a:xfrm>
            <a:off x="444500" y="2349500"/>
            <a:ext cx="8064500" cy="381000"/>
          </a:xfrm>
          <a:prstGeom prst="rect">
            <a:avLst/>
          </a:prstGeom>
          <a:solidFill>
            <a:srgbClr val="F2DFC7"/>
          </a:solidFill>
          <a:ln>
            <a:noFill/>
          </a:ln>
        </p:spPr>
      </p:sp>
      <p:sp>
        <p:nvSpPr>
          <p:cNvPr id="9" name="Header"/>
          <p:cNvSpPr txBox="1"/>
          <p:nvPr/>
        </p:nvSpPr>
        <p:spPr>
          <a:xfrm>
            <a:off x="495300" y="16446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Model</a:t>
            </a:r>
            <a:endParaRPr lang="hr-HR" sz="1020"/>
          </a:p>
        </p:txBody>
      </p:sp>
      <p:sp>
        <p:nvSpPr>
          <p:cNvPr id="10" name="Header"/>
          <p:cNvSpPr txBox="1"/>
          <p:nvPr/>
        </p:nvSpPr>
        <p:spPr>
          <a:xfrm>
            <a:off x="2273300" y="16446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No LM</a:t>
            </a:r>
            <a:endParaRPr lang="hr-HR" sz="1020"/>
          </a:p>
        </p:txBody>
      </p:sp>
      <p:sp>
        <p:nvSpPr>
          <p:cNvPr id="11" name="Header"/>
          <p:cNvSpPr txBox="1"/>
          <p:nvPr/>
        </p:nvSpPr>
        <p:spPr>
          <a:xfrm>
            <a:off x="3289300" y="16446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Fixed LM</a:t>
            </a:r>
            <a:endParaRPr lang="hr-HR" sz="1020"/>
          </a:p>
        </p:txBody>
      </p:sp>
      <p:sp>
        <p:nvSpPr>
          <p:cNvPr id="12" name="Header"/>
          <p:cNvSpPr txBox="1"/>
          <p:nvPr/>
        </p:nvSpPr>
        <p:spPr>
          <a:xfrm>
            <a:off x="4305300" y="1644650"/>
            <a:ext cx="977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Best test</a:t>
            </a:r>
            <a:endParaRPr lang="hr-HR" sz="1020"/>
          </a:p>
        </p:txBody>
      </p:sp>
      <p:sp>
        <p:nvSpPr>
          <p:cNvPr id="13" name="Header"/>
          <p:cNvSpPr txBox="1"/>
          <p:nvPr/>
        </p:nvSpPr>
        <p:spPr>
          <a:xfrm>
            <a:off x="5384800" y="16446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Best val</a:t>
            </a:r>
            <a:endParaRPr lang="hr-HR" sz="1020"/>
          </a:p>
        </p:txBody>
      </p:sp>
      <p:sp>
        <p:nvSpPr>
          <p:cNvPr id="14" name="Header"/>
          <p:cNvSpPr txBox="1"/>
          <p:nvPr/>
        </p:nvSpPr>
        <p:spPr>
          <a:xfrm>
            <a:off x="6400800" y="1644650"/>
            <a:ext cx="977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Seen</a:t>
            </a:r>
            <a:endParaRPr lang="hr-HR" sz="1020"/>
          </a:p>
        </p:txBody>
      </p:sp>
      <p:sp>
        <p:nvSpPr>
          <p:cNvPr id="15" name="Header"/>
          <p:cNvSpPr txBox="1"/>
          <p:nvPr/>
        </p:nvSpPr>
        <p:spPr>
          <a:xfrm>
            <a:off x="7480300" y="1644650"/>
            <a:ext cx="977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F8F3E8"/>
                </a:solidFill>
                <a:latin typeface="Aptos"/>
              </a:rPr>
              <a:t>Unseen</a:t>
            </a:r>
            <a:endParaRPr lang="hr-HR" sz="1020"/>
          </a:p>
        </p:txBody>
      </p:sp>
      <p:sp>
        <p:nvSpPr>
          <p:cNvPr id="16" name="Cell"/>
          <p:cNvSpPr txBox="1"/>
          <p:nvPr/>
        </p:nvSpPr>
        <p:spPr>
          <a:xfrm>
            <a:off x="495300" y="2019300"/>
            <a:ext cx="1676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15171A"/>
                </a:solidFill>
                <a:latin typeface="Aptos"/>
              </a:rPr>
              <a:t>paper-small GRU</a:t>
            </a:r>
            <a:endParaRPr lang="hr-HR" sz="1020"/>
          </a:p>
        </p:txBody>
      </p:sp>
      <p:sp>
        <p:nvSpPr>
          <p:cNvPr id="17" name="Cell"/>
          <p:cNvSpPr txBox="1"/>
          <p:nvPr/>
        </p:nvSpPr>
        <p:spPr>
          <a:xfrm>
            <a:off x="2273300" y="2019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0.453</a:t>
            </a:r>
            <a:endParaRPr lang="hr-HR" sz="1020"/>
          </a:p>
        </p:txBody>
      </p:sp>
      <p:sp>
        <p:nvSpPr>
          <p:cNvPr id="18" name="Cell"/>
          <p:cNvSpPr txBox="1"/>
          <p:nvPr/>
        </p:nvSpPr>
        <p:spPr>
          <a:xfrm>
            <a:off x="3289300" y="2019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0.155</a:t>
            </a:r>
            <a:endParaRPr lang="hr-HR" sz="1020"/>
          </a:p>
        </p:txBody>
      </p:sp>
      <p:sp>
        <p:nvSpPr>
          <p:cNvPr id="19" name="Cell"/>
          <p:cNvSpPr txBox="1"/>
          <p:nvPr/>
        </p:nvSpPr>
        <p:spPr>
          <a:xfrm>
            <a:off x="4305300" y="2019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0.118</a:t>
            </a:r>
            <a:endParaRPr lang="hr-HR" sz="1020"/>
          </a:p>
        </p:txBody>
      </p:sp>
      <p:sp>
        <p:nvSpPr>
          <p:cNvPr id="20" name="Cell"/>
          <p:cNvSpPr txBox="1"/>
          <p:nvPr/>
        </p:nvSpPr>
        <p:spPr>
          <a:xfrm>
            <a:off x="5384800" y="2019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0.088</a:t>
            </a:r>
            <a:endParaRPr lang="hr-HR" sz="1020"/>
          </a:p>
        </p:txBody>
      </p:sp>
      <p:sp>
        <p:nvSpPr>
          <p:cNvPr id="21" name="Cell"/>
          <p:cNvSpPr txBox="1"/>
          <p:nvPr/>
        </p:nvSpPr>
        <p:spPr>
          <a:xfrm>
            <a:off x="6400800" y="2019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0.075</a:t>
            </a:r>
            <a:endParaRPr lang="hr-HR" sz="1020"/>
          </a:p>
        </p:txBody>
      </p:sp>
      <p:sp>
        <p:nvSpPr>
          <p:cNvPr id="22" name="Cell"/>
          <p:cNvSpPr txBox="1"/>
          <p:nvPr/>
        </p:nvSpPr>
        <p:spPr>
          <a:xfrm>
            <a:off x="7480300" y="2019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0.160</a:t>
            </a:r>
            <a:endParaRPr lang="hr-HR" sz="1020"/>
          </a:p>
        </p:txBody>
      </p:sp>
      <p:sp>
        <p:nvSpPr>
          <p:cNvPr id="23" name="Cell"/>
          <p:cNvSpPr txBox="1"/>
          <p:nvPr/>
        </p:nvSpPr>
        <p:spPr>
          <a:xfrm>
            <a:off x="495300" y="2400300"/>
            <a:ext cx="1676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15171A"/>
                </a:solidFill>
                <a:latin typeface="Aptos"/>
              </a:rPr>
              <a:t>7-layer GRU</a:t>
            </a:r>
            <a:endParaRPr lang="hr-HR" sz="1020"/>
          </a:p>
        </p:txBody>
      </p:sp>
      <p:sp>
        <p:nvSpPr>
          <p:cNvPr id="24" name="Cell"/>
          <p:cNvSpPr txBox="1"/>
          <p:nvPr/>
        </p:nvSpPr>
        <p:spPr>
          <a:xfrm>
            <a:off x="2273300" y="2400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0.429</a:t>
            </a:r>
            <a:endParaRPr lang="hr-HR" sz="1020"/>
          </a:p>
        </p:txBody>
      </p:sp>
      <p:sp>
        <p:nvSpPr>
          <p:cNvPr id="25" name="Cell"/>
          <p:cNvSpPr txBox="1"/>
          <p:nvPr/>
        </p:nvSpPr>
        <p:spPr>
          <a:xfrm>
            <a:off x="3289300" y="2400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0.142</a:t>
            </a:r>
            <a:endParaRPr lang="hr-HR" sz="1020"/>
          </a:p>
        </p:txBody>
      </p:sp>
      <p:sp>
        <p:nvSpPr>
          <p:cNvPr id="26" name="Cell"/>
          <p:cNvSpPr txBox="1"/>
          <p:nvPr/>
        </p:nvSpPr>
        <p:spPr>
          <a:xfrm>
            <a:off x="4305300" y="2400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0.127</a:t>
            </a:r>
            <a:endParaRPr lang="hr-HR" sz="1020"/>
          </a:p>
        </p:txBody>
      </p:sp>
      <p:sp>
        <p:nvSpPr>
          <p:cNvPr id="27" name="Cell"/>
          <p:cNvSpPr txBox="1"/>
          <p:nvPr/>
        </p:nvSpPr>
        <p:spPr>
          <a:xfrm>
            <a:off x="5384800" y="2400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0.094</a:t>
            </a:r>
            <a:endParaRPr lang="hr-HR" sz="1020"/>
          </a:p>
        </p:txBody>
      </p:sp>
      <p:sp>
        <p:nvSpPr>
          <p:cNvPr id="28" name="Cell"/>
          <p:cNvSpPr txBox="1"/>
          <p:nvPr/>
        </p:nvSpPr>
        <p:spPr>
          <a:xfrm>
            <a:off x="6400800" y="2400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0.083</a:t>
            </a:r>
            <a:endParaRPr lang="hr-HR" sz="1020"/>
          </a:p>
        </p:txBody>
      </p:sp>
      <p:sp>
        <p:nvSpPr>
          <p:cNvPr id="29" name="Cell"/>
          <p:cNvSpPr txBox="1"/>
          <p:nvPr/>
        </p:nvSpPr>
        <p:spPr>
          <a:xfrm>
            <a:off x="7480300" y="2400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0.171</a:t>
            </a:r>
            <a:endParaRPr lang="hr-HR" sz="1020"/>
          </a:p>
        </p:txBody>
      </p:sp>
      <p:sp>
        <p:nvSpPr>
          <p:cNvPr id="30" name="Cell"/>
          <p:cNvSpPr txBox="1"/>
          <p:nvPr/>
        </p:nvSpPr>
        <p:spPr>
          <a:xfrm>
            <a:off x="495300" y="2781300"/>
            <a:ext cx="1676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 b="1">
                <a:solidFill>
                  <a:srgbClr val="15171A"/>
                </a:solidFill>
                <a:latin typeface="Aptos"/>
              </a:rPr>
              <a:t>7-layer LSTM</a:t>
            </a:r>
            <a:endParaRPr lang="hr-HR" sz="1020"/>
          </a:p>
        </p:txBody>
      </p:sp>
      <p:sp>
        <p:nvSpPr>
          <p:cNvPr id="31" name="Cell"/>
          <p:cNvSpPr txBox="1"/>
          <p:nvPr/>
        </p:nvSpPr>
        <p:spPr>
          <a:xfrm>
            <a:off x="2273300" y="2781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0.535</a:t>
            </a:r>
            <a:endParaRPr lang="hr-HR" sz="1020"/>
          </a:p>
        </p:txBody>
      </p:sp>
      <p:sp>
        <p:nvSpPr>
          <p:cNvPr id="32" name="Cell"/>
          <p:cNvSpPr txBox="1"/>
          <p:nvPr/>
        </p:nvSpPr>
        <p:spPr>
          <a:xfrm>
            <a:off x="3289300" y="2781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0.175</a:t>
            </a:r>
            <a:endParaRPr lang="hr-HR" sz="1020"/>
          </a:p>
        </p:txBody>
      </p:sp>
      <p:sp>
        <p:nvSpPr>
          <p:cNvPr id="33" name="Cell"/>
          <p:cNvSpPr txBox="1"/>
          <p:nvPr/>
        </p:nvSpPr>
        <p:spPr>
          <a:xfrm>
            <a:off x="4305300" y="2781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0.151</a:t>
            </a:r>
            <a:endParaRPr lang="hr-HR" sz="1020"/>
          </a:p>
        </p:txBody>
      </p:sp>
      <p:sp>
        <p:nvSpPr>
          <p:cNvPr id="34" name="Cell"/>
          <p:cNvSpPr txBox="1"/>
          <p:nvPr/>
        </p:nvSpPr>
        <p:spPr>
          <a:xfrm>
            <a:off x="5384800" y="2781300"/>
            <a:ext cx="9144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0.123</a:t>
            </a:r>
            <a:endParaRPr lang="hr-HR" sz="1020"/>
          </a:p>
        </p:txBody>
      </p:sp>
      <p:sp>
        <p:nvSpPr>
          <p:cNvPr id="35" name="Cell"/>
          <p:cNvSpPr txBox="1"/>
          <p:nvPr/>
        </p:nvSpPr>
        <p:spPr>
          <a:xfrm>
            <a:off x="6400800" y="2781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0.095</a:t>
            </a:r>
            <a:endParaRPr lang="hr-HR" sz="1020"/>
          </a:p>
        </p:txBody>
      </p:sp>
      <p:sp>
        <p:nvSpPr>
          <p:cNvPr id="36" name="Cell"/>
          <p:cNvSpPr txBox="1"/>
          <p:nvPr/>
        </p:nvSpPr>
        <p:spPr>
          <a:xfrm>
            <a:off x="7480300" y="2781300"/>
            <a:ext cx="9779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20">
                <a:solidFill>
                  <a:srgbClr val="20282C"/>
                </a:solidFill>
                <a:latin typeface="Aptos"/>
              </a:rPr>
              <a:t>0.206</a:t>
            </a:r>
            <a:endParaRPr lang="hr-HR" sz="1020"/>
          </a:p>
        </p:txBody>
      </p:sp>
      <p:sp>
        <p:nvSpPr>
          <p:cNvPr id="37" name="Rectangle"/>
          <p:cNvSpPr/>
          <p:nvPr/>
        </p:nvSpPr>
        <p:spPr>
          <a:xfrm>
            <a:off x="571500" y="3479800"/>
            <a:ext cx="2286000" cy="7620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38" name="Text"/>
          <p:cNvSpPr txBox="1"/>
          <p:nvPr/>
        </p:nvSpPr>
        <p:spPr>
          <a:xfrm>
            <a:off x="723900" y="35941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00" b="1">
                <a:solidFill>
                  <a:srgbClr val="F8F3E8"/>
                </a:solidFill>
                <a:latin typeface="Aptos"/>
              </a:rPr>
              <a:t>Best VEPRAD model</a:t>
            </a:r>
            <a:endParaRPr lang="hr-HR" sz="1300"/>
          </a:p>
        </p:txBody>
      </p:sp>
      <p:sp>
        <p:nvSpPr>
          <p:cNvPr id="39" name="Text"/>
          <p:cNvSpPr txBox="1"/>
          <p:nvPr/>
        </p:nvSpPr>
        <p:spPr>
          <a:xfrm>
            <a:off x="723900" y="3784600"/>
            <a:ext cx="1968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50" b="1">
                <a:solidFill>
                  <a:srgbClr val="F8F3E8"/>
                </a:solidFill>
                <a:latin typeface="Aptos"/>
              </a:rPr>
              <a:t>paper-small GRU</a:t>
            </a:r>
            <a:endParaRPr lang="hr-HR" sz="1850"/>
          </a:p>
        </p:txBody>
      </p:sp>
      <p:sp>
        <p:nvSpPr>
          <p:cNvPr id="40" name="Text"/>
          <p:cNvSpPr txBox="1"/>
          <p:nvPr/>
        </p:nvSpPr>
        <p:spPr>
          <a:xfrm>
            <a:off x="723900" y="40386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50">
                <a:solidFill>
                  <a:srgbClr val="F8F3E8"/>
                </a:solidFill>
                <a:latin typeface="Aptos"/>
              </a:rPr>
              <a:t>0.118 test WER</a:t>
            </a:r>
            <a:endParaRPr lang="hr-HR" sz="1050"/>
          </a:p>
        </p:txBody>
      </p:sp>
      <p:sp>
        <p:nvSpPr>
          <p:cNvPr id="41" name="Rectangle"/>
          <p:cNvSpPr/>
          <p:nvPr/>
        </p:nvSpPr>
        <p:spPr>
          <a:xfrm>
            <a:off x="3143250" y="3479800"/>
            <a:ext cx="2286000" cy="7620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42" name="Text"/>
          <p:cNvSpPr txBox="1"/>
          <p:nvPr/>
        </p:nvSpPr>
        <p:spPr>
          <a:xfrm>
            <a:off x="3295650" y="35941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00" b="1">
                <a:solidFill>
                  <a:srgbClr val="F8F3E8"/>
                </a:solidFill>
                <a:latin typeface="Aptos"/>
              </a:rPr>
              <a:t>VEPRAD LM effect</a:t>
            </a:r>
            <a:endParaRPr lang="hr-HR" sz="1300"/>
          </a:p>
        </p:txBody>
      </p:sp>
      <p:sp>
        <p:nvSpPr>
          <p:cNvPr id="43" name="Text"/>
          <p:cNvSpPr txBox="1"/>
          <p:nvPr/>
        </p:nvSpPr>
        <p:spPr>
          <a:xfrm>
            <a:off x="3295650" y="3784600"/>
            <a:ext cx="1968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50" b="1">
                <a:solidFill>
                  <a:srgbClr val="F8F3E8"/>
                </a:solidFill>
                <a:latin typeface="Aptos"/>
              </a:rPr>
              <a:t>0.453 → 0.118</a:t>
            </a:r>
            <a:endParaRPr lang="hr-HR" sz="1850"/>
          </a:p>
        </p:txBody>
      </p:sp>
      <p:sp>
        <p:nvSpPr>
          <p:cNvPr id="44" name="Text"/>
          <p:cNvSpPr txBox="1"/>
          <p:nvPr/>
        </p:nvSpPr>
        <p:spPr>
          <a:xfrm>
            <a:off x="3295650" y="40386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50">
                <a:solidFill>
                  <a:srgbClr val="F8F3E8"/>
                </a:solidFill>
                <a:latin typeface="Aptos"/>
              </a:rPr>
              <a:t>best model test WER</a:t>
            </a:r>
            <a:endParaRPr lang="hr-HR" sz="1050"/>
          </a:p>
        </p:txBody>
      </p:sp>
      <p:sp>
        <p:nvSpPr>
          <p:cNvPr id="45" name="Rectangle"/>
          <p:cNvSpPr/>
          <p:nvPr/>
        </p:nvSpPr>
        <p:spPr>
          <a:xfrm>
            <a:off x="5715000" y="3479800"/>
            <a:ext cx="2286000" cy="762000"/>
          </a:xfrm>
          <a:prstGeom prst="rect">
            <a:avLst/>
          </a:prstGeom>
          <a:solidFill>
            <a:srgbClr val="F0B429"/>
          </a:solidFill>
          <a:ln>
            <a:noFill/>
          </a:ln>
        </p:spPr>
      </p:sp>
      <p:sp>
        <p:nvSpPr>
          <p:cNvPr id="46" name="Text"/>
          <p:cNvSpPr txBox="1"/>
          <p:nvPr/>
        </p:nvSpPr>
        <p:spPr>
          <a:xfrm>
            <a:off x="5867400" y="35941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00" b="1">
                <a:solidFill>
                  <a:srgbClr val="15171A"/>
                </a:solidFill>
                <a:latin typeface="Aptos"/>
              </a:rPr>
              <a:t>Speaker gap</a:t>
            </a:r>
            <a:endParaRPr lang="hr-HR" sz="1300"/>
          </a:p>
        </p:txBody>
      </p:sp>
      <p:sp>
        <p:nvSpPr>
          <p:cNvPr id="47" name="Text"/>
          <p:cNvSpPr txBox="1"/>
          <p:nvPr/>
        </p:nvSpPr>
        <p:spPr>
          <a:xfrm>
            <a:off x="5867400" y="3784600"/>
            <a:ext cx="1968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850" b="1">
                <a:solidFill>
                  <a:srgbClr val="15171A"/>
                </a:solidFill>
                <a:latin typeface="Aptos"/>
              </a:rPr>
              <a:t>0.075 vs 0.160</a:t>
            </a:r>
            <a:endParaRPr lang="hr-HR" sz="1850"/>
          </a:p>
        </p:txBody>
      </p:sp>
      <p:sp>
        <p:nvSpPr>
          <p:cNvPr id="48" name="Text"/>
          <p:cNvSpPr txBox="1"/>
          <p:nvPr/>
        </p:nvSpPr>
        <p:spPr>
          <a:xfrm>
            <a:off x="5867400" y="40386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050">
                <a:solidFill>
                  <a:srgbClr val="15171A"/>
                </a:solidFill>
                <a:latin typeface="Aptos"/>
              </a:rPr>
              <a:t>seen vs unseen VEPRAD</a:t>
            </a:r>
            <a:endParaRPr lang="hr-HR" sz="1050"/>
          </a:p>
        </p:txBody>
      </p:sp>
      <p:sp>
        <p:nvSpPr>
          <p:cNvPr id="49" name="Text"/>
          <p:cNvSpPr txBox="1"/>
          <p:nvPr/>
        </p:nvSpPr>
        <p:spPr>
          <a:xfrm>
            <a:off x="444500" y="4667250"/>
            <a:ext cx="3873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900" b="1">
                <a:solidFill>
                  <a:srgbClr val="15171A"/>
                </a:solidFill>
                <a:latin typeface="Aptos"/>
              </a:rPr>
              <a:t>Zaključci</a:t>
            </a:r>
            <a:endParaRPr lang="hr-HR" sz="1900"/>
          </a:p>
        </p:txBody>
      </p:sp>
      <p:sp>
        <p:nvSpPr>
          <p:cNvPr id="50" name="Rule"/>
          <p:cNvSpPr/>
          <p:nvPr/>
        </p:nvSpPr>
        <p:spPr>
          <a:xfrm>
            <a:off x="444500" y="4908550"/>
            <a:ext cx="571500" cy="381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51" name="Text"/>
          <p:cNvSpPr txBox="1"/>
          <p:nvPr/>
        </p:nvSpPr>
        <p:spPr>
          <a:xfrm>
            <a:off x="444500" y="5080000"/>
            <a:ext cx="447675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50">
                <a:solidFill>
                  <a:srgbClr val="20282C"/>
                </a:solidFill>
                <a:latin typeface="Aptos"/>
              </a:rPr>
              <a:t>• Sustav radi end-to-end na VEPRAD-u: splitovi, trening, dekodiranje i metrike su reproducibilni.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Dublje nije automatski bolje: 5-layer GRU je bolji od 7GRU i 7LSTM u ovoj postavci.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KenLM je ključan jer VEPRAD sadrži mnogo ponavljajućih vremenskih fraza.</a:t>
            </a:r>
            <a:endParaRPr lang="hr-HR" sz="1350"/>
          </a:p>
        </p:txBody>
      </p:sp>
      <p:sp>
        <p:nvSpPr>
          <p:cNvPr id="52" name="Text"/>
          <p:cNvSpPr txBox="1"/>
          <p:nvPr/>
        </p:nvSpPr>
        <p:spPr>
          <a:xfrm>
            <a:off x="5683250" y="4667250"/>
            <a:ext cx="330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900" b="1">
                <a:solidFill>
                  <a:srgbClr val="15171A"/>
                </a:solidFill>
                <a:latin typeface="Aptos"/>
              </a:rPr>
              <a:t>Što bi bilo iduće</a:t>
            </a:r>
            <a:endParaRPr lang="hr-HR" sz="1900"/>
          </a:p>
        </p:txBody>
      </p:sp>
      <p:sp>
        <p:nvSpPr>
          <p:cNvPr id="53" name="Rule"/>
          <p:cNvSpPr/>
          <p:nvPr/>
        </p:nvSpPr>
        <p:spPr>
          <a:xfrm>
            <a:off x="5683250" y="4908550"/>
            <a:ext cx="571500" cy="38100"/>
          </a:xfrm>
          <a:prstGeom prst="rect">
            <a:avLst/>
          </a:prstGeom>
          <a:solidFill>
            <a:srgbClr val="2C8C99"/>
          </a:solidFill>
          <a:ln>
            <a:noFill/>
          </a:ln>
        </p:spPr>
      </p:sp>
      <p:sp>
        <p:nvSpPr>
          <p:cNvPr id="54" name="Text"/>
          <p:cNvSpPr txBox="1"/>
          <p:nvPr/>
        </p:nvSpPr>
        <p:spPr>
          <a:xfrm>
            <a:off x="5683250" y="5080000"/>
            <a:ext cx="3937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1350">
                <a:solidFill>
                  <a:srgbClr val="20282C"/>
                </a:solidFill>
                <a:latin typeface="Aptos"/>
              </a:rPr>
              <a:t>• više CV splitova za stabilniju procjenu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n-gram order sweep za KenLM</a:t>
            </a:r>
            <a:endParaRPr lang="hr-HR" sz="1350"/>
          </a:p>
          <a:p>
            <a:r>
              <a:rPr lang="hr-HR" sz="1350">
                <a:solidFill>
                  <a:srgbClr val="20282C"/>
                </a:solidFill>
                <a:latin typeface="Aptos"/>
              </a:rPr>
              <a:t>• eventualno model/feature promjene koje zahtijevaju PaddleSpeech source edit</a:t>
            </a:r>
            <a:endParaRPr lang="hr-HR"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3206750" cy="6858000"/>
          </a:xfrm>
          <a:prstGeom prst="rect">
            <a:avLst/>
          </a:prstGeom>
          <a:solidFill>
            <a:srgbClr val="15171A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3206750" y="0"/>
            <a:ext cx="177800" cy="685800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419100" y="520700"/>
            <a:ext cx="2032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200" b="1">
                <a:solidFill>
                  <a:srgbClr val="F0B429"/>
                </a:solidFill>
                <a:latin typeface="Aptos"/>
              </a:rPr>
              <a:t>ROGJ 2025/26</a:t>
            </a:r>
            <a:endParaRPr lang="hr-HR" sz="2200"/>
          </a:p>
        </p:txBody>
      </p:sp>
      <p:sp>
        <p:nvSpPr>
          <p:cNvPr id="5" name="Text"/>
          <p:cNvSpPr txBox="1"/>
          <p:nvPr/>
        </p:nvSpPr>
        <p:spPr>
          <a:xfrm>
            <a:off x="419100" y="952500"/>
            <a:ext cx="2095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3800" b="1">
                <a:solidFill>
                  <a:srgbClr val="F8F3E8"/>
                </a:solidFill>
                <a:latin typeface="Aptos"/>
              </a:rPr>
              <a:t>Tema 12</a:t>
            </a:r>
            <a:endParaRPr lang="hr-HR" sz="3800"/>
          </a:p>
        </p:txBody>
      </p:sp>
      <p:sp>
        <p:nvSpPr>
          <p:cNvPr id="6" name="Text"/>
          <p:cNvSpPr txBox="1"/>
          <p:nvPr/>
        </p:nvSpPr>
        <p:spPr>
          <a:xfrm>
            <a:off x="3873500" y="209550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5800" b="1">
                <a:solidFill>
                  <a:srgbClr val="15171A"/>
                </a:solidFill>
                <a:latin typeface="Aptos"/>
              </a:rPr>
              <a:t>THE END</a:t>
            </a:r>
            <a:endParaRPr lang="hr-HR" sz="5800"/>
          </a:p>
        </p:txBody>
      </p:sp>
      <p:sp>
        <p:nvSpPr>
          <p:cNvPr id="7" name="Rule"/>
          <p:cNvSpPr/>
          <p:nvPr/>
        </p:nvSpPr>
        <p:spPr>
          <a:xfrm>
            <a:off x="3911600" y="2832100"/>
            <a:ext cx="2667000" cy="57150"/>
          </a:xfrm>
          <a:prstGeom prst="rect">
            <a:avLst/>
          </a:prstGeom>
          <a:solidFill>
            <a:srgbClr val="E24A2A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3911600" y="3302000"/>
            <a:ext cx="571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hr-HR" sz="2500">
                <a:solidFill>
                  <a:srgbClr val="20282C"/>
                </a:solidFill>
                <a:latin typeface="Aptos"/>
              </a:rPr>
              <a:t>Hvala na pažnji.</a:t>
            </a:r>
            <a:endParaRPr lang="hr-HR"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GJ VEPRAD">
  <a:themeElements>
    <a:clrScheme name="ROGJ">
      <a:dk1>
        <a:srgbClr val="15171A"/>
      </a:dk1>
      <a:lt1>
        <a:srgbClr val="F8F3E8"/>
      </a:lt1>
      <a:dk2>
        <a:srgbClr val="20282C"/>
      </a:dk2>
      <a:lt2>
        <a:srgbClr val="F2DFC7"/>
      </a:lt2>
      <a:accent1>
        <a:srgbClr val="E24A2A"/>
      </a:accent1>
      <a:accent2>
        <a:srgbClr val="2C8C99"/>
      </a:accent2>
      <a:accent3>
        <a:srgbClr val="F0B429"/>
      </a:accent3>
      <a:accent4>
        <a:srgbClr val="5A7D3A"/>
      </a:accent4>
      <a:accent5>
        <a:srgbClr val="7B4A2D"/>
      </a:accent5>
      <a:accent6>
        <a:srgbClr val="6F6A5B"/>
      </a:accent6>
      <a:hlink>
        <a:srgbClr val="2C8C99"/>
      </a:hlink>
      <a:folHlink>
        <a:srgbClr val="7B4A2D"/>
      </a:folHlink>
    </a:clrScheme>
    <a:fontScheme name="ROGJ Fonts">
      <a:majorFont>
        <a:latin typeface="Aptos Display"/>
      </a:majorFont>
      <a:minorFont>
        <a:latin typeface="Aptos"/>
      </a:minorFont>
    </a:fontScheme>
    <a:fmtScheme name="ROGJ Format">
      <a:fillStyleLst>
        <a:solidFill>
          <a:schemeClr val="accent1"/>
        </a:solidFill>
      </a:fillStyleLst>
      <a:lnStyleLst>
        <a:ln w="635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DeepSpeech2 VEPRAD Presentation</dc:title>
  <dc:subject>DeepSpeech2 acoustic model training on VEPRAD</dc:subject>
  <dc:creator>Codex</dc:creator>
  <cp:lastModifiedBy>Codex</cp:lastModifiedBy>
  <dcterms:created xsi:type="dcterms:W3CDTF">2026-06-13T00:00:00Z</dcterms:created>
  <dcterms:modified xsi:type="dcterms:W3CDTF">2026-06-13T00:00:00Z</dcterms:modified>
</cp:coreProperties>
</file>