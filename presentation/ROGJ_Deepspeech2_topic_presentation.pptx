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eepspeech2_architecture_generated_slide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4572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863600"/>
            <a:ext cx="20955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400" b="1">
                <a:solidFill>
                  <a:srgbClr val="F8F3E8"/>
                </a:solidFill>
                <a:latin typeface="Aptos"/>
              </a:rPr>
              <a:t>Tema 12</a:t>
            </a:r>
            <a:endParaRPr lang="hr-HR" sz="3400"/>
          </a:p>
        </p:txBody>
      </p:sp>
      <p:sp>
        <p:nvSpPr>
          <p:cNvPr id="6" name="Text"/>
          <p:cNvSpPr txBox="1"/>
          <p:nvPr/>
        </p:nvSpPr>
        <p:spPr>
          <a:xfrm>
            <a:off x="419100" y="1365250"/>
            <a:ext cx="2159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00">
                <a:solidFill>
                  <a:srgbClr val="F2DFC7"/>
                </a:solidFill>
                <a:latin typeface="Aptos"/>
              </a:rPr>
              <a:t>Učenje akustičkih</a:t>
            </a:r>
            <a:endParaRPr lang="hr-HR" sz="2300"/>
          </a:p>
          <a:p>
            <a:r>
              <a:rPr lang="hr-HR" sz="2300">
                <a:solidFill>
                  <a:srgbClr val="F2DFC7"/>
                </a:solidFill>
                <a:latin typeface="Aptos"/>
              </a:rPr>
              <a:t>modela govora</a:t>
            </a:r>
            <a:endParaRPr lang="hr-HR" sz="2300"/>
          </a:p>
          <a:p>
            <a:r>
              <a:rPr lang="hr-HR" sz="2300">
                <a:solidFill>
                  <a:srgbClr val="F2DFC7"/>
                </a:solidFill>
                <a:latin typeface="Aptos"/>
              </a:rPr>
              <a:t>za raspoznavanje</a:t>
            </a:r>
            <a:endParaRPr lang="hr-HR" sz="2300"/>
          </a:p>
        </p:txBody>
      </p:sp>
      <p:sp>
        <p:nvSpPr>
          <p:cNvPr id="7" name="Text"/>
          <p:cNvSpPr txBox="1"/>
          <p:nvPr/>
        </p:nvSpPr>
        <p:spPr>
          <a:xfrm>
            <a:off x="3873500" y="666750"/>
            <a:ext cx="66675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4100" b="1">
                <a:solidFill>
                  <a:srgbClr val="15171A"/>
                </a:solidFill>
                <a:latin typeface="Aptos"/>
              </a:rPr>
              <a:t>DeepSpeech2 na VEPRAD-u</a:t>
            </a:r>
            <a:endParaRPr lang="hr-HR" sz="4100"/>
          </a:p>
        </p:txBody>
      </p:sp>
      <p:sp>
        <p:nvSpPr>
          <p:cNvPr id="8" name="Text"/>
          <p:cNvSpPr txBox="1"/>
          <p:nvPr/>
        </p:nvSpPr>
        <p:spPr>
          <a:xfrm>
            <a:off x="3911600" y="1854200"/>
            <a:ext cx="6667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00">
                <a:solidFill>
                  <a:srgbClr val="20282C"/>
                </a:solidFill>
                <a:latin typeface="Aptos"/>
              </a:rPr>
              <a:t>Zadatak: na temelju baze snimljenog i transkribiranog govora naučiti akustičke modele i testirati rad sustava.</a:t>
            </a:r>
            <a:endParaRPr lang="hr-HR" sz="2300"/>
          </a:p>
        </p:txBody>
      </p:sp>
      <p:sp>
        <p:nvSpPr>
          <p:cNvPr id="9" name="Rule"/>
          <p:cNvSpPr/>
          <p:nvPr/>
        </p:nvSpPr>
        <p:spPr>
          <a:xfrm>
            <a:off x="3911600" y="2654300"/>
            <a:ext cx="5588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3911600" y="2933700"/>
            <a:ext cx="5715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100" b="1">
                <a:solidFill>
                  <a:srgbClr val="15171A"/>
                </a:solidFill>
                <a:latin typeface="Aptos"/>
              </a:rPr>
              <a:t>VEPRAD -&gt; splitovi -&gt; DeepSpeech2 trening -&gt; KenLM dekodiranje -&gt; WER/CER</a:t>
            </a:r>
            <a:endParaRPr lang="hr-HR" sz="2100"/>
          </a:p>
        </p:txBody>
      </p:sp>
      <p:sp>
        <p:nvSpPr>
          <p:cNvPr id="11" name="Rectangle"/>
          <p:cNvSpPr/>
          <p:nvPr/>
        </p:nvSpPr>
        <p:spPr>
          <a:xfrm>
            <a:off x="3911600" y="3683000"/>
            <a:ext cx="1555750" cy="736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405130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F8F3E8"/>
                </a:solidFill>
                <a:latin typeface="Aptos"/>
              </a:rPr>
              <a:t>3</a:t>
            </a:r>
            <a:endParaRPr lang="hr-HR" sz="3000"/>
          </a:p>
        </p:txBody>
      </p:sp>
      <p:sp>
        <p:nvSpPr>
          <p:cNvPr id="13" name="Text"/>
          <p:cNvSpPr txBox="1"/>
          <p:nvPr/>
        </p:nvSpPr>
        <p:spPr>
          <a:xfrm>
            <a:off x="405130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F8F3E8"/>
                </a:solidFill>
                <a:latin typeface="Aptos"/>
              </a:rPr>
              <a:t>trenirana modela</a:t>
            </a:r>
            <a:endParaRPr lang="hr-HR" sz="1300"/>
          </a:p>
        </p:txBody>
      </p:sp>
      <p:sp>
        <p:nvSpPr>
          <p:cNvPr id="14" name="Rectangle"/>
          <p:cNvSpPr/>
          <p:nvPr/>
        </p:nvSpPr>
        <p:spPr>
          <a:xfrm>
            <a:off x="5721350" y="3683000"/>
            <a:ext cx="1555750" cy="7366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86105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15171A"/>
                </a:solidFill>
                <a:latin typeface="Aptos"/>
              </a:rPr>
              <a:t>6</a:t>
            </a:r>
            <a:endParaRPr lang="hr-HR" sz="3000"/>
          </a:p>
        </p:txBody>
      </p:sp>
      <p:sp>
        <p:nvSpPr>
          <p:cNvPr id="16" name="Text"/>
          <p:cNvSpPr txBox="1"/>
          <p:nvPr/>
        </p:nvSpPr>
        <p:spPr>
          <a:xfrm>
            <a:off x="586105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15171A"/>
                </a:solidFill>
                <a:latin typeface="Aptos"/>
              </a:rPr>
              <a:t>eval subsetova</a:t>
            </a:r>
            <a:endParaRPr lang="hr-HR" sz="1300"/>
          </a:p>
        </p:txBody>
      </p:sp>
      <p:sp>
        <p:nvSpPr>
          <p:cNvPr id="17" name="Rectangle"/>
          <p:cNvSpPr/>
          <p:nvPr/>
        </p:nvSpPr>
        <p:spPr>
          <a:xfrm>
            <a:off x="7531100" y="3683000"/>
            <a:ext cx="1555750" cy="7366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8" name="Text"/>
          <p:cNvSpPr txBox="1"/>
          <p:nvPr/>
        </p:nvSpPr>
        <p:spPr>
          <a:xfrm>
            <a:off x="767080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F8F3E8"/>
                </a:solidFill>
                <a:latin typeface="Aptos"/>
              </a:rPr>
              <a:t>0.118</a:t>
            </a:r>
            <a:endParaRPr lang="hr-HR" sz="3000"/>
          </a:p>
        </p:txBody>
      </p:sp>
      <p:sp>
        <p:nvSpPr>
          <p:cNvPr id="19" name="Text"/>
          <p:cNvSpPr txBox="1"/>
          <p:nvPr/>
        </p:nvSpPr>
        <p:spPr>
          <a:xfrm>
            <a:off x="767080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F8F3E8"/>
                </a:solidFill>
                <a:latin typeface="Aptos"/>
              </a:rPr>
              <a:t>najbolji test WER</a:t>
            </a:r>
            <a:endParaRPr lang="hr-HR" sz="1300"/>
          </a:p>
        </p:txBody>
      </p:sp>
      <p:sp>
        <p:nvSpPr>
          <p:cNvPr id="20" name="Text"/>
          <p:cNvSpPr txBox="1"/>
          <p:nvPr/>
        </p:nvSpPr>
        <p:spPr>
          <a:xfrm>
            <a:off x="3911600" y="4889500"/>
            <a:ext cx="6223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>
                <a:solidFill>
                  <a:srgbClr val="6F6A5B"/>
                </a:solidFill>
                <a:latin typeface="Aptos"/>
              </a:rPr>
              <a:t>U prezentaciji: kako smo izolirali test skup, kako je definiran CV split, koje DS2 konfiguracije smo trenirali i koliko KenLM mijenja rezultate.</a:t>
            </a:r>
            <a:endParaRPr lang="hr-HR" sz="1900"/>
          </a:p>
        </p:txBody>
      </p:sp>
      <p:sp>
        <p:nvSpPr>
          <p:cNvPr id="21" name="Text"/>
          <p:cNvSpPr txBox="1"/>
          <p:nvPr/>
        </p:nvSpPr>
        <p:spPr>
          <a:xfrm>
            <a:off x="3911600" y="6146800"/>
            <a:ext cx="5715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6F6A5B"/>
                </a:solidFill>
                <a:latin typeface="Aptos"/>
              </a:rPr>
              <a:t>Repo: PaddleSpeech DeepSpeech2 pipeline + VEPRAD manifesti + rezultatne metrike</a:t>
            </a:r>
            <a:endParaRPr lang="hr-HR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02 · PODACI I SPLITOVI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Test skup je odvojen prije cross-validacije.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VEPRAD se tretira kao govor + transkript, s govornicima kao važnom osi generalizacije.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444500" y="1587500"/>
            <a:ext cx="2730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Permanentni test skup</a:t>
            </a:r>
            <a:endParaRPr lang="hr-HR" sz="1800"/>
          </a:p>
        </p:txBody>
      </p:sp>
      <p:sp>
        <p:nvSpPr>
          <p:cNvPr id="7" name="Rule"/>
          <p:cNvSpPr/>
          <p:nvPr/>
        </p:nvSpPr>
        <p:spPr>
          <a:xfrm>
            <a:off x="444500" y="1828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Rectangle"/>
          <p:cNvSpPr/>
          <p:nvPr/>
        </p:nvSpPr>
        <p:spPr>
          <a:xfrm>
            <a:off x="444500" y="2032000"/>
            <a:ext cx="266700" cy="266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9" name="Text"/>
          <p:cNvSpPr txBox="1"/>
          <p:nvPr/>
        </p:nvSpPr>
        <p:spPr>
          <a:xfrm>
            <a:off x="527050" y="20764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1</a:t>
            </a:r>
            <a:endParaRPr lang="hr-HR" sz="1500"/>
          </a:p>
        </p:txBody>
      </p:sp>
      <p:sp>
        <p:nvSpPr>
          <p:cNvPr id="10" name="Text"/>
          <p:cNvSpPr txBox="1"/>
          <p:nvPr/>
        </p:nvSpPr>
        <p:spPr>
          <a:xfrm>
            <a:off x="825500" y="20447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3 govornika se potpuno izdvajaju za test</a:t>
            </a:r>
            <a:endParaRPr lang="hr-HR" sz="1250"/>
          </a:p>
        </p:txBody>
      </p:sp>
      <p:sp>
        <p:nvSpPr>
          <p:cNvPr id="11" name="Rectangle"/>
          <p:cNvSpPr/>
          <p:nvPr/>
        </p:nvSpPr>
        <p:spPr>
          <a:xfrm>
            <a:off x="444500" y="2616200"/>
            <a:ext cx="266700" cy="266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527050" y="26606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2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825500" y="26289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iz svih ostalih govornika uzima se oko 10% utterancea za test</a:t>
            </a:r>
            <a:endParaRPr lang="hr-HR" sz="1250"/>
          </a:p>
        </p:txBody>
      </p:sp>
      <p:sp>
        <p:nvSpPr>
          <p:cNvPr id="14" name="Rectangle"/>
          <p:cNvSpPr/>
          <p:nvPr/>
        </p:nvSpPr>
        <p:spPr>
          <a:xfrm>
            <a:off x="444500" y="3200400"/>
            <a:ext cx="266700" cy="2667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27050" y="32448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3</a:t>
            </a:r>
            <a:endParaRPr lang="hr-HR" sz="1500"/>
          </a:p>
        </p:txBody>
      </p:sp>
      <p:sp>
        <p:nvSpPr>
          <p:cNvPr id="16" name="Text"/>
          <p:cNvSpPr txBox="1"/>
          <p:nvPr/>
        </p:nvSpPr>
        <p:spPr>
          <a:xfrm>
            <a:off x="825500" y="32131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test audio + test JSONL žive u data/test i ne ulaze u CV</a:t>
            </a:r>
            <a:endParaRPr lang="hr-HR" sz="1250"/>
          </a:p>
        </p:txBody>
      </p:sp>
      <p:sp>
        <p:nvSpPr>
          <p:cNvPr id="17" name="Text"/>
          <p:cNvSpPr txBox="1"/>
          <p:nvPr/>
        </p:nvSpPr>
        <p:spPr>
          <a:xfrm>
            <a:off x="444500" y="3873500"/>
            <a:ext cx="3302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>
                <a:solidFill>
                  <a:srgbClr val="6F6A5B"/>
                </a:solidFill>
                <a:latin typeface="Aptos"/>
              </a:rPr>
              <a:t>sm04 je ostavljen izvan aktivnog split poola jer nije bilo dovoljno jasno što točno predstavlja; time smanjujemo rizik od curenja podataka.</a:t>
            </a:r>
            <a:endParaRPr lang="hr-HR" sz="1220"/>
          </a:p>
        </p:txBody>
      </p:sp>
      <p:sp>
        <p:nvSpPr>
          <p:cNvPr id="18" name="Text"/>
          <p:cNvSpPr txBox="1"/>
          <p:nvPr/>
        </p:nvSpPr>
        <p:spPr>
          <a:xfrm>
            <a:off x="4127500" y="1587500"/>
            <a:ext cx="3175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Jedan CV split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127500" y="1828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127500" y="2032000"/>
            <a:ext cx="5397500" cy="284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127500" y="2032000"/>
            <a:ext cx="5397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127500" y="27432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127500" y="34544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Table stripe"/>
          <p:cNvSpPr/>
          <p:nvPr/>
        </p:nvSpPr>
        <p:spPr>
          <a:xfrm>
            <a:off x="4127500" y="41656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5" name="Header"/>
          <p:cNvSpPr txBox="1"/>
          <p:nvPr/>
        </p:nvSpPr>
        <p:spPr>
          <a:xfrm>
            <a:off x="4178300" y="208915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Subset</a:t>
            </a:r>
            <a:endParaRPr lang="hr-HR" sz="1000"/>
          </a:p>
        </p:txBody>
      </p:sp>
      <p:sp>
        <p:nvSpPr>
          <p:cNvPr id="26" name="Header"/>
          <p:cNvSpPr txBox="1"/>
          <p:nvPr/>
        </p:nvSpPr>
        <p:spPr>
          <a:xfrm>
            <a:off x="5638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utt.</a:t>
            </a:r>
            <a:endParaRPr lang="hr-HR" sz="1000"/>
          </a:p>
        </p:txBody>
      </p:sp>
      <p:sp>
        <p:nvSpPr>
          <p:cNvPr id="27" name="Header"/>
          <p:cNvSpPr txBox="1"/>
          <p:nvPr/>
        </p:nvSpPr>
        <p:spPr>
          <a:xfrm>
            <a:off x="65913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gov.</a:t>
            </a:r>
            <a:endParaRPr lang="hr-HR" sz="1000"/>
          </a:p>
        </p:txBody>
      </p:sp>
      <p:sp>
        <p:nvSpPr>
          <p:cNvPr id="28" name="Header"/>
          <p:cNvSpPr txBox="1"/>
          <p:nvPr/>
        </p:nvSpPr>
        <p:spPr>
          <a:xfrm>
            <a:off x="7543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h</a:t>
            </a:r>
            <a:endParaRPr lang="hr-HR" sz="1000"/>
          </a:p>
        </p:txBody>
      </p:sp>
      <p:sp>
        <p:nvSpPr>
          <p:cNvPr id="29" name="Header"/>
          <p:cNvSpPr txBox="1"/>
          <p:nvPr/>
        </p:nvSpPr>
        <p:spPr>
          <a:xfrm>
            <a:off x="8496300" y="208915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uloga</a:t>
            </a:r>
            <a:endParaRPr lang="hr-HR" sz="1000"/>
          </a:p>
        </p:txBody>
      </p:sp>
      <p:sp>
        <p:nvSpPr>
          <p:cNvPr id="30" name="Cell"/>
          <p:cNvSpPr txBox="1"/>
          <p:nvPr/>
        </p:nvSpPr>
        <p:spPr>
          <a:xfrm>
            <a:off x="4178300" y="2438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train</a:t>
            </a:r>
            <a:endParaRPr lang="hr-HR" sz="1000"/>
          </a:p>
        </p:txBody>
      </p:sp>
      <p:sp>
        <p:nvSpPr>
          <p:cNvPr id="31" name="Cell"/>
          <p:cNvSpPr txBox="1"/>
          <p:nvPr/>
        </p:nvSpPr>
        <p:spPr>
          <a:xfrm>
            <a:off x="5638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3057</a:t>
            </a:r>
            <a:endParaRPr lang="hr-HR" sz="1000"/>
          </a:p>
        </p:txBody>
      </p:sp>
      <p:sp>
        <p:nvSpPr>
          <p:cNvPr id="32" name="Cell"/>
          <p:cNvSpPr txBox="1"/>
          <p:nvPr/>
        </p:nvSpPr>
        <p:spPr>
          <a:xfrm>
            <a:off x="65913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33" name="Cell"/>
          <p:cNvSpPr txBox="1"/>
          <p:nvPr/>
        </p:nvSpPr>
        <p:spPr>
          <a:xfrm>
            <a:off x="7543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4.72</a:t>
            </a:r>
            <a:endParaRPr lang="hr-HR" sz="1000"/>
          </a:p>
        </p:txBody>
      </p:sp>
      <p:sp>
        <p:nvSpPr>
          <p:cNvPr id="34" name="Cell"/>
          <p:cNvSpPr txBox="1"/>
          <p:nvPr/>
        </p:nvSpPr>
        <p:spPr>
          <a:xfrm>
            <a:off x="8496300" y="2438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učenje modela</a:t>
            </a:r>
            <a:endParaRPr lang="hr-HR" sz="1000"/>
          </a:p>
        </p:txBody>
      </p:sp>
      <p:sp>
        <p:nvSpPr>
          <p:cNvPr id="35" name="Cell"/>
          <p:cNvSpPr txBox="1"/>
          <p:nvPr/>
        </p:nvSpPr>
        <p:spPr>
          <a:xfrm>
            <a:off x="4178300" y="2794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</a:t>
            </a:r>
            <a:endParaRPr lang="hr-HR" sz="1000"/>
          </a:p>
        </p:txBody>
      </p:sp>
      <p:sp>
        <p:nvSpPr>
          <p:cNvPr id="36" name="Cell"/>
          <p:cNvSpPr txBox="1"/>
          <p:nvPr/>
        </p:nvSpPr>
        <p:spPr>
          <a:xfrm>
            <a:off x="5638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1205</a:t>
            </a:r>
            <a:endParaRPr lang="hr-HR" sz="1000"/>
          </a:p>
        </p:txBody>
      </p:sp>
      <p:sp>
        <p:nvSpPr>
          <p:cNvPr id="37" name="Cell"/>
          <p:cNvSpPr txBox="1"/>
          <p:nvPr/>
        </p:nvSpPr>
        <p:spPr>
          <a:xfrm>
            <a:off x="65913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38" name="Cell"/>
          <p:cNvSpPr txBox="1"/>
          <p:nvPr/>
        </p:nvSpPr>
        <p:spPr>
          <a:xfrm>
            <a:off x="7543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1.81</a:t>
            </a:r>
            <a:endParaRPr lang="hr-HR" sz="1000"/>
          </a:p>
        </p:txBody>
      </p:sp>
      <p:sp>
        <p:nvSpPr>
          <p:cNvPr id="39" name="Cell"/>
          <p:cNvSpPr txBox="1"/>
          <p:nvPr/>
        </p:nvSpPr>
        <p:spPr>
          <a:xfrm>
            <a:off x="8496300" y="2794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odabir/usporedba</a:t>
            </a:r>
            <a:endParaRPr lang="hr-HR" sz="1000"/>
          </a:p>
        </p:txBody>
      </p:sp>
      <p:sp>
        <p:nvSpPr>
          <p:cNvPr id="40" name="Cell"/>
          <p:cNvSpPr txBox="1"/>
          <p:nvPr/>
        </p:nvSpPr>
        <p:spPr>
          <a:xfrm>
            <a:off x="4178300" y="31496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seen</a:t>
            </a:r>
            <a:endParaRPr lang="hr-HR" sz="1000"/>
          </a:p>
        </p:txBody>
      </p:sp>
      <p:sp>
        <p:nvSpPr>
          <p:cNvPr id="41" name="Cell"/>
          <p:cNvSpPr txBox="1"/>
          <p:nvPr/>
        </p:nvSpPr>
        <p:spPr>
          <a:xfrm>
            <a:off x="5638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349</a:t>
            </a:r>
            <a:endParaRPr lang="hr-HR" sz="1000"/>
          </a:p>
        </p:txBody>
      </p:sp>
      <p:sp>
        <p:nvSpPr>
          <p:cNvPr id="42" name="Cell"/>
          <p:cNvSpPr txBox="1"/>
          <p:nvPr/>
        </p:nvSpPr>
        <p:spPr>
          <a:xfrm>
            <a:off x="65913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43" name="Cell"/>
          <p:cNvSpPr txBox="1"/>
          <p:nvPr/>
        </p:nvSpPr>
        <p:spPr>
          <a:xfrm>
            <a:off x="7543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0.54</a:t>
            </a:r>
            <a:endParaRPr lang="hr-HR" sz="1000"/>
          </a:p>
        </p:txBody>
      </p:sp>
      <p:sp>
        <p:nvSpPr>
          <p:cNvPr id="44" name="Cell"/>
          <p:cNvSpPr txBox="1"/>
          <p:nvPr/>
        </p:nvSpPr>
        <p:spPr>
          <a:xfrm>
            <a:off x="8496300" y="31496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45" name="Cell"/>
          <p:cNvSpPr txBox="1"/>
          <p:nvPr/>
        </p:nvSpPr>
        <p:spPr>
          <a:xfrm>
            <a:off x="4178300" y="35052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unseen</a:t>
            </a:r>
            <a:endParaRPr lang="hr-HR" sz="1000"/>
          </a:p>
        </p:txBody>
      </p:sp>
      <p:sp>
        <p:nvSpPr>
          <p:cNvPr id="46" name="Cell"/>
          <p:cNvSpPr txBox="1"/>
          <p:nvPr/>
        </p:nvSpPr>
        <p:spPr>
          <a:xfrm>
            <a:off x="5638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856</a:t>
            </a:r>
            <a:endParaRPr lang="hr-HR" sz="1000"/>
          </a:p>
        </p:txBody>
      </p:sp>
      <p:sp>
        <p:nvSpPr>
          <p:cNvPr id="47" name="Cell"/>
          <p:cNvSpPr txBox="1"/>
          <p:nvPr/>
        </p:nvSpPr>
        <p:spPr>
          <a:xfrm>
            <a:off x="65913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48" name="Cell"/>
          <p:cNvSpPr txBox="1"/>
          <p:nvPr/>
        </p:nvSpPr>
        <p:spPr>
          <a:xfrm>
            <a:off x="7543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1.26</a:t>
            </a:r>
            <a:endParaRPr lang="hr-HR" sz="1000"/>
          </a:p>
        </p:txBody>
      </p:sp>
      <p:sp>
        <p:nvSpPr>
          <p:cNvPr id="49" name="Cell"/>
          <p:cNvSpPr txBox="1"/>
          <p:nvPr/>
        </p:nvSpPr>
        <p:spPr>
          <a:xfrm>
            <a:off x="8496300" y="35052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50" name="Cell"/>
          <p:cNvSpPr txBox="1"/>
          <p:nvPr/>
        </p:nvSpPr>
        <p:spPr>
          <a:xfrm>
            <a:off x="4178300" y="38608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</a:t>
            </a:r>
            <a:endParaRPr lang="hr-HR" sz="1000"/>
          </a:p>
        </p:txBody>
      </p:sp>
      <p:sp>
        <p:nvSpPr>
          <p:cNvPr id="51" name="Cell"/>
          <p:cNvSpPr txBox="1"/>
          <p:nvPr/>
        </p:nvSpPr>
        <p:spPr>
          <a:xfrm>
            <a:off x="5638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993</a:t>
            </a:r>
            <a:endParaRPr lang="hr-HR" sz="1000"/>
          </a:p>
        </p:txBody>
      </p:sp>
      <p:sp>
        <p:nvSpPr>
          <p:cNvPr id="52" name="Cell"/>
          <p:cNvSpPr txBox="1"/>
          <p:nvPr/>
        </p:nvSpPr>
        <p:spPr>
          <a:xfrm>
            <a:off x="65913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25</a:t>
            </a:r>
            <a:endParaRPr lang="hr-HR" sz="1000"/>
          </a:p>
        </p:txBody>
      </p:sp>
      <p:sp>
        <p:nvSpPr>
          <p:cNvPr id="53" name="Cell"/>
          <p:cNvSpPr txBox="1"/>
          <p:nvPr/>
        </p:nvSpPr>
        <p:spPr>
          <a:xfrm>
            <a:off x="7543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1.50</a:t>
            </a:r>
            <a:endParaRPr lang="hr-HR" sz="1000"/>
          </a:p>
        </p:txBody>
      </p:sp>
      <p:sp>
        <p:nvSpPr>
          <p:cNvPr id="54" name="Cell"/>
          <p:cNvSpPr txBox="1"/>
          <p:nvPr/>
        </p:nvSpPr>
        <p:spPr>
          <a:xfrm>
            <a:off x="8496300" y="38608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zamrznuta provjera</a:t>
            </a:r>
            <a:endParaRPr lang="hr-HR" sz="1000"/>
          </a:p>
        </p:txBody>
      </p:sp>
      <p:sp>
        <p:nvSpPr>
          <p:cNvPr id="55" name="Cell"/>
          <p:cNvSpPr txBox="1"/>
          <p:nvPr/>
        </p:nvSpPr>
        <p:spPr>
          <a:xfrm>
            <a:off x="4178300" y="4216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seen</a:t>
            </a:r>
            <a:endParaRPr lang="hr-HR" sz="1000"/>
          </a:p>
        </p:txBody>
      </p:sp>
      <p:sp>
        <p:nvSpPr>
          <p:cNvPr id="56" name="Cell"/>
          <p:cNvSpPr txBox="1"/>
          <p:nvPr/>
        </p:nvSpPr>
        <p:spPr>
          <a:xfrm>
            <a:off x="5638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486</a:t>
            </a:r>
            <a:endParaRPr lang="hr-HR" sz="1000"/>
          </a:p>
        </p:txBody>
      </p:sp>
      <p:sp>
        <p:nvSpPr>
          <p:cNvPr id="57" name="Cell"/>
          <p:cNvSpPr txBox="1"/>
          <p:nvPr/>
        </p:nvSpPr>
        <p:spPr>
          <a:xfrm>
            <a:off x="65913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58" name="Cell"/>
          <p:cNvSpPr txBox="1"/>
          <p:nvPr/>
        </p:nvSpPr>
        <p:spPr>
          <a:xfrm>
            <a:off x="7543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0.74</a:t>
            </a:r>
            <a:endParaRPr lang="hr-HR" sz="1000"/>
          </a:p>
        </p:txBody>
      </p:sp>
      <p:sp>
        <p:nvSpPr>
          <p:cNvPr id="59" name="Cell"/>
          <p:cNvSpPr txBox="1"/>
          <p:nvPr/>
        </p:nvSpPr>
        <p:spPr>
          <a:xfrm>
            <a:off x="8496300" y="4216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60" name="Cell"/>
          <p:cNvSpPr txBox="1"/>
          <p:nvPr/>
        </p:nvSpPr>
        <p:spPr>
          <a:xfrm>
            <a:off x="4178300" y="4572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unseen</a:t>
            </a:r>
            <a:endParaRPr lang="hr-HR" sz="1000"/>
          </a:p>
        </p:txBody>
      </p:sp>
      <p:sp>
        <p:nvSpPr>
          <p:cNvPr id="61" name="Cell"/>
          <p:cNvSpPr txBox="1"/>
          <p:nvPr/>
        </p:nvSpPr>
        <p:spPr>
          <a:xfrm>
            <a:off x="5638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507</a:t>
            </a:r>
            <a:endParaRPr lang="hr-HR" sz="1000"/>
          </a:p>
        </p:txBody>
      </p:sp>
      <p:sp>
        <p:nvSpPr>
          <p:cNvPr id="62" name="Cell"/>
          <p:cNvSpPr txBox="1"/>
          <p:nvPr/>
        </p:nvSpPr>
        <p:spPr>
          <a:xfrm>
            <a:off x="65913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63" name="Cell"/>
          <p:cNvSpPr txBox="1"/>
          <p:nvPr/>
        </p:nvSpPr>
        <p:spPr>
          <a:xfrm>
            <a:off x="7543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0.76</a:t>
            </a:r>
            <a:endParaRPr lang="hr-HR" sz="1000"/>
          </a:p>
        </p:txBody>
      </p:sp>
      <p:sp>
        <p:nvSpPr>
          <p:cNvPr id="64" name="Cell"/>
          <p:cNvSpPr txBox="1"/>
          <p:nvPr/>
        </p:nvSpPr>
        <p:spPr>
          <a:xfrm>
            <a:off x="8496300" y="4572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65" name="Text"/>
          <p:cNvSpPr txBox="1"/>
          <p:nvPr/>
        </p:nvSpPr>
        <p:spPr>
          <a:xfrm>
            <a:off x="4127500" y="4826000"/>
            <a:ext cx="488950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>
                <a:solidFill>
                  <a:srgbClr val="6F6A5B"/>
                </a:solidFill>
                <a:latin typeface="Aptos"/>
              </a:rPr>
              <a:t>Namjera splitova je mjeriti dvije stvari odvojeno: koliko model generalizira na nove rečenice istih govornika i koliko generalizira na potpuno neviđene govornike.</a:t>
            </a:r>
            <a:endParaRPr lang="hr-HR" sz="1400"/>
          </a:p>
        </p:txBody>
      </p:sp>
      <p:sp>
        <p:nvSpPr>
          <p:cNvPr id="66" name="Rectangle"/>
          <p:cNvSpPr/>
          <p:nvPr/>
        </p:nvSpPr>
        <p:spPr>
          <a:xfrm>
            <a:off x="444500" y="5588000"/>
            <a:ext cx="9461500" cy="4699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67" name="Text"/>
          <p:cNvSpPr txBox="1"/>
          <p:nvPr/>
        </p:nvSpPr>
        <p:spPr>
          <a:xfrm>
            <a:off x="609600" y="5702300"/>
            <a:ext cx="913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50" b="1">
                <a:solidFill>
                  <a:srgbClr val="15171A"/>
                </a:solidFill>
                <a:latin typeface="Aptos"/>
              </a:rPr>
              <a:t>Reproducibilnost: permanentni test skup ne diramo nakon stvaranja; za nove validacijske eksperimente generiramo nove CV splitove iz non-test poola.</a:t>
            </a:r>
            <a:endParaRPr lang="hr-HR" sz="1450"/>
          </a:p>
        </p:txBody>
      </p:sp>
      <p:sp>
        <p:nvSpPr>
          <p:cNvPr id="68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Izvori u repozitoriju: data/test/*.meta.json, data/cross_validation_splits/cv_paper_small_001, README.</a:t>
            </a:r>
            <a:endParaRPr lang="hr-HR" sz="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03 · PIPELINE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Pipeline je sada jedan Python tok, ne stari shell recipe.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Skripta poziva PaddleSpeech Python funkcije direktno: split/manifesti, trening, averaging, eval i metrike.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584200" y="1854200"/>
            <a:ext cx="1282700" cy="584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985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VEPRAD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985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audio + txt</a:t>
            </a:r>
            <a:endParaRPr lang="hr-HR" sz="1150"/>
          </a:p>
        </p:txBody>
      </p:sp>
      <p:sp>
        <p:nvSpPr>
          <p:cNvPr id="9" name="Text"/>
          <p:cNvSpPr txBox="1"/>
          <p:nvPr/>
        </p:nvSpPr>
        <p:spPr>
          <a:xfrm>
            <a:off x="19431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0" name="Rectangle"/>
          <p:cNvSpPr/>
          <p:nvPr/>
        </p:nvSpPr>
        <p:spPr>
          <a:xfrm>
            <a:off x="2159000" y="1854200"/>
            <a:ext cx="1282700" cy="5842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22733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manifesti</a:t>
            </a:r>
            <a:endParaRPr lang="hr-HR" sz="1800"/>
          </a:p>
        </p:txBody>
      </p:sp>
      <p:sp>
        <p:nvSpPr>
          <p:cNvPr id="12" name="Text"/>
          <p:cNvSpPr txBox="1"/>
          <p:nvPr/>
        </p:nvSpPr>
        <p:spPr>
          <a:xfrm>
            <a:off x="22733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JSONL rel. paths</a:t>
            </a:r>
            <a:endParaRPr lang="hr-HR" sz="1150"/>
          </a:p>
        </p:txBody>
      </p:sp>
      <p:sp>
        <p:nvSpPr>
          <p:cNvPr id="13" name="Text"/>
          <p:cNvSpPr txBox="1"/>
          <p:nvPr/>
        </p:nvSpPr>
        <p:spPr>
          <a:xfrm>
            <a:off x="35179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4" name="Rectangle"/>
          <p:cNvSpPr/>
          <p:nvPr/>
        </p:nvSpPr>
        <p:spPr>
          <a:xfrm>
            <a:off x="3733800" y="1854200"/>
            <a:ext cx="1282700" cy="5842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38481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features</a:t>
            </a:r>
            <a:endParaRPr lang="hr-HR" sz="1800"/>
          </a:p>
        </p:txBody>
      </p:sp>
      <p:sp>
        <p:nvSpPr>
          <p:cNvPr id="16" name="Text"/>
          <p:cNvSpPr txBox="1"/>
          <p:nvPr/>
        </p:nvSpPr>
        <p:spPr>
          <a:xfrm>
            <a:off x="38481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15171A"/>
                </a:solidFill>
                <a:latin typeface="Aptos"/>
              </a:rPr>
              <a:t>fbank_kaldi + CMVN</a:t>
            </a:r>
            <a:endParaRPr lang="hr-HR" sz="1150"/>
          </a:p>
        </p:txBody>
      </p:sp>
      <p:sp>
        <p:nvSpPr>
          <p:cNvPr id="17" name="Text"/>
          <p:cNvSpPr txBox="1"/>
          <p:nvPr/>
        </p:nvSpPr>
        <p:spPr>
          <a:xfrm>
            <a:off x="50927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8" name="Rectangle"/>
          <p:cNvSpPr/>
          <p:nvPr/>
        </p:nvSpPr>
        <p:spPr>
          <a:xfrm>
            <a:off x="5308600" y="1854200"/>
            <a:ext cx="1282700" cy="584200"/>
          </a:xfrm>
          <a:prstGeom prst="rect">
            <a:avLst/>
          </a:prstGeom>
          <a:solidFill>
            <a:srgbClr val="5A7D3A"/>
          </a:solidFill>
          <a:ln>
            <a:noFill/>
          </a:ln>
        </p:spPr>
      </p:sp>
      <p:sp>
        <p:nvSpPr>
          <p:cNvPr id="19" name="Text"/>
          <p:cNvSpPr txBox="1"/>
          <p:nvPr/>
        </p:nvSpPr>
        <p:spPr>
          <a:xfrm>
            <a:off x="54229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vocab</a:t>
            </a:r>
            <a:endParaRPr lang="hr-HR" sz="1800"/>
          </a:p>
        </p:txBody>
      </p:sp>
      <p:sp>
        <p:nvSpPr>
          <p:cNvPr id="20" name="Text"/>
          <p:cNvSpPr txBox="1"/>
          <p:nvPr/>
        </p:nvSpPr>
        <p:spPr>
          <a:xfrm>
            <a:off x="54229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31 char, train-only</a:t>
            </a:r>
            <a:endParaRPr lang="hr-HR" sz="1150"/>
          </a:p>
        </p:txBody>
      </p:sp>
      <p:sp>
        <p:nvSpPr>
          <p:cNvPr id="21" name="Text"/>
          <p:cNvSpPr txBox="1"/>
          <p:nvPr/>
        </p:nvSpPr>
        <p:spPr>
          <a:xfrm>
            <a:off x="66675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2" name="Rectangle"/>
          <p:cNvSpPr/>
          <p:nvPr/>
        </p:nvSpPr>
        <p:spPr>
          <a:xfrm>
            <a:off x="6883400" y="1854200"/>
            <a:ext cx="1282700" cy="5842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3" name="Text"/>
          <p:cNvSpPr txBox="1"/>
          <p:nvPr/>
        </p:nvSpPr>
        <p:spPr>
          <a:xfrm>
            <a:off x="69977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DS2</a:t>
            </a:r>
            <a:endParaRPr lang="hr-HR" sz="1800"/>
          </a:p>
        </p:txBody>
      </p:sp>
      <p:sp>
        <p:nvSpPr>
          <p:cNvPr id="24" name="Text"/>
          <p:cNvSpPr txBox="1"/>
          <p:nvPr/>
        </p:nvSpPr>
        <p:spPr>
          <a:xfrm>
            <a:off x="69977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CTC trening</a:t>
            </a:r>
            <a:endParaRPr lang="hr-HR" sz="1150"/>
          </a:p>
        </p:txBody>
      </p:sp>
      <p:sp>
        <p:nvSpPr>
          <p:cNvPr id="25" name="Text"/>
          <p:cNvSpPr txBox="1"/>
          <p:nvPr/>
        </p:nvSpPr>
        <p:spPr>
          <a:xfrm>
            <a:off x="82423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6" name="Rectangle"/>
          <p:cNvSpPr/>
          <p:nvPr/>
        </p:nvSpPr>
        <p:spPr>
          <a:xfrm>
            <a:off x="8458200" y="1854200"/>
            <a:ext cx="1282700" cy="584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27" name="Text"/>
          <p:cNvSpPr txBox="1"/>
          <p:nvPr/>
        </p:nvSpPr>
        <p:spPr>
          <a:xfrm>
            <a:off x="85725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eval</a:t>
            </a:r>
            <a:endParaRPr lang="hr-HR" sz="1800"/>
          </a:p>
        </p:txBody>
      </p:sp>
      <p:sp>
        <p:nvSpPr>
          <p:cNvPr id="28" name="Text"/>
          <p:cNvSpPr txBox="1"/>
          <p:nvPr/>
        </p:nvSpPr>
        <p:spPr>
          <a:xfrm>
            <a:off x="85725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WER/CER po subsetu</a:t>
            </a:r>
            <a:endParaRPr lang="hr-HR" sz="1150"/>
          </a:p>
        </p:txBody>
      </p:sp>
      <p:sp>
        <p:nvSpPr>
          <p:cNvPr id="29" name="Text"/>
          <p:cNvSpPr txBox="1"/>
          <p:nvPr/>
        </p:nvSpPr>
        <p:spPr>
          <a:xfrm>
            <a:off x="584200" y="2984500"/>
            <a:ext cx="273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Preprocessing odluke</a:t>
            </a:r>
            <a:endParaRPr lang="hr-HR" sz="1800"/>
          </a:p>
        </p:txBody>
      </p:sp>
      <p:sp>
        <p:nvSpPr>
          <p:cNvPr id="30" name="Rule"/>
          <p:cNvSpPr/>
          <p:nvPr/>
        </p:nvSpPr>
        <p:spPr>
          <a:xfrm>
            <a:off x="584200" y="3225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584200" y="3365500"/>
            <a:ext cx="3619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16 kHz, 25 ms window, 10 ms shift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161-bin fbank_kaldi + CMVN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character CTC vocab built only from train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Croatian letters covered: 0 unknown chars on val/test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no data augmentation in these runs</a:t>
            </a:r>
            <a:endParaRPr lang="hr-HR" sz="1350"/>
          </a:p>
        </p:txBody>
      </p:sp>
      <p:sp>
        <p:nvSpPr>
          <p:cNvPr id="32" name="Text"/>
          <p:cNvSpPr txBox="1"/>
          <p:nvPr/>
        </p:nvSpPr>
        <p:spPr>
          <a:xfrm>
            <a:off x="4762500" y="298450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Transkripti i event tagovi</a:t>
            </a:r>
            <a:endParaRPr lang="hr-HR" sz="1800"/>
          </a:p>
        </p:txBody>
      </p:sp>
      <p:sp>
        <p:nvSpPr>
          <p:cNvPr id="33" name="Rule"/>
          <p:cNvSpPr/>
          <p:nvPr/>
        </p:nvSpPr>
        <p:spPr>
          <a:xfrm>
            <a:off x="4762500" y="3225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4" name="Text"/>
          <p:cNvSpPr txBox="1"/>
          <p:nvPr/>
        </p:nvSpPr>
        <p:spPr>
          <a:xfrm>
            <a:off x="4762500" y="3365500"/>
            <a:ext cx="4127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 b="1">
                <a:solidFill>
                  <a:srgbClr val="20282C"/>
                </a:solidFill>
                <a:latin typeface="Aptos"/>
              </a:rPr>
              <a:t>ASR target je normalizirano polje text.</a:t>
            </a:r>
            <a:endParaRPr lang="hr-HR" sz="1400"/>
          </a:p>
          <a:p>
            <a:r>
              <a:rPr lang="hr-HR" sz="1300">
                <a:solidFill>
                  <a:srgbClr val="6F6A5B"/>
                </a:solidFill>
                <a:latin typeface="Aptos"/>
              </a:rPr>
              <a:t>Event tagovi poput &lt;uzdah&gt; ostaju u text_raw/non_speech_events, ali se ne treniraju kao CTC znakovi jer bi se u character modu rastavili na &lt;, u, z, ...</a:t>
            </a:r>
            <a:endParaRPr lang="hr-HR" sz="1300"/>
          </a:p>
        </p:txBody>
      </p:sp>
      <p:sp>
        <p:nvSpPr>
          <p:cNvPr id="35" name="Rectangle"/>
          <p:cNvSpPr/>
          <p:nvPr/>
        </p:nvSpPr>
        <p:spPr>
          <a:xfrm>
            <a:off x="584200" y="5080000"/>
            <a:ext cx="8509000" cy="4953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6" name="Text"/>
          <p:cNvSpPr txBox="1"/>
          <p:nvPr/>
        </p:nvSpPr>
        <p:spPr>
          <a:xfrm>
            <a:off x="762000" y="5187950"/>
            <a:ext cx="8128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Programski tok: scripts/run_ds2_pipeline.py generira PaddleSpeech podatke, trenira model, računa avg_1 checkpoint i evaluira val/test seen/unseen podskupove.</a:t>
            </a:r>
            <a:endParaRPr lang="hr-HR" sz="1350"/>
          </a:p>
        </p:txBody>
      </p:sp>
      <p:sp>
        <p:nvSpPr>
          <p:cNvPr id="37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Pipeline datoteke: scripts/run_ds2_pipeline.py, scripts/create_cv_split.py, scripts/train_kenlm_lm.py.</a:t>
            </a:r>
            <a:endParaRPr lang="hr-HR" sz="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04 · DEEPSPEECH2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DeepSpeech2 pretvara akustičke značajke u vjerojatnosti znakova kroz CTC.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Slika prikazuje paper-style tok; desni stupac navodi što smo točno mogli reproducirati bez mijenjanja PaddleSpeech sourcea.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pic>
        <p:nvPicPr>
          <p:cNvPr id="6" name="DeepSpeech2 archite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342900" y="1511300"/>
            <a:ext cx="7175500" cy="4032250"/>
          </a:xfrm>
          <a:prstGeom prst="rect">
            <a:avLst/>
          </a:prstGeom>
        </p:spPr>
      </p:pic>
      <p:sp>
        <p:nvSpPr>
          <p:cNvPr id="7" name="Rectangle"/>
          <p:cNvSpPr/>
          <p:nvPr/>
        </p:nvSpPr>
        <p:spPr>
          <a:xfrm>
            <a:off x="7823200" y="1536700"/>
            <a:ext cx="3873500" cy="28321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8001000" y="1689100"/>
            <a:ext cx="355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Što smo zadržali</a:t>
            </a:r>
            <a:endParaRPr lang="hr-HR" sz="1800"/>
          </a:p>
        </p:txBody>
      </p:sp>
      <p:sp>
        <p:nvSpPr>
          <p:cNvPr id="9" name="Text"/>
          <p:cNvSpPr txBox="1"/>
          <p:nvPr/>
        </p:nvSpPr>
        <p:spPr>
          <a:xfrm>
            <a:off x="8001000" y="2032000"/>
            <a:ext cx="3441700" cy="1054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F8F3E8"/>
                </a:solidFill>
                <a:latin typeface="Aptos"/>
              </a:rPr>
              <a:t>• konvolucijski front-end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bidirectional offline recurrent layers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character CTC targets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beam search decoding path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external word-level KenLM scorer</a:t>
            </a:r>
            <a:endParaRPr lang="hr-HR" sz="1350"/>
          </a:p>
        </p:txBody>
      </p:sp>
      <p:sp>
        <p:nvSpPr>
          <p:cNvPr id="10" name="Text"/>
          <p:cNvSpPr txBox="1"/>
          <p:nvPr/>
        </p:nvSpPr>
        <p:spPr>
          <a:xfrm>
            <a:off x="8001000" y="3302000"/>
            <a:ext cx="355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700" b="1">
                <a:solidFill>
                  <a:srgbClr val="F0B429"/>
                </a:solidFill>
                <a:latin typeface="Aptos"/>
              </a:rPr>
              <a:t>Razlike od paper konfiguracije</a:t>
            </a:r>
            <a:endParaRPr lang="hr-HR" sz="1700"/>
          </a:p>
        </p:txBody>
      </p:sp>
      <p:sp>
        <p:nvSpPr>
          <p:cNvPr id="11" name="Text"/>
          <p:cNvSpPr txBox="1"/>
          <p:nvPr/>
        </p:nvSpPr>
        <p:spPr>
          <a:xfrm>
            <a:off x="8001000" y="3606800"/>
            <a:ext cx="3441700" cy="59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60">
                <a:solidFill>
                  <a:srgbClr val="F2DFC7"/>
                </a:solidFill>
                <a:latin typeface="Aptos"/>
              </a:rPr>
              <a:t>BatchNorm, exact spectrogram path, Nesterov optimizer and lookahead conv are not exposed cleanly in this PaddleSpeech DS2 path.</a:t>
            </a:r>
            <a:endParaRPr lang="hr-HR" sz="1260"/>
          </a:p>
        </p:txBody>
      </p:sp>
      <p:sp>
        <p:nvSpPr>
          <p:cNvPr id="12" name="Rectangle"/>
          <p:cNvSpPr/>
          <p:nvPr/>
        </p:nvSpPr>
        <p:spPr>
          <a:xfrm>
            <a:off x="7823200" y="4622800"/>
            <a:ext cx="3873500" cy="6096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0" y="4762500"/>
            <a:ext cx="355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15171A"/>
                </a:solidFill>
                <a:latin typeface="Aptos"/>
              </a:rPr>
              <a:t>Zaključak: model je paper-close approximation, ne bit-for-bit reprodukcija Deep Speech 2 rada.</a:t>
            </a:r>
            <a:endParaRPr lang="hr-HR" sz="1350"/>
          </a:p>
        </p:txBody>
      </p:sp>
      <p:sp>
        <p:nvSpPr>
          <p:cNvPr id="14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Architecture image: presentation/deepspeech2_architecture_generated_slide.png; exact configs: conf/deepspeech2_paper_*.yaml.</a:t>
            </a:r>
            <a:endParaRPr lang="hr-HR"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05 · MODELI I HIPERPARAMETRI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Trenirali smo paper-small konfiguraciju i dvije dublje varijante.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Cilj nije bio samo dobiti jedan score, nego vidjeti što se mijenja s dubinom i tipom rekurentne ćelije.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651000"/>
            <a:ext cx="85725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651000"/>
            <a:ext cx="8572500" cy="393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438400"/>
            <a:ext cx="85725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70815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Run</a:t>
            </a:r>
            <a:endParaRPr lang="hr-HR" sz="1050"/>
          </a:p>
        </p:txBody>
      </p:sp>
      <p:sp>
        <p:nvSpPr>
          <p:cNvPr id="10" name="Header"/>
          <p:cNvSpPr txBox="1"/>
          <p:nvPr/>
        </p:nvSpPr>
        <p:spPr>
          <a:xfrm>
            <a:off x="2273300" y="17081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recurrent</a:t>
            </a:r>
            <a:endParaRPr lang="hr-HR" sz="1050"/>
          </a:p>
        </p:txBody>
      </p:sp>
      <p:sp>
        <p:nvSpPr>
          <p:cNvPr id="11" name="Header"/>
          <p:cNvSpPr txBox="1"/>
          <p:nvPr/>
        </p:nvSpPr>
        <p:spPr>
          <a:xfrm>
            <a:off x="3479800" y="17081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layers</a:t>
            </a:r>
            <a:endParaRPr lang="hr-HR" sz="1050"/>
          </a:p>
        </p:txBody>
      </p:sp>
      <p:sp>
        <p:nvSpPr>
          <p:cNvPr id="12" name="Header"/>
          <p:cNvSpPr txBox="1"/>
          <p:nvPr/>
        </p:nvSpPr>
        <p:spPr>
          <a:xfrm>
            <a:off x="4559300" y="170815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hidden</a:t>
            </a:r>
            <a:endParaRPr lang="hr-HR" sz="1050"/>
          </a:p>
        </p:txBody>
      </p:sp>
      <p:sp>
        <p:nvSpPr>
          <p:cNvPr id="13" name="Header"/>
          <p:cNvSpPr txBox="1"/>
          <p:nvPr/>
        </p:nvSpPr>
        <p:spPr>
          <a:xfrm>
            <a:off x="5575300" y="1708150"/>
            <a:ext cx="850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params</a:t>
            </a:r>
            <a:endParaRPr lang="hr-HR" sz="1050"/>
          </a:p>
        </p:txBody>
      </p:sp>
      <p:sp>
        <p:nvSpPr>
          <p:cNvPr id="14" name="Header"/>
          <p:cNvSpPr txBox="1"/>
          <p:nvPr/>
        </p:nvSpPr>
        <p:spPr>
          <a:xfrm>
            <a:off x="6527800" y="17081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epochs</a:t>
            </a:r>
            <a:endParaRPr lang="hr-HR" sz="1050"/>
          </a:p>
        </p:txBody>
      </p:sp>
      <p:sp>
        <p:nvSpPr>
          <p:cNvPr id="15" name="Header"/>
          <p:cNvSpPr txBox="1"/>
          <p:nvPr/>
        </p:nvSpPr>
        <p:spPr>
          <a:xfrm>
            <a:off x="7607300" y="1708150"/>
            <a:ext cx="1358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reason</a:t>
            </a:r>
            <a:endParaRPr lang="hr-HR" sz="1050"/>
          </a:p>
        </p:txBody>
      </p:sp>
      <p:sp>
        <p:nvSpPr>
          <p:cNvPr id="16" name="Cell"/>
          <p:cNvSpPr txBox="1"/>
          <p:nvPr/>
        </p:nvSpPr>
        <p:spPr>
          <a:xfrm>
            <a:off x="495300" y="20955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paper_small_001</a:t>
            </a:r>
            <a:endParaRPr lang="hr-HR" sz="1050"/>
          </a:p>
        </p:txBody>
      </p:sp>
      <p:sp>
        <p:nvSpPr>
          <p:cNvPr id="17" name="Cell"/>
          <p:cNvSpPr txBox="1"/>
          <p:nvPr/>
        </p:nvSpPr>
        <p:spPr>
          <a:xfrm>
            <a:off x="2273300" y="20955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GRU</a:t>
            </a:r>
            <a:endParaRPr lang="hr-HR" sz="1050"/>
          </a:p>
        </p:txBody>
      </p:sp>
      <p:sp>
        <p:nvSpPr>
          <p:cNvPr id="18" name="Cell"/>
          <p:cNvSpPr txBox="1"/>
          <p:nvPr/>
        </p:nvSpPr>
        <p:spPr>
          <a:xfrm>
            <a:off x="3479800" y="20955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5 biRNN</a:t>
            </a:r>
            <a:endParaRPr lang="hr-HR" sz="1050"/>
          </a:p>
        </p:txBody>
      </p:sp>
      <p:sp>
        <p:nvSpPr>
          <p:cNvPr id="19" name="Cell"/>
          <p:cNvSpPr txBox="1"/>
          <p:nvPr/>
        </p:nvSpPr>
        <p:spPr>
          <a:xfrm>
            <a:off x="4559300" y="20955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20" name="Cell"/>
          <p:cNvSpPr txBox="1"/>
          <p:nvPr/>
        </p:nvSpPr>
        <p:spPr>
          <a:xfrm>
            <a:off x="5575300" y="20955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36.21M</a:t>
            </a:r>
            <a:endParaRPr lang="hr-HR" sz="1050"/>
          </a:p>
        </p:txBody>
      </p:sp>
      <p:sp>
        <p:nvSpPr>
          <p:cNvPr id="21" name="Cell"/>
          <p:cNvSpPr txBox="1"/>
          <p:nvPr/>
        </p:nvSpPr>
        <p:spPr>
          <a:xfrm>
            <a:off x="6527800" y="20955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22" name="Cell"/>
          <p:cNvSpPr txBox="1"/>
          <p:nvPr/>
        </p:nvSpPr>
        <p:spPr>
          <a:xfrm>
            <a:off x="7607300" y="20955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najbliže small DS2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bez source edita</a:t>
            </a:r>
            <a:endParaRPr lang="hr-HR" sz="1050"/>
          </a:p>
        </p:txBody>
      </p:sp>
      <p:sp>
        <p:nvSpPr>
          <p:cNvPr id="23" name="Cell"/>
          <p:cNvSpPr txBox="1"/>
          <p:nvPr/>
        </p:nvSpPr>
        <p:spPr>
          <a:xfrm>
            <a:off x="495300" y="24892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paper_7gru_001</a:t>
            </a:r>
            <a:endParaRPr lang="hr-HR" sz="1050"/>
          </a:p>
        </p:txBody>
      </p:sp>
      <p:sp>
        <p:nvSpPr>
          <p:cNvPr id="24" name="Cell"/>
          <p:cNvSpPr txBox="1"/>
          <p:nvPr/>
        </p:nvSpPr>
        <p:spPr>
          <a:xfrm>
            <a:off x="2273300" y="24892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GRU</a:t>
            </a:r>
            <a:endParaRPr lang="hr-HR" sz="1050"/>
          </a:p>
        </p:txBody>
      </p:sp>
      <p:sp>
        <p:nvSpPr>
          <p:cNvPr id="25" name="Cell"/>
          <p:cNvSpPr txBox="1"/>
          <p:nvPr/>
        </p:nvSpPr>
        <p:spPr>
          <a:xfrm>
            <a:off x="3479800" y="24892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7 biRNN</a:t>
            </a:r>
            <a:endParaRPr lang="hr-HR" sz="1050"/>
          </a:p>
        </p:txBody>
      </p:sp>
      <p:sp>
        <p:nvSpPr>
          <p:cNvPr id="26" name="Cell"/>
          <p:cNvSpPr txBox="1"/>
          <p:nvPr/>
        </p:nvSpPr>
        <p:spPr>
          <a:xfrm>
            <a:off x="4559300" y="24892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27" name="Cell"/>
          <p:cNvSpPr txBox="1"/>
          <p:nvPr/>
        </p:nvSpPr>
        <p:spPr>
          <a:xfrm>
            <a:off x="5575300" y="24892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50.73M</a:t>
            </a:r>
            <a:endParaRPr lang="hr-HR" sz="1050"/>
          </a:p>
        </p:txBody>
      </p:sp>
      <p:sp>
        <p:nvSpPr>
          <p:cNvPr id="28" name="Cell"/>
          <p:cNvSpPr txBox="1"/>
          <p:nvPr/>
        </p:nvSpPr>
        <p:spPr>
          <a:xfrm>
            <a:off x="6527800" y="24892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29" name="Cell"/>
          <p:cNvSpPr txBox="1"/>
          <p:nvPr/>
        </p:nvSpPr>
        <p:spPr>
          <a:xfrm>
            <a:off x="7607300" y="24892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+2 sloja,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isti cell</a:t>
            </a:r>
            <a:endParaRPr lang="hr-HR" sz="1050"/>
          </a:p>
        </p:txBody>
      </p:sp>
      <p:sp>
        <p:nvSpPr>
          <p:cNvPr id="30" name="Cell"/>
          <p:cNvSpPr txBox="1"/>
          <p:nvPr/>
        </p:nvSpPr>
        <p:spPr>
          <a:xfrm>
            <a:off x="495300" y="28829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paper_7lstm_001</a:t>
            </a:r>
            <a:endParaRPr lang="hr-HR" sz="1050"/>
          </a:p>
        </p:txBody>
      </p:sp>
      <p:sp>
        <p:nvSpPr>
          <p:cNvPr id="31" name="Cell"/>
          <p:cNvSpPr txBox="1"/>
          <p:nvPr/>
        </p:nvSpPr>
        <p:spPr>
          <a:xfrm>
            <a:off x="2273300" y="28829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LSTM</a:t>
            </a:r>
            <a:endParaRPr lang="hr-HR" sz="1050"/>
          </a:p>
        </p:txBody>
      </p:sp>
      <p:sp>
        <p:nvSpPr>
          <p:cNvPr id="32" name="Cell"/>
          <p:cNvSpPr txBox="1"/>
          <p:nvPr/>
        </p:nvSpPr>
        <p:spPr>
          <a:xfrm>
            <a:off x="3479800" y="28829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7 biRNN</a:t>
            </a:r>
            <a:endParaRPr lang="hr-HR" sz="1050"/>
          </a:p>
        </p:txBody>
      </p:sp>
      <p:sp>
        <p:nvSpPr>
          <p:cNvPr id="33" name="Cell"/>
          <p:cNvSpPr txBox="1"/>
          <p:nvPr/>
        </p:nvSpPr>
        <p:spPr>
          <a:xfrm>
            <a:off x="4559300" y="28829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34" name="Cell"/>
          <p:cNvSpPr txBox="1"/>
          <p:nvPr/>
        </p:nvSpPr>
        <p:spPr>
          <a:xfrm>
            <a:off x="5575300" y="28829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67.61M</a:t>
            </a:r>
            <a:endParaRPr lang="hr-HR" sz="1050"/>
          </a:p>
        </p:txBody>
      </p:sp>
      <p:sp>
        <p:nvSpPr>
          <p:cNvPr id="35" name="Cell"/>
          <p:cNvSpPr txBox="1"/>
          <p:nvPr/>
        </p:nvSpPr>
        <p:spPr>
          <a:xfrm>
            <a:off x="6527800" y="28829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36" name="Cell"/>
          <p:cNvSpPr txBox="1"/>
          <p:nvPr/>
        </p:nvSpPr>
        <p:spPr>
          <a:xfrm>
            <a:off x="7607300" y="28829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usporedba cella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s istom dubinom</a:t>
            </a:r>
            <a:endParaRPr lang="hr-HR" sz="1050"/>
          </a:p>
        </p:txBody>
      </p:sp>
      <p:sp>
        <p:nvSpPr>
          <p:cNvPr id="37" name="Text"/>
          <p:cNvSpPr txBox="1"/>
          <p:nvPr/>
        </p:nvSpPr>
        <p:spPr>
          <a:xfrm>
            <a:off x="444500" y="35560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Zajedničko u treningu</a:t>
            </a:r>
            <a:endParaRPr lang="hr-HR" sz="1800"/>
          </a:p>
        </p:txBody>
      </p:sp>
      <p:sp>
        <p:nvSpPr>
          <p:cNvPr id="38" name="Rule"/>
          <p:cNvSpPr/>
          <p:nvPr/>
        </p:nvSpPr>
        <p:spPr>
          <a:xfrm>
            <a:off x="444500" y="37973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9" name="Text"/>
          <p:cNvSpPr txBox="1"/>
          <p:nvPr/>
        </p:nvSpPr>
        <p:spPr>
          <a:xfrm>
            <a:off x="444500" y="3949700"/>
            <a:ext cx="3937000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2 convolution layers, no FC layers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fbank_kaldi 161 + CMVN, no augmentation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batch size 32, 8 workers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lr 5e-4, exponential decay 0.93, grad clip 5.0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avg_1 checkpoint used for final eval</a:t>
            </a:r>
            <a:endParaRPr lang="hr-HR" sz="1350"/>
          </a:p>
        </p:txBody>
      </p:sp>
      <p:sp>
        <p:nvSpPr>
          <p:cNvPr id="40" name="Text"/>
          <p:cNvSpPr txBox="1"/>
          <p:nvPr/>
        </p:nvSpPr>
        <p:spPr>
          <a:xfrm>
            <a:off x="4953000" y="35560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Zašto ovako</a:t>
            </a:r>
            <a:endParaRPr lang="hr-HR" sz="1800"/>
          </a:p>
        </p:txBody>
      </p:sp>
      <p:sp>
        <p:nvSpPr>
          <p:cNvPr id="41" name="Rule"/>
          <p:cNvSpPr/>
          <p:nvPr/>
        </p:nvSpPr>
        <p:spPr>
          <a:xfrm>
            <a:off x="4953000" y="3797300"/>
            <a:ext cx="571500" cy="381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4953000" y="3949700"/>
            <a:ext cx="4127500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Paper-small run drži hidden size 650 i GRU kao najbližu izvedivu varijantu unutar PaddleSpeecha.</a:t>
            </a:r>
            <a:endParaRPr lang="hr-HR" sz="1350"/>
          </a:p>
          <a:p>
            <a:r>
              <a:rPr lang="hr-HR" sz="1350">
                <a:solidFill>
                  <a:srgbClr val="6F6A5B"/>
                </a:solidFill>
                <a:latin typeface="Aptos"/>
              </a:rPr>
              <a:t>Dublji GRU testira samu dubinu. LSTM testira je li druga recurrent cell bolja pod istim splitom i decoding protokolom.</a:t>
            </a:r>
            <a:endParaRPr lang="hr-HR" sz="1350"/>
          </a:p>
        </p:txBody>
      </p:sp>
      <p:sp>
        <p:nvSpPr>
          <p:cNvPr id="43" name="Rectangle"/>
          <p:cNvSpPr/>
          <p:nvPr/>
        </p:nvSpPr>
        <p:spPr>
          <a:xfrm>
            <a:off x="444500" y="5588000"/>
            <a:ext cx="8699500" cy="495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09600" y="5702300"/>
            <a:ext cx="838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Optimizer napomena: za razliku od DS2 papera, ovaj PaddleSpeech trainer koristi Adam + LR decay; to eksplicitno navodimo kao razliku od paper reprodukcije.</a:t>
            </a:r>
            <a:endParaRPr lang="hr-HR" sz="1300"/>
          </a:p>
        </p:txBody>
      </p:sp>
      <p:sp>
        <p:nvSpPr>
          <p:cNvPr id="45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Konfiguracije: conf/deepspeech2_paper_small.yaml, conf/deepspeech2_paper_7gru.yaml, conf/deepspeech2_paper_7lstm.yaml.</a:t>
            </a:r>
            <a:endParaRPr lang="hr-HR"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06 · KENLM DEKODIRANJE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KenLM je vanjski word-level scorer koji dramatično pomaže na vremenskim prognozama.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LM se trenira iz train transkripata, ali prije toga izbacujemo rečenice koje se previše poklapaju s val/test tekstom.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651000"/>
            <a:ext cx="3175000" cy="13335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09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LM corpus filter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09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train rows: 3057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kept for KenLM: 2290</a:t>
            </a:r>
            <a:endParaRPr lang="hr-HR" sz="1350"/>
          </a:p>
          <a:p>
            <a:r>
              <a:rPr lang="hr-HR" sz="1240">
                <a:solidFill>
                  <a:srgbClr val="F2DFC7"/>
                </a:solidFill>
                <a:latin typeface="Aptos"/>
              </a:rPr>
              <a:t>excluded: 767 exact/fuzzy held-out matches</a:t>
            </a:r>
            <a:endParaRPr lang="hr-HR" sz="1240"/>
          </a:p>
        </p:txBody>
      </p:sp>
      <p:sp>
        <p:nvSpPr>
          <p:cNvPr id="9" name="Rectangle"/>
          <p:cNvSpPr/>
          <p:nvPr/>
        </p:nvSpPr>
        <p:spPr>
          <a:xfrm>
            <a:off x="3873500" y="1651000"/>
            <a:ext cx="3175000" cy="13335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4038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Scorer</a:t>
            </a:r>
            <a:endParaRPr lang="hr-HR" sz="1800"/>
          </a:p>
        </p:txBody>
      </p:sp>
      <p:sp>
        <p:nvSpPr>
          <p:cNvPr id="11" name="Text"/>
          <p:cNvSpPr txBox="1"/>
          <p:nvPr/>
        </p:nvSpPr>
        <p:spPr>
          <a:xfrm>
            <a:off x="4038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word-level KenLM 5-gram</a:t>
            </a:r>
            <a:endParaRPr lang="hr-HR" sz="130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is_character_based = 0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max_order = 5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dict_size = 1181</a:t>
            </a:r>
            <a:endParaRPr lang="hr-HR" sz="1240"/>
          </a:p>
        </p:txBody>
      </p:sp>
      <p:sp>
        <p:nvSpPr>
          <p:cNvPr id="12" name="Rectangle"/>
          <p:cNvSpPr/>
          <p:nvPr/>
        </p:nvSpPr>
        <p:spPr>
          <a:xfrm>
            <a:off x="7302500" y="1651000"/>
            <a:ext cx="3175000" cy="13335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3" name="Text"/>
          <p:cNvSpPr txBox="1"/>
          <p:nvPr/>
        </p:nvSpPr>
        <p:spPr>
          <a:xfrm>
            <a:off x="7467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Sweep grid</a:t>
            </a:r>
            <a:endParaRPr lang="hr-HR" sz="1800"/>
          </a:p>
        </p:txBody>
      </p:sp>
      <p:sp>
        <p:nvSpPr>
          <p:cNvPr id="14" name="Text"/>
          <p:cNvSpPr txBox="1"/>
          <p:nvPr/>
        </p:nvSpPr>
        <p:spPr>
          <a:xfrm>
            <a:off x="7467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beam 5/10/20/40 at a=2.5 b=0.3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alpha: 2.0 / 3.0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beta: 0.0 / 0.6</a:t>
            </a:r>
            <a:endParaRPr lang="hr-HR" sz="1220"/>
          </a:p>
        </p:txBody>
      </p:sp>
      <p:sp>
        <p:nvSpPr>
          <p:cNvPr id="15" name="Text"/>
          <p:cNvSpPr txBox="1"/>
          <p:nvPr/>
        </p:nvSpPr>
        <p:spPr>
          <a:xfrm>
            <a:off x="444500" y="3429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Najbolji validation-selected decoder</a:t>
            </a:r>
            <a:endParaRPr lang="hr-HR" sz="1800"/>
          </a:p>
        </p:txBody>
      </p:sp>
      <p:sp>
        <p:nvSpPr>
          <p:cNvPr id="16" name="Rule"/>
          <p:cNvSpPr/>
          <p:nvPr/>
        </p:nvSpPr>
        <p:spPr>
          <a:xfrm>
            <a:off x="444500" y="36703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7" name="Table background"/>
          <p:cNvSpPr/>
          <p:nvPr/>
        </p:nvSpPr>
        <p:spPr>
          <a:xfrm>
            <a:off x="444500" y="3886200"/>
            <a:ext cx="7747000" cy="14732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18" name="Table header"/>
          <p:cNvSpPr/>
          <p:nvPr/>
        </p:nvSpPr>
        <p:spPr>
          <a:xfrm>
            <a:off x="444500" y="3886200"/>
            <a:ext cx="7747000" cy="3683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9" name="Table stripe"/>
          <p:cNvSpPr/>
          <p:nvPr/>
        </p:nvSpPr>
        <p:spPr>
          <a:xfrm>
            <a:off x="444500" y="4622800"/>
            <a:ext cx="7747000" cy="3683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0" name="Header"/>
          <p:cNvSpPr txBox="1"/>
          <p:nvPr/>
        </p:nvSpPr>
        <p:spPr>
          <a:xfrm>
            <a:off x="495300" y="3943350"/>
            <a:ext cx="1739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Model</a:t>
            </a:r>
            <a:endParaRPr lang="hr-HR" sz="1030"/>
          </a:p>
        </p:txBody>
      </p:sp>
      <p:sp>
        <p:nvSpPr>
          <p:cNvPr id="21" name="Header"/>
          <p:cNvSpPr txBox="1"/>
          <p:nvPr/>
        </p:nvSpPr>
        <p:spPr>
          <a:xfrm>
            <a:off x="2336800" y="3943350"/>
            <a:ext cx="1485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best decoder</a:t>
            </a:r>
            <a:endParaRPr lang="hr-HR" sz="1030"/>
          </a:p>
        </p:txBody>
      </p:sp>
      <p:sp>
        <p:nvSpPr>
          <p:cNvPr id="22" name="Header"/>
          <p:cNvSpPr txBox="1"/>
          <p:nvPr/>
        </p:nvSpPr>
        <p:spPr>
          <a:xfrm>
            <a:off x="39243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val WER</a:t>
            </a:r>
            <a:endParaRPr lang="hr-HR" sz="1030"/>
          </a:p>
        </p:txBody>
      </p:sp>
      <p:sp>
        <p:nvSpPr>
          <p:cNvPr id="23" name="Header"/>
          <p:cNvSpPr txBox="1"/>
          <p:nvPr/>
        </p:nvSpPr>
        <p:spPr>
          <a:xfrm>
            <a:off x="50038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test WER</a:t>
            </a:r>
            <a:endParaRPr lang="hr-HR" sz="1030"/>
          </a:p>
        </p:txBody>
      </p:sp>
      <p:sp>
        <p:nvSpPr>
          <p:cNvPr id="24" name="Header"/>
          <p:cNvSpPr txBox="1"/>
          <p:nvPr/>
        </p:nvSpPr>
        <p:spPr>
          <a:xfrm>
            <a:off x="60833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seen</a:t>
            </a:r>
            <a:endParaRPr lang="hr-HR" sz="1030"/>
          </a:p>
        </p:txBody>
      </p:sp>
      <p:sp>
        <p:nvSpPr>
          <p:cNvPr id="25" name="Header"/>
          <p:cNvSpPr txBox="1"/>
          <p:nvPr/>
        </p:nvSpPr>
        <p:spPr>
          <a:xfrm>
            <a:off x="71628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unseen</a:t>
            </a:r>
            <a:endParaRPr lang="hr-HR" sz="1030"/>
          </a:p>
        </p:txBody>
      </p:sp>
      <p:sp>
        <p:nvSpPr>
          <p:cNvPr id="26" name="Cell"/>
          <p:cNvSpPr txBox="1"/>
          <p:nvPr/>
        </p:nvSpPr>
        <p:spPr>
          <a:xfrm>
            <a:off x="495300" y="43053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30"/>
          </a:p>
        </p:txBody>
      </p:sp>
      <p:sp>
        <p:nvSpPr>
          <p:cNvPr id="27" name="Cell"/>
          <p:cNvSpPr txBox="1"/>
          <p:nvPr/>
        </p:nvSpPr>
        <p:spPr>
          <a:xfrm>
            <a:off x="2336800" y="43053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28" name="Cell"/>
          <p:cNvSpPr txBox="1"/>
          <p:nvPr/>
        </p:nvSpPr>
        <p:spPr>
          <a:xfrm>
            <a:off x="39243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0.088</a:t>
            </a:r>
            <a:endParaRPr lang="hr-HR" sz="1030"/>
          </a:p>
        </p:txBody>
      </p:sp>
      <p:sp>
        <p:nvSpPr>
          <p:cNvPr id="29" name="Cell"/>
          <p:cNvSpPr txBox="1"/>
          <p:nvPr/>
        </p:nvSpPr>
        <p:spPr>
          <a:xfrm>
            <a:off x="50038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0.118</a:t>
            </a:r>
            <a:endParaRPr lang="hr-HR" sz="1030"/>
          </a:p>
        </p:txBody>
      </p:sp>
      <p:sp>
        <p:nvSpPr>
          <p:cNvPr id="30" name="Cell"/>
          <p:cNvSpPr txBox="1"/>
          <p:nvPr/>
        </p:nvSpPr>
        <p:spPr>
          <a:xfrm>
            <a:off x="60833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0.075</a:t>
            </a:r>
            <a:endParaRPr lang="hr-HR" sz="1030"/>
          </a:p>
        </p:txBody>
      </p:sp>
      <p:sp>
        <p:nvSpPr>
          <p:cNvPr id="31" name="Cell"/>
          <p:cNvSpPr txBox="1"/>
          <p:nvPr/>
        </p:nvSpPr>
        <p:spPr>
          <a:xfrm>
            <a:off x="71628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0.160</a:t>
            </a:r>
            <a:endParaRPr lang="hr-HR" sz="1030"/>
          </a:p>
        </p:txBody>
      </p:sp>
      <p:sp>
        <p:nvSpPr>
          <p:cNvPr id="32" name="Cell"/>
          <p:cNvSpPr txBox="1"/>
          <p:nvPr/>
        </p:nvSpPr>
        <p:spPr>
          <a:xfrm>
            <a:off x="495300" y="46736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30"/>
          </a:p>
        </p:txBody>
      </p:sp>
      <p:sp>
        <p:nvSpPr>
          <p:cNvPr id="33" name="Cell"/>
          <p:cNvSpPr txBox="1"/>
          <p:nvPr/>
        </p:nvSpPr>
        <p:spPr>
          <a:xfrm>
            <a:off x="2336800" y="46736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34" name="Cell"/>
          <p:cNvSpPr txBox="1"/>
          <p:nvPr/>
        </p:nvSpPr>
        <p:spPr>
          <a:xfrm>
            <a:off x="39243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0.094</a:t>
            </a:r>
            <a:endParaRPr lang="hr-HR" sz="1030"/>
          </a:p>
        </p:txBody>
      </p:sp>
      <p:sp>
        <p:nvSpPr>
          <p:cNvPr id="35" name="Cell"/>
          <p:cNvSpPr txBox="1"/>
          <p:nvPr/>
        </p:nvSpPr>
        <p:spPr>
          <a:xfrm>
            <a:off x="50038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0.127</a:t>
            </a:r>
            <a:endParaRPr lang="hr-HR" sz="1030"/>
          </a:p>
        </p:txBody>
      </p:sp>
      <p:sp>
        <p:nvSpPr>
          <p:cNvPr id="36" name="Cell"/>
          <p:cNvSpPr txBox="1"/>
          <p:nvPr/>
        </p:nvSpPr>
        <p:spPr>
          <a:xfrm>
            <a:off x="60833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0.083</a:t>
            </a:r>
            <a:endParaRPr lang="hr-HR" sz="1030"/>
          </a:p>
        </p:txBody>
      </p:sp>
      <p:sp>
        <p:nvSpPr>
          <p:cNvPr id="37" name="Cell"/>
          <p:cNvSpPr txBox="1"/>
          <p:nvPr/>
        </p:nvSpPr>
        <p:spPr>
          <a:xfrm>
            <a:off x="71628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0.171</a:t>
            </a:r>
            <a:endParaRPr lang="hr-HR" sz="1030"/>
          </a:p>
        </p:txBody>
      </p:sp>
      <p:sp>
        <p:nvSpPr>
          <p:cNvPr id="38" name="Cell"/>
          <p:cNvSpPr txBox="1"/>
          <p:nvPr/>
        </p:nvSpPr>
        <p:spPr>
          <a:xfrm>
            <a:off x="495300" y="50419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30"/>
          </a:p>
        </p:txBody>
      </p:sp>
      <p:sp>
        <p:nvSpPr>
          <p:cNvPr id="39" name="Cell"/>
          <p:cNvSpPr txBox="1"/>
          <p:nvPr/>
        </p:nvSpPr>
        <p:spPr>
          <a:xfrm>
            <a:off x="2336800" y="50419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40" name="Cell"/>
          <p:cNvSpPr txBox="1"/>
          <p:nvPr/>
        </p:nvSpPr>
        <p:spPr>
          <a:xfrm>
            <a:off x="39243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0.123</a:t>
            </a:r>
            <a:endParaRPr lang="hr-HR" sz="1030"/>
          </a:p>
        </p:txBody>
      </p:sp>
      <p:sp>
        <p:nvSpPr>
          <p:cNvPr id="41" name="Cell"/>
          <p:cNvSpPr txBox="1"/>
          <p:nvPr/>
        </p:nvSpPr>
        <p:spPr>
          <a:xfrm>
            <a:off x="50038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0.151</a:t>
            </a:r>
            <a:endParaRPr lang="hr-HR" sz="1030"/>
          </a:p>
        </p:txBody>
      </p:sp>
      <p:sp>
        <p:nvSpPr>
          <p:cNvPr id="42" name="Cell"/>
          <p:cNvSpPr txBox="1"/>
          <p:nvPr/>
        </p:nvSpPr>
        <p:spPr>
          <a:xfrm>
            <a:off x="60833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0.095</a:t>
            </a:r>
            <a:endParaRPr lang="hr-HR" sz="1030"/>
          </a:p>
        </p:txBody>
      </p:sp>
      <p:sp>
        <p:nvSpPr>
          <p:cNvPr id="43" name="Cell"/>
          <p:cNvSpPr txBox="1"/>
          <p:nvPr/>
        </p:nvSpPr>
        <p:spPr>
          <a:xfrm>
            <a:off x="71628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0.206</a:t>
            </a:r>
            <a:endParaRPr lang="hr-HR" sz="1030"/>
          </a:p>
        </p:txBody>
      </p:sp>
      <p:sp>
        <p:nvSpPr>
          <p:cNvPr id="44" name="Rectangle"/>
          <p:cNvSpPr/>
          <p:nvPr/>
        </p:nvSpPr>
        <p:spPr>
          <a:xfrm>
            <a:off x="444500" y="5359400"/>
            <a:ext cx="7747000" cy="368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596900" y="5448300"/>
            <a:ext cx="7429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U sva tri modela isti decoder pobjeđuje na validation setu: beam 40, alpha 2.5, beta 0.3.</a:t>
            </a:r>
            <a:endParaRPr lang="hr-HR" sz="1220"/>
          </a:p>
        </p:txBody>
      </p:sp>
      <p:sp>
        <p:nvSpPr>
          <p:cNvPr id="46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Machine-readable sweep: results/kenlm_sweep_all_models/metrics.json.</a:t>
            </a:r>
            <a:endParaRPr lang="hr-HR"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07 · REZULTATI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4930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500" b="1">
                <a:solidFill>
                  <a:srgbClr val="15171A"/>
                </a:solidFill>
                <a:latin typeface="Aptos"/>
              </a:rPr>
              <a:t>Najbolji rezultat: paper-small GRU + KenLM.</a:t>
            </a:r>
            <a:endParaRPr lang="hr-HR" sz="2500"/>
          </a:p>
        </p:txBody>
      </p:sp>
      <p:sp>
        <p:nvSpPr>
          <p:cNvPr id="4" name="Support"/>
          <p:cNvSpPr txBox="1"/>
          <p:nvPr/>
        </p:nvSpPr>
        <p:spPr>
          <a:xfrm>
            <a:off x="444500" y="952500"/>
            <a:ext cx="74930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80">
                <a:solidFill>
                  <a:srgbClr val="6F6A5B"/>
                </a:solidFill>
                <a:latin typeface="Aptos"/>
              </a:rPr>
              <a:t>Validation odabire beam 40; KenLM smanjuje WER nekoliko puta u odnosu na no-LM CTC decoding.</a:t>
            </a:r>
            <a:endParaRPr lang="hr-HR" sz="1180"/>
          </a:p>
        </p:txBody>
      </p:sp>
      <p:sp>
        <p:nvSpPr>
          <p:cNvPr id="5" name="Rule"/>
          <p:cNvSpPr/>
          <p:nvPr/>
        </p:nvSpPr>
        <p:spPr>
          <a:xfrm>
            <a:off x="444500" y="13335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64500" cy="1524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64500" cy="381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349500"/>
            <a:ext cx="8064500" cy="3810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Model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No LM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289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Fixed LM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test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3848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val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4008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Seen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480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Unseen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2019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0.453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289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0.155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0.118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3848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0.088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4008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0.075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480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0.160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400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0.429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289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0.142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0.127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3848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0.094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4008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0.083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480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0.171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781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0.535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289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0.175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0.151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3848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0.123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4008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0.095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480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0.206</a:t>
            </a:r>
            <a:endParaRPr lang="hr-HR" sz="1020"/>
          </a:p>
        </p:txBody>
      </p:sp>
      <p:sp>
        <p:nvSpPr>
          <p:cNvPr id="37" name="Rectangle"/>
          <p:cNvSpPr/>
          <p:nvPr/>
        </p:nvSpPr>
        <p:spPr>
          <a:xfrm>
            <a:off x="571500" y="3479800"/>
            <a:ext cx="2286000" cy="762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8" name="Text"/>
          <p:cNvSpPr txBox="1"/>
          <p:nvPr/>
        </p:nvSpPr>
        <p:spPr>
          <a:xfrm>
            <a:off x="7239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Best model</a:t>
            </a:r>
            <a:endParaRPr lang="hr-HR" sz="1300"/>
          </a:p>
        </p:txBody>
      </p:sp>
      <p:sp>
        <p:nvSpPr>
          <p:cNvPr id="39" name="Text"/>
          <p:cNvSpPr txBox="1"/>
          <p:nvPr/>
        </p:nvSpPr>
        <p:spPr>
          <a:xfrm>
            <a:off x="7239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paper-small GRU</a:t>
            </a:r>
            <a:endParaRPr lang="hr-HR" sz="1850"/>
          </a:p>
        </p:txBody>
      </p:sp>
      <p:sp>
        <p:nvSpPr>
          <p:cNvPr id="40" name="Text"/>
          <p:cNvSpPr txBox="1"/>
          <p:nvPr/>
        </p:nvSpPr>
        <p:spPr>
          <a:xfrm>
            <a:off x="7239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0.118 test WER</a:t>
            </a:r>
            <a:endParaRPr lang="hr-HR" sz="1050"/>
          </a:p>
        </p:txBody>
      </p:sp>
      <p:sp>
        <p:nvSpPr>
          <p:cNvPr id="41" name="Rectangle"/>
          <p:cNvSpPr/>
          <p:nvPr/>
        </p:nvSpPr>
        <p:spPr>
          <a:xfrm>
            <a:off x="3143250" y="3479800"/>
            <a:ext cx="2286000" cy="762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29565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LM effect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329565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0.453 → 0.118</a:t>
            </a:r>
            <a:endParaRPr lang="hr-HR" sz="1850"/>
          </a:p>
        </p:txBody>
      </p:sp>
      <p:sp>
        <p:nvSpPr>
          <p:cNvPr id="44" name="Text"/>
          <p:cNvSpPr txBox="1"/>
          <p:nvPr/>
        </p:nvSpPr>
        <p:spPr>
          <a:xfrm>
            <a:off x="329565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best model test WER</a:t>
            </a:r>
            <a:endParaRPr lang="hr-HR" sz="1050"/>
          </a:p>
        </p:txBody>
      </p:sp>
      <p:sp>
        <p:nvSpPr>
          <p:cNvPr id="45" name="Rectangle"/>
          <p:cNvSpPr/>
          <p:nvPr/>
        </p:nvSpPr>
        <p:spPr>
          <a:xfrm>
            <a:off x="5715000" y="3479800"/>
            <a:ext cx="2286000" cy="7620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6" name="Text"/>
          <p:cNvSpPr txBox="1"/>
          <p:nvPr/>
        </p:nvSpPr>
        <p:spPr>
          <a:xfrm>
            <a:off x="58674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Speaker gap</a:t>
            </a:r>
            <a:endParaRPr lang="hr-HR" sz="1300"/>
          </a:p>
        </p:txBody>
      </p:sp>
      <p:sp>
        <p:nvSpPr>
          <p:cNvPr id="47" name="Text"/>
          <p:cNvSpPr txBox="1"/>
          <p:nvPr/>
        </p:nvSpPr>
        <p:spPr>
          <a:xfrm>
            <a:off x="58674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15171A"/>
                </a:solidFill>
                <a:latin typeface="Aptos"/>
              </a:rPr>
              <a:t>0.075 vs 0.160</a:t>
            </a:r>
            <a:endParaRPr lang="hr-HR" sz="1850"/>
          </a:p>
        </p:txBody>
      </p:sp>
      <p:sp>
        <p:nvSpPr>
          <p:cNvPr id="48" name="Text"/>
          <p:cNvSpPr txBox="1"/>
          <p:nvPr/>
        </p:nvSpPr>
        <p:spPr>
          <a:xfrm>
            <a:off x="58674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seen vs unseen test WER</a:t>
            </a:r>
            <a:endParaRPr lang="hr-HR" sz="1050"/>
          </a:p>
        </p:txBody>
      </p:sp>
      <p:sp>
        <p:nvSpPr>
          <p:cNvPr id="49" name="Text"/>
          <p:cNvSpPr txBox="1"/>
          <p:nvPr/>
        </p:nvSpPr>
        <p:spPr>
          <a:xfrm>
            <a:off x="444500" y="4667250"/>
            <a:ext cx="3873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Zaključci</a:t>
            </a:r>
            <a:endParaRPr lang="hr-HR" sz="1900"/>
          </a:p>
        </p:txBody>
      </p:sp>
      <p:sp>
        <p:nvSpPr>
          <p:cNvPr id="50" name="Rule"/>
          <p:cNvSpPr/>
          <p:nvPr/>
        </p:nvSpPr>
        <p:spPr>
          <a:xfrm>
            <a:off x="444500" y="4908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51" name="Text"/>
          <p:cNvSpPr txBox="1"/>
          <p:nvPr/>
        </p:nvSpPr>
        <p:spPr>
          <a:xfrm>
            <a:off x="444500" y="5080000"/>
            <a:ext cx="447675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Sustav radi end-to-end na VEPRAD-u: splitovi, trening, dekodiranje i metrike su reproducibilni.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Dublje nije automatski bolje: 5-layer GRU je bolji od 7GRU i 7LSTM u ovoj postavci.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KenLM je ključan jer VEPRAD sadrži mnogo ponavljajućih vremenskih fraza.</a:t>
            </a:r>
            <a:endParaRPr lang="hr-HR" sz="1350"/>
          </a:p>
        </p:txBody>
      </p:sp>
      <p:sp>
        <p:nvSpPr>
          <p:cNvPr id="52" name="Text"/>
          <p:cNvSpPr txBox="1"/>
          <p:nvPr/>
        </p:nvSpPr>
        <p:spPr>
          <a:xfrm>
            <a:off x="5683250" y="466725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Što bi bilo iduće</a:t>
            </a:r>
            <a:endParaRPr lang="hr-HR" sz="1900"/>
          </a:p>
        </p:txBody>
      </p:sp>
      <p:sp>
        <p:nvSpPr>
          <p:cNvPr id="53" name="Rule"/>
          <p:cNvSpPr/>
          <p:nvPr/>
        </p:nvSpPr>
        <p:spPr>
          <a:xfrm>
            <a:off x="5683250" y="4908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54" name="Text"/>
          <p:cNvSpPr txBox="1"/>
          <p:nvPr/>
        </p:nvSpPr>
        <p:spPr>
          <a:xfrm>
            <a:off x="5683250" y="5080000"/>
            <a:ext cx="3937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više CV splitova za stabilniju procjenu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n-gram order sweep za KenLM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eventualno model/feature promjene koje zahtijevaju PaddleSpeech source edit</a:t>
            </a:r>
            <a:endParaRPr lang="hr-HR" sz="1350"/>
          </a:p>
        </p:txBody>
      </p:sp>
      <p:sp>
        <p:nvSpPr>
          <p:cNvPr id="55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Tracked results: results/kenlm_sweep_all_models/metrics.json and per-run summary.md files.</a:t>
            </a:r>
            <a:endParaRPr lang="hr-HR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GJ VEPRAD">
  <a:themeElements>
    <a:clrScheme name="ROGJ">
      <a:dk1>
        <a:srgbClr val="15171A"/>
      </a:dk1>
      <a:lt1>
        <a:srgbClr val="F8F3E8"/>
      </a:lt1>
      <a:dk2>
        <a:srgbClr val="20282C"/>
      </a:dk2>
      <a:lt2>
        <a:srgbClr val="F2DFC7"/>
      </a:lt2>
      <a:accent1>
        <a:srgbClr val="E24A2A"/>
      </a:accent1>
      <a:accent2>
        <a:srgbClr val="2C8C99"/>
      </a:accent2>
      <a:accent3>
        <a:srgbClr val="F0B429"/>
      </a:accent3>
      <a:accent4>
        <a:srgbClr val="5A7D3A"/>
      </a:accent4>
      <a:accent5>
        <a:srgbClr val="7B4A2D"/>
      </a:accent5>
      <a:accent6>
        <a:srgbClr val="6F6A5B"/>
      </a:accent6>
      <a:hlink>
        <a:srgbClr val="2C8C99"/>
      </a:hlink>
      <a:folHlink>
        <a:srgbClr val="7B4A2D"/>
      </a:folHlink>
    </a:clrScheme>
    <a:fontScheme name="ROGJ Fonts">
      <a:majorFont>
        <a:latin typeface="Aptos Display"/>
      </a:majorFont>
      <a:minorFont>
        <a:latin typeface="Aptos"/>
      </a:minorFont>
    </a:fontScheme>
    <a:fmtScheme name="ROGJ Format">
      <a:fillStyleLst>
        <a:solidFill>
          <a:schemeClr val="accent1"/>
        </a:solidFill>
      </a:fillStyleLst>
      <a:lnStyleLst>
        <a:ln w="6350">
          <a:solidFill>
            <a:schemeClr val="accent1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7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ROGJ DeepSpeech2 VEPRAD Presentation</dc:title>
  <dc:subject>DeepSpeech2 acoustic model training on VEPRAD</dc:subject>
  <dc:creator>Codex</dc:creator>
  <cp:lastModifiedBy>Codex</cp:lastModifiedBy>
  <dcterms:created xsi:type="dcterms:W3CDTF">2026-06-13T00:00:00Z</dcterms:created>
  <dcterms:modified xsi:type="dcterms:W3CDTF">2026-06-13T00:00:00Z</dcterms:modified>
</cp:coreProperties>
</file>