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eepspeech2_architecture_generated_slide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5207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952500"/>
            <a:ext cx="2095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800" b="1">
                <a:solidFill>
                  <a:srgbClr val="F8F3E8"/>
                </a:solidFill>
                <a:latin typeface="Aptos"/>
              </a:rPr>
              <a:t>Tema 12</a:t>
            </a:r>
            <a:endParaRPr lang="hr-HR" sz="3800"/>
          </a:p>
        </p:txBody>
      </p:sp>
      <p:sp>
        <p:nvSpPr>
          <p:cNvPr id="6" name="Text"/>
          <p:cNvSpPr txBox="1"/>
          <p:nvPr/>
        </p:nvSpPr>
        <p:spPr>
          <a:xfrm>
            <a:off x="3873500" y="952500"/>
            <a:ext cx="68580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700" b="1">
                <a:solidFill>
                  <a:srgbClr val="15171A"/>
                </a:solidFill>
                <a:latin typeface="Aptos"/>
              </a:rPr>
              <a:t>Učenje akustičkih modela govora za raspoznavanje</a:t>
            </a:r>
            <a:endParaRPr lang="hr-HR" sz="3700"/>
          </a:p>
          <a:p>
            <a:r>
              <a:rPr lang="hr-HR" sz="3700" b="1">
                <a:solidFill>
                  <a:srgbClr val="15171A"/>
                </a:solidFill>
                <a:latin typeface="Aptos"/>
              </a:rPr>
              <a:t>pomoću alata DeepSpeech2</a:t>
            </a:r>
            <a:endParaRPr lang="hr-HR" sz="3700"/>
          </a:p>
        </p:txBody>
      </p:sp>
      <p:sp>
        <p:nvSpPr>
          <p:cNvPr id="7" name="Rule"/>
          <p:cNvSpPr/>
          <p:nvPr/>
        </p:nvSpPr>
        <p:spPr>
          <a:xfrm>
            <a:off x="3911600" y="2730500"/>
            <a:ext cx="5588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3911600" y="3175000"/>
            <a:ext cx="6858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>
                <a:solidFill>
                  <a:srgbClr val="20282C"/>
                </a:solidFill>
                <a:latin typeface="Aptos"/>
              </a:rPr>
              <a:t>Zadatak: na temelju VEPRAD baze snimljenog i transkribiranog govora naučiti akustičke modele govora i testirati rad sustava.</a:t>
            </a:r>
            <a:endParaRPr lang="hr-HR" sz="2400"/>
          </a:p>
        </p:txBody>
      </p:sp>
      <p:sp>
        <p:nvSpPr>
          <p:cNvPr id="9" name="Text"/>
          <p:cNvSpPr txBox="1"/>
          <p:nvPr/>
        </p:nvSpPr>
        <p:spPr>
          <a:xfrm>
            <a:off x="3911600" y="482600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>
                <a:solidFill>
                  <a:srgbClr val="6F6A5B"/>
                </a:solidFill>
                <a:latin typeface="Aptos"/>
              </a:rPr>
              <a:t>Luka Ivanić</a:t>
            </a:r>
            <a:endParaRPr lang="hr-HR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02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dataset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Korišteni VEPRAD korpus nakon izdvajanja sm04 ima 25 govornika, 5 255 snimljenih iskaza i 8.03 h govora.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444500" y="1587500"/>
            <a:ext cx="2730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Test skup</a:t>
            </a:r>
            <a:endParaRPr lang="hr-HR" sz="1800"/>
          </a:p>
        </p:txBody>
      </p:sp>
      <p:sp>
        <p:nvSpPr>
          <p:cNvPr id="7" name="Rule"/>
          <p:cNvSpPr/>
          <p:nvPr/>
        </p:nvSpPr>
        <p:spPr>
          <a:xfrm>
            <a:off x="444500" y="1828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Rectangle"/>
          <p:cNvSpPr/>
          <p:nvPr/>
        </p:nvSpPr>
        <p:spPr>
          <a:xfrm>
            <a:off x="444500" y="2032000"/>
            <a:ext cx="266700" cy="266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9" name="Text"/>
          <p:cNvSpPr txBox="1"/>
          <p:nvPr/>
        </p:nvSpPr>
        <p:spPr>
          <a:xfrm>
            <a:off x="527050" y="20764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1</a:t>
            </a:r>
            <a:endParaRPr lang="hr-HR" sz="1500"/>
          </a:p>
        </p:txBody>
      </p:sp>
      <p:sp>
        <p:nvSpPr>
          <p:cNvPr id="10" name="Text"/>
          <p:cNvSpPr txBox="1"/>
          <p:nvPr/>
        </p:nvSpPr>
        <p:spPr>
          <a:xfrm>
            <a:off x="825500" y="20447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3 govornika se potpuno izdvajaju za test</a:t>
            </a:r>
            <a:endParaRPr lang="hr-HR" sz="1250"/>
          </a:p>
        </p:txBody>
      </p:sp>
      <p:sp>
        <p:nvSpPr>
          <p:cNvPr id="11" name="Rectangle"/>
          <p:cNvSpPr/>
          <p:nvPr/>
        </p:nvSpPr>
        <p:spPr>
          <a:xfrm>
            <a:off x="444500" y="2616200"/>
            <a:ext cx="266700" cy="266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527050" y="26606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2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825500" y="26289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iz svih ostalih govornika uzima se oko 10% utterancea za test</a:t>
            </a:r>
            <a:endParaRPr lang="hr-HR" sz="1250"/>
          </a:p>
        </p:txBody>
      </p:sp>
      <p:sp>
        <p:nvSpPr>
          <p:cNvPr id="14" name="Rectangle"/>
          <p:cNvSpPr/>
          <p:nvPr/>
        </p:nvSpPr>
        <p:spPr>
          <a:xfrm>
            <a:off x="444500" y="3200400"/>
            <a:ext cx="266700" cy="2667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27050" y="32448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3</a:t>
            </a:r>
            <a:endParaRPr lang="hr-HR" sz="1500"/>
          </a:p>
        </p:txBody>
      </p:sp>
      <p:sp>
        <p:nvSpPr>
          <p:cNvPr id="16" name="Text"/>
          <p:cNvSpPr txBox="1"/>
          <p:nvPr/>
        </p:nvSpPr>
        <p:spPr>
          <a:xfrm>
            <a:off x="825500" y="32131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test snimke i transkripte izdvojili smo jednom i držimo ih odvojeno od CV skupova</a:t>
            </a:r>
            <a:endParaRPr lang="hr-HR" sz="1250"/>
          </a:p>
        </p:txBody>
      </p:sp>
      <p:sp>
        <p:nvSpPr>
          <p:cNvPr id="17" name="Text"/>
          <p:cNvSpPr txBox="1"/>
          <p:nvPr/>
        </p:nvSpPr>
        <p:spPr>
          <a:xfrm>
            <a:off x="444500" y="3873500"/>
            <a:ext cx="3302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>
                <a:solidFill>
                  <a:srgbClr val="6F6A5B"/>
                </a:solidFill>
                <a:latin typeface="Aptos"/>
              </a:rPr>
              <a:t>sm04 je ostavljen izvan aktivnog split poola jer nije bilo dovoljno jasno što točno predstavlja; time smanjujemo rizik od curenja podataka.</a:t>
            </a:r>
            <a:endParaRPr lang="hr-HR" sz="1220"/>
          </a:p>
        </p:txBody>
      </p:sp>
      <p:sp>
        <p:nvSpPr>
          <p:cNvPr id="18" name="Text"/>
          <p:cNvSpPr txBox="1"/>
          <p:nvPr/>
        </p:nvSpPr>
        <p:spPr>
          <a:xfrm>
            <a:off x="4127500" y="1587500"/>
            <a:ext cx="3175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Jedan VEPRAD CV split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127500" y="1828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127500" y="2032000"/>
            <a:ext cx="5397500" cy="284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127500" y="2032000"/>
            <a:ext cx="5397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127500" y="27432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127500" y="34544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Table stripe"/>
          <p:cNvSpPr/>
          <p:nvPr/>
        </p:nvSpPr>
        <p:spPr>
          <a:xfrm>
            <a:off x="4127500" y="41656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5" name="Header"/>
          <p:cNvSpPr txBox="1"/>
          <p:nvPr/>
        </p:nvSpPr>
        <p:spPr>
          <a:xfrm>
            <a:off x="4178300" y="208915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Subset</a:t>
            </a:r>
            <a:endParaRPr lang="hr-HR" sz="1000"/>
          </a:p>
        </p:txBody>
      </p:sp>
      <p:sp>
        <p:nvSpPr>
          <p:cNvPr id="26" name="Header"/>
          <p:cNvSpPr txBox="1"/>
          <p:nvPr/>
        </p:nvSpPr>
        <p:spPr>
          <a:xfrm>
            <a:off x="5638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utt.</a:t>
            </a:r>
            <a:endParaRPr lang="hr-HR" sz="1000"/>
          </a:p>
        </p:txBody>
      </p:sp>
      <p:sp>
        <p:nvSpPr>
          <p:cNvPr id="27" name="Header"/>
          <p:cNvSpPr txBox="1"/>
          <p:nvPr/>
        </p:nvSpPr>
        <p:spPr>
          <a:xfrm>
            <a:off x="65913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gov.</a:t>
            </a:r>
            <a:endParaRPr lang="hr-HR" sz="1000"/>
          </a:p>
        </p:txBody>
      </p:sp>
      <p:sp>
        <p:nvSpPr>
          <p:cNvPr id="28" name="Header"/>
          <p:cNvSpPr txBox="1"/>
          <p:nvPr/>
        </p:nvSpPr>
        <p:spPr>
          <a:xfrm>
            <a:off x="7543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h</a:t>
            </a:r>
            <a:endParaRPr lang="hr-HR" sz="1000"/>
          </a:p>
        </p:txBody>
      </p:sp>
      <p:sp>
        <p:nvSpPr>
          <p:cNvPr id="29" name="Header"/>
          <p:cNvSpPr txBox="1"/>
          <p:nvPr/>
        </p:nvSpPr>
        <p:spPr>
          <a:xfrm>
            <a:off x="8496300" y="208915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uloga</a:t>
            </a:r>
            <a:endParaRPr lang="hr-HR" sz="1000"/>
          </a:p>
        </p:txBody>
      </p:sp>
      <p:sp>
        <p:nvSpPr>
          <p:cNvPr id="30" name="Cell"/>
          <p:cNvSpPr txBox="1"/>
          <p:nvPr/>
        </p:nvSpPr>
        <p:spPr>
          <a:xfrm>
            <a:off x="4178300" y="2438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train</a:t>
            </a:r>
            <a:endParaRPr lang="hr-HR" sz="1000"/>
          </a:p>
        </p:txBody>
      </p:sp>
      <p:sp>
        <p:nvSpPr>
          <p:cNvPr id="31" name="Cell"/>
          <p:cNvSpPr txBox="1"/>
          <p:nvPr/>
        </p:nvSpPr>
        <p:spPr>
          <a:xfrm>
            <a:off x="5638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3057</a:t>
            </a:r>
            <a:endParaRPr lang="hr-HR" sz="1000"/>
          </a:p>
        </p:txBody>
      </p:sp>
      <p:sp>
        <p:nvSpPr>
          <p:cNvPr id="32" name="Cell"/>
          <p:cNvSpPr txBox="1"/>
          <p:nvPr/>
        </p:nvSpPr>
        <p:spPr>
          <a:xfrm>
            <a:off x="65913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33" name="Cell"/>
          <p:cNvSpPr txBox="1"/>
          <p:nvPr/>
        </p:nvSpPr>
        <p:spPr>
          <a:xfrm>
            <a:off x="7543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4.72</a:t>
            </a:r>
            <a:endParaRPr lang="hr-HR" sz="1000"/>
          </a:p>
        </p:txBody>
      </p:sp>
      <p:sp>
        <p:nvSpPr>
          <p:cNvPr id="34" name="Cell"/>
          <p:cNvSpPr txBox="1"/>
          <p:nvPr/>
        </p:nvSpPr>
        <p:spPr>
          <a:xfrm>
            <a:off x="8496300" y="2438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učenje modela</a:t>
            </a:r>
            <a:endParaRPr lang="hr-HR" sz="1000"/>
          </a:p>
        </p:txBody>
      </p:sp>
      <p:sp>
        <p:nvSpPr>
          <p:cNvPr id="35" name="Cell"/>
          <p:cNvSpPr txBox="1"/>
          <p:nvPr/>
        </p:nvSpPr>
        <p:spPr>
          <a:xfrm>
            <a:off x="4178300" y="2794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</a:t>
            </a:r>
            <a:endParaRPr lang="hr-HR" sz="1000"/>
          </a:p>
        </p:txBody>
      </p:sp>
      <p:sp>
        <p:nvSpPr>
          <p:cNvPr id="36" name="Cell"/>
          <p:cNvSpPr txBox="1"/>
          <p:nvPr/>
        </p:nvSpPr>
        <p:spPr>
          <a:xfrm>
            <a:off x="5638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1205</a:t>
            </a:r>
            <a:endParaRPr lang="hr-HR" sz="1000"/>
          </a:p>
        </p:txBody>
      </p:sp>
      <p:sp>
        <p:nvSpPr>
          <p:cNvPr id="37" name="Cell"/>
          <p:cNvSpPr txBox="1"/>
          <p:nvPr/>
        </p:nvSpPr>
        <p:spPr>
          <a:xfrm>
            <a:off x="65913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38" name="Cell"/>
          <p:cNvSpPr txBox="1"/>
          <p:nvPr/>
        </p:nvSpPr>
        <p:spPr>
          <a:xfrm>
            <a:off x="7543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1.81</a:t>
            </a:r>
            <a:endParaRPr lang="hr-HR" sz="1000"/>
          </a:p>
        </p:txBody>
      </p:sp>
      <p:sp>
        <p:nvSpPr>
          <p:cNvPr id="39" name="Cell"/>
          <p:cNvSpPr txBox="1"/>
          <p:nvPr/>
        </p:nvSpPr>
        <p:spPr>
          <a:xfrm>
            <a:off x="8496300" y="2794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odabir/usporedba</a:t>
            </a:r>
            <a:endParaRPr lang="hr-HR" sz="1000"/>
          </a:p>
        </p:txBody>
      </p:sp>
      <p:sp>
        <p:nvSpPr>
          <p:cNvPr id="40" name="Cell"/>
          <p:cNvSpPr txBox="1"/>
          <p:nvPr/>
        </p:nvSpPr>
        <p:spPr>
          <a:xfrm>
            <a:off x="4178300" y="31496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seen</a:t>
            </a:r>
            <a:endParaRPr lang="hr-HR" sz="1000"/>
          </a:p>
        </p:txBody>
      </p:sp>
      <p:sp>
        <p:nvSpPr>
          <p:cNvPr id="41" name="Cell"/>
          <p:cNvSpPr txBox="1"/>
          <p:nvPr/>
        </p:nvSpPr>
        <p:spPr>
          <a:xfrm>
            <a:off x="5638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349</a:t>
            </a:r>
            <a:endParaRPr lang="hr-HR" sz="1000"/>
          </a:p>
        </p:txBody>
      </p:sp>
      <p:sp>
        <p:nvSpPr>
          <p:cNvPr id="42" name="Cell"/>
          <p:cNvSpPr txBox="1"/>
          <p:nvPr/>
        </p:nvSpPr>
        <p:spPr>
          <a:xfrm>
            <a:off x="65913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43" name="Cell"/>
          <p:cNvSpPr txBox="1"/>
          <p:nvPr/>
        </p:nvSpPr>
        <p:spPr>
          <a:xfrm>
            <a:off x="7543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0.54</a:t>
            </a:r>
            <a:endParaRPr lang="hr-HR" sz="1000"/>
          </a:p>
        </p:txBody>
      </p:sp>
      <p:sp>
        <p:nvSpPr>
          <p:cNvPr id="44" name="Cell"/>
          <p:cNvSpPr txBox="1"/>
          <p:nvPr/>
        </p:nvSpPr>
        <p:spPr>
          <a:xfrm>
            <a:off x="8496300" y="31496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45" name="Cell"/>
          <p:cNvSpPr txBox="1"/>
          <p:nvPr/>
        </p:nvSpPr>
        <p:spPr>
          <a:xfrm>
            <a:off x="4178300" y="35052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unseen</a:t>
            </a:r>
            <a:endParaRPr lang="hr-HR" sz="1000"/>
          </a:p>
        </p:txBody>
      </p:sp>
      <p:sp>
        <p:nvSpPr>
          <p:cNvPr id="46" name="Cell"/>
          <p:cNvSpPr txBox="1"/>
          <p:nvPr/>
        </p:nvSpPr>
        <p:spPr>
          <a:xfrm>
            <a:off x="5638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856</a:t>
            </a:r>
            <a:endParaRPr lang="hr-HR" sz="1000"/>
          </a:p>
        </p:txBody>
      </p:sp>
      <p:sp>
        <p:nvSpPr>
          <p:cNvPr id="47" name="Cell"/>
          <p:cNvSpPr txBox="1"/>
          <p:nvPr/>
        </p:nvSpPr>
        <p:spPr>
          <a:xfrm>
            <a:off x="65913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48" name="Cell"/>
          <p:cNvSpPr txBox="1"/>
          <p:nvPr/>
        </p:nvSpPr>
        <p:spPr>
          <a:xfrm>
            <a:off x="7543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1.26</a:t>
            </a:r>
            <a:endParaRPr lang="hr-HR" sz="1000"/>
          </a:p>
        </p:txBody>
      </p:sp>
      <p:sp>
        <p:nvSpPr>
          <p:cNvPr id="49" name="Cell"/>
          <p:cNvSpPr txBox="1"/>
          <p:nvPr/>
        </p:nvSpPr>
        <p:spPr>
          <a:xfrm>
            <a:off x="8496300" y="35052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50" name="Cell"/>
          <p:cNvSpPr txBox="1"/>
          <p:nvPr/>
        </p:nvSpPr>
        <p:spPr>
          <a:xfrm>
            <a:off x="4178300" y="38608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</a:t>
            </a:r>
            <a:endParaRPr lang="hr-HR" sz="1000"/>
          </a:p>
        </p:txBody>
      </p:sp>
      <p:sp>
        <p:nvSpPr>
          <p:cNvPr id="51" name="Cell"/>
          <p:cNvSpPr txBox="1"/>
          <p:nvPr/>
        </p:nvSpPr>
        <p:spPr>
          <a:xfrm>
            <a:off x="5638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993</a:t>
            </a:r>
            <a:endParaRPr lang="hr-HR" sz="1000"/>
          </a:p>
        </p:txBody>
      </p:sp>
      <p:sp>
        <p:nvSpPr>
          <p:cNvPr id="52" name="Cell"/>
          <p:cNvSpPr txBox="1"/>
          <p:nvPr/>
        </p:nvSpPr>
        <p:spPr>
          <a:xfrm>
            <a:off x="65913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25</a:t>
            </a:r>
            <a:endParaRPr lang="hr-HR" sz="1000"/>
          </a:p>
        </p:txBody>
      </p:sp>
      <p:sp>
        <p:nvSpPr>
          <p:cNvPr id="53" name="Cell"/>
          <p:cNvSpPr txBox="1"/>
          <p:nvPr/>
        </p:nvSpPr>
        <p:spPr>
          <a:xfrm>
            <a:off x="7543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1.50</a:t>
            </a:r>
            <a:endParaRPr lang="hr-HR" sz="1000"/>
          </a:p>
        </p:txBody>
      </p:sp>
      <p:sp>
        <p:nvSpPr>
          <p:cNvPr id="54" name="Cell"/>
          <p:cNvSpPr txBox="1"/>
          <p:nvPr/>
        </p:nvSpPr>
        <p:spPr>
          <a:xfrm>
            <a:off x="8496300" y="38608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zamrznuta provjera</a:t>
            </a:r>
            <a:endParaRPr lang="hr-HR" sz="1000"/>
          </a:p>
        </p:txBody>
      </p:sp>
      <p:sp>
        <p:nvSpPr>
          <p:cNvPr id="55" name="Cell"/>
          <p:cNvSpPr txBox="1"/>
          <p:nvPr/>
        </p:nvSpPr>
        <p:spPr>
          <a:xfrm>
            <a:off x="4178300" y="4216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seen</a:t>
            </a:r>
            <a:endParaRPr lang="hr-HR" sz="1000"/>
          </a:p>
        </p:txBody>
      </p:sp>
      <p:sp>
        <p:nvSpPr>
          <p:cNvPr id="56" name="Cell"/>
          <p:cNvSpPr txBox="1"/>
          <p:nvPr/>
        </p:nvSpPr>
        <p:spPr>
          <a:xfrm>
            <a:off x="5638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486</a:t>
            </a:r>
            <a:endParaRPr lang="hr-HR" sz="1000"/>
          </a:p>
        </p:txBody>
      </p:sp>
      <p:sp>
        <p:nvSpPr>
          <p:cNvPr id="57" name="Cell"/>
          <p:cNvSpPr txBox="1"/>
          <p:nvPr/>
        </p:nvSpPr>
        <p:spPr>
          <a:xfrm>
            <a:off x="65913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58" name="Cell"/>
          <p:cNvSpPr txBox="1"/>
          <p:nvPr/>
        </p:nvSpPr>
        <p:spPr>
          <a:xfrm>
            <a:off x="7543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0.74</a:t>
            </a:r>
            <a:endParaRPr lang="hr-HR" sz="1000"/>
          </a:p>
        </p:txBody>
      </p:sp>
      <p:sp>
        <p:nvSpPr>
          <p:cNvPr id="59" name="Cell"/>
          <p:cNvSpPr txBox="1"/>
          <p:nvPr/>
        </p:nvSpPr>
        <p:spPr>
          <a:xfrm>
            <a:off x="8496300" y="4216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60" name="Cell"/>
          <p:cNvSpPr txBox="1"/>
          <p:nvPr/>
        </p:nvSpPr>
        <p:spPr>
          <a:xfrm>
            <a:off x="4178300" y="4572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unseen</a:t>
            </a:r>
            <a:endParaRPr lang="hr-HR" sz="1000"/>
          </a:p>
        </p:txBody>
      </p:sp>
      <p:sp>
        <p:nvSpPr>
          <p:cNvPr id="61" name="Cell"/>
          <p:cNvSpPr txBox="1"/>
          <p:nvPr/>
        </p:nvSpPr>
        <p:spPr>
          <a:xfrm>
            <a:off x="5638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507</a:t>
            </a:r>
            <a:endParaRPr lang="hr-HR" sz="1000"/>
          </a:p>
        </p:txBody>
      </p:sp>
      <p:sp>
        <p:nvSpPr>
          <p:cNvPr id="62" name="Cell"/>
          <p:cNvSpPr txBox="1"/>
          <p:nvPr/>
        </p:nvSpPr>
        <p:spPr>
          <a:xfrm>
            <a:off x="65913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63" name="Cell"/>
          <p:cNvSpPr txBox="1"/>
          <p:nvPr/>
        </p:nvSpPr>
        <p:spPr>
          <a:xfrm>
            <a:off x="7543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0.76</a:t>
            </a:r>
            <a:endParaRPr lang="hr-HR" sz="1000"/>
          </a:p>
        </p:txBody>
      </p:sp>
      <p:sp>
        <p:nvSpPr>
          <p:cNvPr id="64" name="Cell"/>
          <p:cNvSpPr txBox="1"/>
          <p:nvPr/>
        </p:nvSpPr>
        <p:spPr>
          <a:xfrm>
            <a:off x="8496300" y="4572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65" name="Text"/>
          <p:cNvSpPr txBox="1"/>
          <p:nvPr/>
        </p:nvSpPr>
        <p:spPr>
          <a:xfrm>
            <a:off x="4127500" y="4826000"/>
            <a:ext cx="488950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>
                <a:solidFill>
                  <a:srgbClr val="6F6A5B"/>
                </a:solidFill>
                <a:latin typeface="Aptos"/>
              </a:rPr>
              <a:t>Namjera VEPRAD splitova je mjeriti dvije stvari odvojeno: koliko model generalizira na nove rečenice istih govornika i koliko generalizira na potpuno neviđene govornike.</a:t>
            </a:r>
            <a:endParaRPr lang="hr-HR" sz="1400"/>
          </a:p>
        </p:txBody>
      </p:sp>
      <p:sp>
        <p:nvSpPr>
          <p:cNvPr id="66" name="Rectangle"/>
          <p:cNvSpPr/>
          <p:nvPr/>
        </p:nvSpPr>
        <p:spPr>
          <a:xfrm>
            <a:off x="444500" y="5588000"/>
            <a:ext cx="9461500" cy="4699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67" name="Text"/>
          <p:cNvSpPr txBox="1"/>
          <p:nvPr/>
        </p:nvSpPr>
        <p:spPr>
          <a:xfrm>
            <a:off x="609600" y="5702300"/>
            <a:ext cx="913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50" b="1">
                <a:solidFill>
                  <a:srgbClr val="15171A"/>
                </a:solidFill>
                <a:latin typeface="Aptos"/>
              </a:rPr>
              <a:t>Reproducibilnost: permanentni test skup ne diramo nakon stvaranja; za nove validacijske eksperimente generiramo nove CV splitove iz non-test poola.</a:t>
            </a:r>
            <a:endParaRPr lang="hr-HR" sz="14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03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+ DeepSpeech2 Pipeline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Od VEPRAD snimki i transkripata gradimo značajke, CTC rječnik, akustički model i WER/CER evaluaciju.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854200"/>
            <a:ext cx="1422400" cy="711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588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VEPRAD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5588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audio + txt</a:t>
            </a:r>
            <a:endParaRPr lang="hr-HR" sz="980"/>
          </a:p>
        </p:txBody>
      </p:sp>
      <p:sp>
        <p:nvSpPr>
          <p:cNvPr id="9" name="Text"/>
          <p:cNvSpPr txBox="1"/>
          <p:nvPr/>
        </p:nvSpPr>
        <p:spPr>
          <a:xfrm>
            <a:off x="19431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0" name="Rectangle"/>
          <p:cNvSpPr/>
          <p:nvPr/>
        </p:nvSpPr>
        <p:spPr>
          <a:xfrm>
            <a:off x="2197100" y="1854200"/>
            <a:ext cx="1422400" cy="7112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23114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manifesti</a:t>
            </a:r>
            <a:endParaRPr lang="hr-HR" sz="1800"/>
          </a:p>
        </p:txBody>
      </p:sp>
      <p:sp>
        <p:nvSpPr>
          <p:cNvPr id="12" name="Text"/>
          <p:cNvSpPr txBox="1"/>
          <p:nvPr/>
        </p:nvSpPr>
        <p:spPr>
          <a:xfrm>
            <a:off x="23114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JSONL rel. paths</a:t>
            </a:r>
            <a:endParaRPr lang="hr-HR" sz="980"/>
          </a:p>
        </p:txBody>
      </p:sp>
      <p:sp>
        <p:nvSpPr>
          <p:cNvPr id="13" name="Text"/>
          <p:cNvSpPr txBox="1"/>
          <p:nvPr/>
        </p:nvSpPr>
        <p:spPr>
          <a:xfrm>
            <a:off x="36957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4" name="Rectangle"/>
          <p:cNvSpPr/>
          <p:nvPr/>
        </p:nvSpPr>
        <p:spPr>
          <a:xfrm>
            <a:off x="3949700" y="1854200"/>
            <a:ext cx="1422400" cy="7112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40640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features</a:t>
            </a:r>
            <a:endParaRPr lang="hr-HR" sz="1800"/>
          </a:p>
        </p:txBody>
      </p:sp>
      <p:sp>
        <p:nvSpPr>
          <p:cNvPr id="16" name="Text"/>
          <p:cNvSpPr txBox="1"/>
          <p:nvPr/>
        </p:nvSpPr>
        <p:spPr>
          <a:xfrm>
            <a:off x="40640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15171A"/>
                </a:solidFill>
                <a:latin typeface="Aptos"/>
              </a:rPr>
              <a:t>fbank_kaldi</a:t>
            </a:r>
            <a:endParaRPr lang="hr-HR" sz="980"/>
          </a:p>
          <a:p>
            <a:r>
              <a:rPr lang="hr-HR" sz="980">
                <a:solidFill>
                  <a:srgbClr val="15171A"/>
                </a:solidFill>
                <a:latin typeface="Aptos"/>
              </a:rPr>
              <a:t>+ CMVN</a:t>
            </a:r>
            <a:endParaRPr lang="hr-HR" sz="980"/>
          </a:p>
        </p:txBody>
      </p:sp>
      <p:sp>
        <p:nvSpPr>
          <p:cNvPr id="17" name="Text"/>
          <p:cNvSpPr txBox="1"/>
          <p:nvPr/>
        </p:nvSpPr>
        <p:spPr>
          <a:xfrm>
            <a:off x="54483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8" name="Rectangle"/>
          <p:cNvSpPr/>
          <p:nvPr/>
        </p:nvSpPr>
        <p:spPr>
          <a:xfrm>
            <a:off x="5702300" y="1854200"/>
            <a:ext cx="1422400" cy="711200"/>
          </a:xfrm>
          <a:prstGeom prst="rect">
            <a:avLst/>
          </a:prstGeom>
          <a:solidFill>
            <a:srgbClr val="5A7D3A"/>
          </a:solidFill>
          <a:ln>
            <a:noFill/>
          </a:ln>
        </p:spPr>
      </p:sp>
      <p:sp>
        <p:nvSpPr>
          <p:cNvPr id="19" name="Text"/>
          <p:cNvSpPr txBox="1"/>
          <p:nvPr/>
        </p:nvSpPr>
        <p:spPr>
          <a:xfrm>
            <a:off x="58166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vocab</a:t>
            </a:r>
            <a:endParaRPr lang="hr-HR" sz="1800"/>
          </a:p>
        </p:txBody>
      </p:sp>
      <p:sp>
        <p:nvSpPr>
          <p:cNvPr id="20" name="Text"/>
          <p:cNvSpPr txBox="1"/>
          <p:nvPr/>
        </p:nvSpPr>
        <p:spPr>
          <a:xfrm>
            <a:off x="58166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31 char, train-only</a:t>
            </a:r>
            <a:endParaRPr lang="hr-HR" sz="980"/>
          </a:p>
        </p:txBody>
      </p:sp>
      <p:sp>
        <p:nvSpPr>
          <p:cNvPr id="21" name="Text"/>
          <p:cNvSpPr txBox="1"/>
          <p:nvPr/>
        </p:nvSpPr>
        <p:spPr>
          <a:xfrm>
            <a:off x="72009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2" name="Rectangle"/>
          <p:cNvSpPr/>
          <p:nvPr/>
        </p:nvSpPr>
        <p:spPr>
          <a:xfrm>
            <a:off x="7454900" y="1854200"/>
            <a:ext cx="1422400" cy="7112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3" name="Text"/>
          <p:cNvSpPr txBox="1"/>
          <p:nvPr/>
        </p:nvSpPr>
        <p:spPr>
          <a:xfrm>
            <a:off x="75692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DS2</a:t>
            </a:r>
            <a:endParaRPr lang="hr-HR" sz="1800"/>
          </a:p>
        </p:txBody>
      </p:sp>
      <p:sp>
        <p:nvSpPr>
          <p:cNvPr id="24" name="Text"/>
          <p:cNvSpPr txBox="1"/>
          <p:nvPr/>
        </p:nvSpPr>
        <p:spPr>
          <a:xfrm>
            <a:off x="75692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CTC trening</a:t>
            </a:r>
            <a:endParaRPr lang="hr-HR" sz="980"/>
          </a:p>
        </p:txBody>
      </p:sp>
      <p:sp>
        <p:nvSpPr>
          <p:cNvPr id="25" name="Text"/>
          <p:cNvSpPr txBox="1"/>
          <p:nvPr/>
        </p:nvSpPr>
        <p:spPr>
          <a:xfrm>
            <a:off x="8953500" y="207645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6" name="Rectangle"/>
          <p:cNvSpPr/>
          <p:nvPr/>
        </p:nvSpPr>
        <p:spPr>
          <a:xfrm>
            <a:off x="9207500" y="1854200"/>
            <a:ext cx="1422400" cy="711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27" name="Text"/>
          <p:cNvSpPr txBox="1"/>
          <p:nvPr/>
        </p:nvSpPr>
        <p:spPr>
          <a:xfrm>
            <a:off x="9321800" y="1955800"/>
            <a:ext cx="119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eval</a:t>
            </a:r>
            <a:endParaRPr lang="hr-HR" sz="1800"/>
          </a:p>
        </p:txBody>
      </p:sp>
      <p:sp>
        <p:nvSpPr>
          <p:cNvPr id="28" name="Text"/>
          <p:cNvSpPr txBox="1"/>
          <p:nvPr/>
        </p:nvSpPr>
        <p:spPr>
          <a:xfrm>
            <a:off x="9321800" y="2197100"/>
            <a:ext cx="1193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80">
                <a:solidFill>
                  <a:srgbClr val="F8F3E8"/>
                </a:solidFill>
                <a:latin typeface="Aptos"/>
              </a:rPr>
              <a:t>WER/CER</a:t>
            </a:r>
            <a:endParaRPr lang="hr-HR" sz="980"/>
          </a:p>
          <a:p>
            <a:r>
              <a:rPr lang="hr-HR" sz="980">
                <a:solidFill>
                  <a:srgbClr val="F8F3E8"/>
                </a:solidFill>
                <a:latin typeface="Aptos"/>
              </a:rPr>
              <a:t>po subsetu</a:t>
            </a:r>
            <a:endParaRPr lang="hr-HR" sz="980"/>
          </a:p>
        </p:txBody>
      </p:sp>
      <p:sp>
        <p:nvSpPr>
          <p:cNvPr id="29" name="Text"/>
          <p:cNvSpPr txBox="1"/>
          <p:nvPr/>
        </p:nvSpPr>
        <p:spPr>
          <a:xfrm>
            <a:off x="584200" y="2984500"/>
            <a:ext cx="273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Preprocessing odluke</a:t>
            </a:r>
            <a:endParaRPr lang="hr-HR" sz="1800"/>
          </a:p>
        </p:txBody>
      </p:sp>
      <p:sp>
        <p:nvSpPr>
          <p:cNvPr id="30" name="Rule"/>
          <p:cNvSpPr/>
          <p:nvPr/>
        </p:nvSpPr>
        <p:spPr>
          <a:xfrm>
            <a:off x="584200" y="3225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584200" y="3365500"/>
            <a:ext cx="3619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16 kHz, 25 ms window, 10 ms shift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161-bin fbank_kaldi + CMVN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character CTC vocab built only from train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Croatian letters covered: 0 unknown chars on val/test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no data augmentation in these runs</a:t>
            </a:r>
            <a:endParaRPr lang="hr-HR" sz="1350"/>
          </a:p>
        </p:txBody>
      </p:sp>
      <p:sp>
        <p:nvSpPr>
          <p:cNvPr id="32" name="Text"/>
          <p:cNvSpPr txBox="1"/>
          <p:nvPr/>
        </p:nvSpPr>
        <p:spPr>
          <a:xfrm>
            <a:off x="4762500" y="298450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Transkripti i event tagovi</a:t>
            </a:r>
            <a:endParaRPr lang="hr-HR" sz="1800"/>
          </a:p>
        </p:txBody>
      </p:sp>
      <p:sp>
        <p:nvSpPr>
          <p:cNvPr id="33" name="Rule"/>
          <p:cNvSpPr/>
          <p:nvPr/>
        </p:nvSpPr>
        <p:spPr>
          <a:xfrm>
            <a:off x="4762500" y="3225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4" name="Text"/>
          <p:cNvSpPr txBox="1"/>
          <p:nvPr/>
        </p:nvSpPr>
        <p:spPr>
          <a:xfrm>
            <a:off x="4762500" y="3365500"/>
            <a:ext cx="4127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 b="1">
                <a:solidFill>
                  <a:srgbClr val="20282C"/>
                </a:solidFill>
                <a:latin typeface="Aptos"/>
              </a:rPr>
              <a:t>ASR target je normalizirano polje text.</a:t>
            </a:r>
            <a:endParaRPr lang="hr-HR" sz="1400"/>
          </a:p>
          <a:p>
            <a:r>
              <a:rPr lang="hr-HR" sz="1300">
                <a:solidFill>
                  <a:srgbClr val="6F6A5B"/>
                </a:solidFill>
                <a:latin typeface="Aptos"/>
              </a:rPr>
              <a:t>Event tagovi poput &lt;uzdah&gt; ostaju u text_raw/non_speech_events, ali se ne treniraju kao CTC znakovi jer bi se u character modu rastavili na &lt;, u, z, ...</a:t>
            </a:r>
            <a:endParaRPr lang="hr-HR" sz="1300"/>
          </a:p>
        </p:txBody>
      </p:sp>
      <p:sp>
        <p:nvSpPr>
          <p:cNvPr id="35" name="Rectangle"/>
          <p:cNvSpPr/>
          <p:nvPr/>
        </p:nvSpPr>
        <p:spPr>
          <a:xfrm>
            <a:off x="584200" y="5016500"/>
            <a:ext cx="8509000" cy="5969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6" name="Text"/>
          <p:cNvSpPr txBox="1"/>
          <p:nvPr/>
        </p:nvSpPr>
        <p:spPr>
          <a:xfrm>
            <a:off x="762000" y="5130800"/>
            <a:ext cx="8128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Isti preprocessing i isti split protokol koriste se za sve modele, pa razlike u WER/CER rezultatima dolaze iz arhitekture modela i dekodiranja, a ne iz promjene podataka.</a:t>
            </a:r>
            <a:endParaRPr lang="hr-HR" sz="13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epSpeech2 archite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05 · MODELI I HIPERPARAMETRI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Paper-small i dvije varijante na istom VEPRAD splitu.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Konfiguracije su paper-close unutar PaddleSpeech DS2 opcija, ali nisu doslovna reprodukcija Deep Speech 2 rada.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32750" cy="13716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32750" cy="3429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273300"/>
            <a:ext cx="8032750" cy="3429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Run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77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cell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352800" y="1644650"/>
            <a:ext cx="850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layers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787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hidden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194300" y="1644650"/>
            <a:ext cx="8191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params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115050" y="1644650"/>
            <a:ext cx="850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epochs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067550" y="1644650"/>
            <a:ext cx="13589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uloga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19812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paper_small_001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19812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GRU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352800" y="19812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5 biRNN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19812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194300" y="19812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36.21M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115050" y="19812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067550" y="19812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najbliže small DS2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3241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paper_7gru_001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3241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GRU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352800" y="23241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7 biRNN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3241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194300" y="23241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50.73M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115050" y="23241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067550" y="23241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+2 sloja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667000"/>
            <a:ext cx="167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paper_7lstm_001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66700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LSTM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352800" y="26670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7 biRNN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667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650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194300" y="26670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67.61M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115050" y="266700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20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067550" y="266700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usporedba cella</a:t>
            </a:r>
            <a:endParaRPr lang="hr-HR" sz="1020"/>
          </a:p>
        </p:txBody>
      </p:sp>
      <p:sp>
        <p:nvSpPr>
          <p:cNvPr id="37" name="Text"/>
          <p:cNvSpPr txBox="1"/>
          <p:nvPr/>
        </p:nvSpPr>
        <p:spPr>
          <a:xfrm>
            <a:off x="444500" y="314325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Što smo zadržali</a:t>
            </a:r>
            <a:endParaRPr lang="hr-HR" sz="1800"/>
          </a:p>
        </p:txBody>
      </p:sp>
      <p:sp>
        <p:nvSpPr>
          <p:cNvPr id="38" name="Rule"/>
          <p:cNvSpPr/>
          <p:nvPr/>
        </p:nvSpPr>
        <p:spPr>
          <a:xfrm>
            <a:off x="444500" y="3384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9" name="Text"/>
          <p:cNvSpPr txBox="1"/>
          <p:nvPr/>
        </p:nvSpPr>
        <p:spPr>
          <a:xfrm>
            <a:off x="444500" y="3524250"/>
            <a:ext cx="3111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20282C"/>
                </a:solidFill>
                <a:latin typeface="Aptos"/>
              </a:rPr>
              <a:t>• konvolucijski front-end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bidirectional offline recurrent layers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character CTC targets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beam-search decoding path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external word-level KenLM scorer</a:t>
            </a:r>
            <a:endParaRPr lang="hr-HR" sz="1300"/>
          </a:p>
        </p:txBody>
      </p:sp>
      <p:sp>
        <p:nvSpPr>
          <p:cNvPr id="40" name="Text"/>
          <p:cNvSpPr txBox="1"/>
          <p:nvPr/>
        </p:nvSpPr>
        <p:spPr>
          <a:xfrm>
            <a:off x="3873500" y="314325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Zajednički trening</a:t>
            </a:r>
            <a:endParaRPr lang="hr-HR" sz="1800"/>
          </a:p>
        </p:txBody>
      </p:sp>
      <p:sp>
        <p:nvSpPr>
          <p:cNvPr id="41" name="Rule"/>
          <p:cNvSpPr/>
          <p:nvPr/>
        </p:nvSpPr>
        <p:spPr>
          <a:xfrm>
            <a:off x="3873500" y="3384550"/>
            <a:ext cx="571500" cy="381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873500" y="3524250"/>
            <a:ext cx="3175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20282C"/>
                </a:solidFill>
                <a:latin typeface="Aptos"/>
              </a:rPr>
              <a:t>• fbank_kaldi 161 + CMVN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no data augmentation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batch size 32, 8 workers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lr 5e-4, decay 0.93, grad clip 5.0</a:t>
            </a:r>
            <a:endParaRPr lang="hr-HR" sz="1300"/>
          </a:p>
          <a:p>
            <a:r>
              <a:rPr lang="hr-HR" sz="1300">
                <a:solidFill>
                  <a:srgbClr val="20282C"/>
                </a:solidFill>
                <a:latin typeface="Aptos"/>
              </a:rPr>
              <a:t>• avg_1 checkpoint for final eval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7048500" y="3143250"/>
            <a:ext cx="39370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700" b="1">
                <a:solidFill>
                  <a:srgbClr val="15171A"/>
                </a:solidFill>
                <a:latin typeface="Aptos"/>
              </a:rPr>
              <a:t>Razlike od paper konfiguracije</a:t>
            </a:r>
            <a:endParaRPr lang="hr-HR" sz="1700"/>
          </a:p>
        </p:txBody>
      </p:sp>
      <p:sp>
        <p:nvSpPr>
          <p:cNvPr id="44" name="Rule"/>
          <p:cNvSpPr/>
          <p:nvPr/>
        </p:nvSpPr>
        <p:spPr>
          <a:xfrm>
            <a:off x="7048500" y="3511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5" name="Text"/>
          <p:cNvSpPr txBox="1"/>
          <p:nvPr/>
        </p:nvSpPr>
        <p:spPr>
          <a:xfrm>
            <a:off x="7048500" y="3670300"/>
            <a:ext cx="4064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40">
                <a:solidFill>
                  <a:srgbClr val="20282C"/>
                </a:solidFill>
                <a:latin typeface="Aptos"/>
              </a:rPr>
              <a:t>• BatchNorm nije izravno izložen u ovom DS2 pathu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exact log-spectrogram setup zamijenjen je fbank_kaldi značajkama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trainer koristi Adam + LR decay, ne Nesterov momentum</a:t>
            </a:r>
            <a:endParaRPr lang="hr-HR" sz="1240"/>
          </a:p>
          <a:p>
            <a:r>
              <a:rPr lang="hr-HR" sz="1240">
                <a:solidFill>
                  <a:srgbClr val="20282C"/>
                </a:solidFill>
                <a:latin typeface="Aptos"/>
              </a:rPr>
              <a:t>• lookahead convolution nije uključena bez source edita</a:t>
            </a:r>
            <a:endParaRPr lang="hr-HR" sz="1240"/>
          </a:p>
        </p:txBody>
      </p:sp>
      <p:sp>
        <p:nvSpPr>
          <p:cNvPr id="46" name="Rectangle"/>
          <p:cNvSpPr/>
          <p:nvPr/>
        </p:nvSpPr>
        <p:spPr>
          <a:xfrm>
            <a:off x="444500" y="5397500"/>
            <a:ext cx="8699500" cy="5715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09600" y="5524500"/>
            <a:ext cx="8382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Zaključak: najbliži paper-small run koristi 5 bidirectional GRU slojeva s hidden size 650; dublji GRU i LSTM služe kao kontrolirane varijante na istom VEPRAD splitu.</a:t>
            </a:r>
            <a:endParaRPr lang="hr-HR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06 · KENLM DEKODIRANJE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KenLM se trenira na VEPRAD train transkriptima.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Prije LM treninga izbacujemo VEPRAD train rečenice koje se previše poklapaju s val/test tekstom.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651000"/>
            <a:ext cx="3175000" cy="13335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09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LM corpus filter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09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train rows: 3057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kept for KenLM: 2290</a:t>
            </a:r>
            <a:endParaRPr lang="hr-HR" sz="1350"/>
          </a:p>
          <a:p>
            <a:r>
              <a:rPr lang="hr-HR" sz="1240">
                <a:solidFill>
                  <a:srgbClr val="F2DFC7"/>
                </a:solidFill>
                <a:latin typeface="Aptos"/>
              </a:rPr>
              <a:t>excluded: 767 exact/fuzzy held-out matches</a:t>
            </a:r>
            <a:endParaRPr lang="hr-HR" sz="1240"/>
          </a:p>
        </p:txBody>
      </p:sp>
      <p:sp>
        <p:nvSpPr>
          <p:cNvPr id="9" name="Rectangle"/>
          <p:cNvSpPr/>
          <p:nvPr/>
        </p:nvSpPr>
        <p:spPr>
          <a:xfrm>
            <a:off x="3873500" y="1651000"/>
            <a:ext cx="3175000" cy="13335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4038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Scorer</a:t>
            </a:r>
            <a:endParaRPr lang="hr-HR" sz="1800"/>
          </a:p>
        </p:txBody>
      </p:sp>
      <p:sp>
        <p:nvSpPr>
          <p:cNvPr id="11" name="Text"/>
          <p:cNvSpPr txBox="1"/>
          <p:nvPr/>
        </p:nvSpPr>
        <p:spPr>
          <a:xfrm>
            <a:off x="4038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word-level KenLM 5-gram</a:t>
            </a:r>
            <a:endParaRPr lang="hr-HR" sz="130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is_character_based = 0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max_order = 5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dict_size = 1181</a:t>
            </a:r>
            <a:endParaRPr lang="hr-HR" sz="1240"/>
          </a:p>
        </p:txBody>
      </p:sp>
      <p:sp>
        <p:nvSpPr>
          <p:cNvPr id="12" name="Rectangle"/>
          <p:cNvSpPr/>
          <p:nvPr/>
        </p:nvSpPr>
        <p:spPr>
          <a:xfrm>
            <a:off x="7302500" y="1651000"/>
            <a:ext cx="3175000" cy="13335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3" name="Text"/>
          <p:cNvSpPr txBox="1"/>
          <p:nvPr/>
        </p:nvSpPr>
        <p:spPr>
          <a:xfrm>
            <a:off x="7467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Sweep grid</a:t>
            </a:r>
            <a:endParaRPr lang="hr-HR" sz="1800"/>
          </a:p>
        </p:txBody>
      </p:sp>
      <p:sp>
        <p:nvSpPr>
          <p:cNvPr id="14" name="Text"/>
          <p:cNvSpPr txBox="1"/>
          <p:nvPr/>
        </p:nvSpPr>
        <p:spPr>
          <a:xfrm>
            <a:off x="7467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beam 5/10/20/40 at a=2.5 b=0.3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alpha: 2.0 / 3.0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beta: 0.0 / 0.6</a:t>
            </a:r>
            <a:endParaRPr lang="hr-HR" sz="1220"/>
          </a:p>
        </p:txBody>
      </p:sp>
      <p:sp>
        <p:nvSpPr>
          <p:cNvPr id="15" name="Text"/>
          <p:cNvSpPr txBox="1"/>
          <p:nvPr/>
        </p:nvSpPr>
        <p:spPr>
          <a:xfrm>
            <a:off x="444500" y="3429000"/>
            <a:ext cx="355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WER: beam1 → KenLM</a:t>
            </a:r>
            <a:endParaRPr lang="hr-HR" sz="1800"/>
          </a:p>
        </p:txBody>
      </p:sp>
      <p:sp>
        <p:nvSpPr>
          <p:cNvPr id="16" name="Rule"/>
          <p:cNvSpPr/>
          <p:nvPr/>
        </p:nvSpPr>
        <p:spPr>
          <a:xfrm>
            <a:off x="444500" y="36703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7" name="Table background"/>
          <p:cNvSpPr/>
          <p:nvPr/>
        </p:nvSpPr>
        <p:spPr>
          <a:xfrm>
            <a:off x="444500" y="3886200"/>
            <a:ext cx="44450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18" name="Table header"/>
          <p:cNvSpPr/>
          <p:nvPr/>
        </p:nvSpPr>
        <p:spPr>
          <a:xfrm>
            <a:off x="444500" y="3886200"/>
            <a:ext cx="4445000" cy="393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9" name="Table stripe"/>
          <p:cNvSpPr/>
          <p:nvPr/>
        </p:nvSpPr>
        <p:spPr>
          <a:xfrm>
            <a:off x="444500" y="4673600"/>
            <a:ext cx="44450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0" name="Header"/>
          <p:cNvSpPr txBox="1"/>
          <p:nvPr/>
        </p:nvSpPr>
        <p:spPr>
          <a:xfrm>
            <a:off x="495300" y="39433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Validation</a:t>
            </a:r>
            <a:endParaRPr lang="hr-HR" sz="950"/>
          </a:p>
        </p:txBody>
      </p:sp>
      <p:sp>
        <p:nvSpPr>
          <p:cNvPr id="21" name="Header"/>
          <p:cNvSpPr txBox="1"/>
          <p:nvPr/>
        </p:nvSpPr>
        <p:spPr>
          <a:xfrm>
            <a:off x="1701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all</a:t>
            </a:r>
            <a:endParaRPr lang="hr-HR" sz="950"/>
          </a:p>
        </p:txBody>
      </p:sp>
      <p:sp>
        <p:nvSpPr>
          <p:cNvPr id="22" name="Header"/>
          <p:cNvSpPr txBox="1"/>
          <p:nvPr/>
        </p:nvSpPr>
        <p:spPr>
          <a:xfrm>
            <a:off x="2781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seen</a:t>
            </a:r>
            <a:endParaRPr lang="hr-HR" sz="950"/>
          </a:p>
        </p:txBody>
      </p:sp>
      <p:sp>
        <p:nvSpPr>
          <p:cNvPr id="23" name="Header"/>
          <p:cNvSpPr txBox="1"/>
          <p:nvPr/>
        </p:nvSpPr>
        <p:spPr>
          <a:xfrm>
            <a:off x="3860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unseen</a:t>
            </a:r>
            <a:endParaRPr lang="hr-HR" sz="950"/>
          </a:p>
        </p:txBody>
      </p:sp>
      <p:sp>
        <p:nvSpPr>
          <p:cNvPr id="24" name="Cell"/>
          <p:cNvSpPr txBox="1"/>
          <p:nvPr/>
        </p:nvSpPr>
        <p:spPr>
          <a:xfrm>
            <a:off x="495300" y="43307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paper-small</a:t>
            </a:r>
            <a:endParaRPr lang="hr-HR" sz="950"/>
          </a:p>
        </p:txBody>
      </p:sp>
      <p:sp>
        <p:nvSpPr>
          <p:cNvPr id="25" name="Cell"/>
          <p:cNvSpPr txBox="1"/>
          <p:nvPr/>
        </p:nvSpPr>
        <p:spPr>
          <a:xfrm>
            <a:off x="1701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0.421→0.088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6" name="Cell"/>
          <p:cNvSpPr txBox="1"/>
          <p:nvPr/>
        </p:nvSpPr>
        <p:spPr>
          <a:xfrm>
            <a:off x="2781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0.345→0.074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7" name="Cell"/>
          <p:cNvSpPr txBox="1"/>
          <p:nvPr/>
        </p:nvSpPr>
        <p:spPr>
          <a:xfrm>
            <a:off x="3860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0.451→0.094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28" name="Cell"/>
          <p:cNvSpPr txBox="1"/>
          <p:nvPr/>
        </p:nvSpPr>
        <p:spPr>
          <a:xfrm>
            <a:off x="495300" y="47244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7GRU</a:t>
            </a:r>
            <a:endParaRPr lang="hr-HR" sz="950"/>
          </a:p>
        </p:txBody>
      </p:sp>
      <p:sp>
        <p:nvSpPr>
          <p:cNvPr id="29" name="Cell"/>
          <p:cNvSpPr txBox="1"/>
          <p:nvPr/>
        </p:nvSpPr>
        <p:spPr>
          <a:xfrm>
            <a:off x="1701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0.400→0.094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0" name="Cell"/>
          <p:cNvSpPr txBox="1"/>
          <p:nvPr/>
        </p:nvSpPr>
        <p:spPr>
          <a:xfrm>
            <a:off x="2781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0.328→0.077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1" name="Cell"/>
          <p:cNvSpPr txBox="1"/>
          <p:nvPr/>
        </p:nvSpPr>
        <p:spPr>
          <a:xfrm>
            <a:off x="3860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0.429→0.101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-77%</a:t>
            </a:r>
            <a:endParaRPr lang="hr-HR" sz="950"/>
          </a:p>
        </p:txBody>
      </p:sp>
      <p:sp>
        <p:nvSpPr>
          <p:cNvPr id="32" name="Cell"/>
          <p:cNvSpPr txBox="1"/>
          <p:nvPr/>
        </p:nvSpPr>
        <p:spPr>
          <a:xfrm>
            <a:off x="495300" y="51181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7LSTM</a:t>
            </a:r>
            <a:endParaRPr lang="hr-HR" sz="950"/>
          </a:p>
        </p:txBody>
      </p:sp>
      <p:sp>
        <p:nvSpPr>
          <p:cNvPr id="33" name="Cell"/>
          <p:cNvSpPr txBox="1"/>
          <p:nvPr/>
        </p:nvSpPr>
        <p:spPr>
          <a:xfrm>
            <a:off x="1701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0.515→0.123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-76%</a:t>
            </a:r>
            <a:endParaRPr lang="hr-HR" sz="950"/>
          </a:p>
        </p:txBody>
      </p:sp>
      <p:sp>
        <p:nvSpPr>
          <p:cNvPr id="34" name="Cell"/>
          <p:cNvSpPr txBox="1"/>
          <p:nvPr/>
        </p:nvSpPr>
        <p:spPr>
          <a:xfrm>
            <a:off x="2781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0.430→0.090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-79%</a:t>
            </a:r>
            <a:endParaRPr lang="hr-HR" sz="950"/>
          </a:p>
        </p:txBody>
      </p:sp>
      <p:sp>
        <p:nvSpPr>
          <p:cNvPr id="35" name="Cell"/>
          <p:cNvSpPr txBox="1"/>
          <p:nvPr/>
        </p:nvSpPr>
        <p:spPr>
          <a:xfrm>
            <a:off x="3860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0.549→0.137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-75%</a:t>
            </a:r>
            <a:endParaRPr lang="hr-HR" sz="950"/>
          </a:p>
        </p:txBody>
      </p:sp>
      <p:sp>
        <p:nvSpPr>
          <p:cNvPr id="36" name="Table background"/>
          <p:cNvSpPr/>
          <p:nvPr/>
        </p:nvSpPr>
        <p:spPr>
          <a:xfrm>
            <a:off x="5207000" y="3886200"/>
            <a:ext cx="44450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37" name="Table header"/>
          <p:cNvSpPr/>
          <p:nvPr/>
        </p:nvSpPr>
        <p:spPr>
          <a:xfrm>
            <a:off x="5207000" y="3886200"/>
            <a:ext cx="4445000" cy="393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8" name="Table stripe"/>
          <p:cNvSpPr/>
          <p:nvPr/>
        </p:nvSpPr>
        <p:spPr>
          <a:xfrm>
            <a:off x="5207000" y="4673600"/>
            <a:ext cx="44450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39" name="Header"/>
          <p:cNvSpPr txBox="1"/>
          <p:nvPr/>
        </p:nvSpPr>
        <p:spPr>
          <a:xfrm>
            <a:off x="5257800" y="39433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Frozen test</a:t>
            </a:r>
            <a:endParaRPr lang="hr-HR" sz="950"/>
          </a:p>
        </p:txBody>
      </p:sp>
      <p:sp>
        <p:nvSpPr>
          <p:cNvPr id="40" name="Header"/>
          <p:cNvSpPr txBox="1"/>
          <p:nvPr/>
        </p:nvSpPr>
        <p:spPr>
          <a:xfrm>
            <a:off x="6464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all</a:t>
            </a:r>
            <a:endParaRPr lang="hr-HR" sz="950"/>
          </a:p>
        </p:txBody>
      </p:sp>
      <p:sp>
        <p:nvSpPr>
          <p:cNvPr id="41" name="Header"/>
          <p:cNvSpPr txBox="1"/>
          <p:nvPr/>
        </p:nvSpPr>
        <p:spPr>
          <a:xfrm>
            <a:off x="75438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seen</a:t>
            </a:r>
            <a:endParaRPr lang="hr-HR" sz="950"/>
          </a:p>
        </p:txBody>
      </p:sp>
      <p:sp>
        <p:nvSpPr>
          <p:cNvPr id="42" name="Header"/>
          <p:cNvSpPr txBox="1"/>
          <p:nvPr/>
        </p:nvSpPr>
        <p:spPr>
          <a:xfrm>
            <a:off x="8623300" y="39433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F8F3E8"/>
                </a:solidFill>
                <a:latin typeface="Aptos"/>
              </a:rPr>
              <a:t>unseen</a:t>
            </a:r>
            <a:endParaRPr lang="hr-HR" sz="950"/>
          </a:p>
        </p:txBody>
      </p:sp>
      <p:sp>
        <p:nvSpPr>
          <p:cNvPr id="43" name="Cell"/>
          <p:cNvSpPr txBox="1"/>
          <p:nvPr/>
        </p:nvSpPr>
        <p:spPr>
          <a:xfrm>
            <a:off x="5257800" y="43307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paper-small</a:t>
            </a:r>
            <a:endParaRPr lang="hr-HR" sz="950"/>
          </a:p>
        </p:txBody>
      </p:sp>
      <p:sp>
        <p:nvSpPr>
          <p:cNvPr id="44" name="Cell"/>
          <p:cNvSpPr txBox="1"/>
          <p:nvPr/>
        </p:nvSpPr>
        <p:spPr>
          <a:xfrm>
            <a:off x="6464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0.453→0.118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-74%</a:t>
            </a:r>
            <a:endParaRPr lang="hr-HR" sz="950"/>
          </a:p>
        </p:txBody>
      </p:sp>
      <p:sp>
        <p:nvSpPr>
          <p:cNvPr id="45" name="Cell"/>
          <p:cNvSpPr txBox="1"/>
          <p:nvPr/>
        </p:nvSpPr>
        <p:spPr>
          <a:xfrm>
            <a:off x="75438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0.350→0.075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-78%</a:t>
            </a:r>
            <a:endParaRPr lang="hr-HR" sz="950"/>
          </a:p>
        </p:txBody>
      </p:sp>
      <p:sp>
        <p:nvSpPr>
          <p:cNvPr id="46" name="Cell"/>
          <p:cNvSpPr txBox="1"/>
          <p:nvPr/>
        </p:nvSpPr>
        <p:spPr>
          <a:xfrm>
            <a:off x="8623300" y="43307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0.554→0.160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-71%</a:t>
            </a:r>
            <a:endParaRPr lang="hr-HR" sz="950"/>
          </a:p>
        </p:txBody>
      </p:sp>
      <p:sp>
        <p:nvSpPr>
          <p:cNvPr id="47" name="Cell"/>
          <p:cNvSpPr txBox="1"/>
          <p:nvPr/>
        </p:nvSpPr>
        <p:spPr>
          <a:xfrm>
            <a:off x="5257800" y="47244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7GRU</a:t>
            </a:r>
            <a:endParaRPr lang="hr-HR" sz="950"/>
          </a:p>
        </p:txBody>
      </p:sp>
      <p:sp>
        <p:nvSpPr>
          <p:cNvPr id="48" name="Cell"/>
          <p:cNvSpPr txBox="1"/>
          <p:nvPr/>
        </p:nvSpPr>
        <p:spPr>
          <a:xfrm>
            <a:off x="6464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0.429→0.127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-70%</a:t>
            </a:r>
            <a:endParaRPr lang="hr-HR" sz="950"/>
          </a:p>
        </p:txBody>
      </p:sp>
      <p:sp>
        <p:nvSpPr>
          <p:cNvPr id="49" name="Cell"/>
          <p:cNvSpPr txBox="1"/>
          <p:nvPr/>
        </p:nvSpPr>
        <p:spPr>
          <a:xfrm>
            <a:off x="75438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0.324→0.083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-75%</a:t>
            </a:r>
            <a:endParaRPr lang="hr-HR" sz="950"/>
          </a:p>
        </p:txBody>
      </p:sp>
      <p:sp>
        <p:nvSpPr>
          <p:cNvPr id="50" name="Cell"/>
          <p:cNvSpPr txBox="1"/>
          <p:nvPr/>
        </p:nvSpPr>
        <p:spPr>
          <a:xfrm>
            <a:off x="8623300" y="47244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0.532→0.171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-68%</a:t>
            </a:r>
            <a:endParaRPr lang="hr-HR" sz="950"/>
          </a:p>
        </p:txBody>
      </p:sp>
      <p:sp>
        <p:nvSpPr>
          <p:cNvPr id="51" name="Cell"/>
          <p:cNvSpPr txBox="1"/>
          <p:nvPr/>
        </p:nvSpPr>
        <p:spPr>
          <a:xfrm>
            <a:off x="5257800" y="51181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 b="1">
                <a:solidFill>
                  <a:srgbClr val="15171A"/>
                </a:solidFill>
                <a:latin typeface="Aptos"/>
              </a:rPr>
              <a:t>7LSTM</a:t>
            </a:r>
            <a:endParaRPr lang="hr-HR" sz="950"/>
          </a:p>
        </p:txBody>
      </p:sp>
      <p:sp>
        <p:nvSpPr>
          <p:cNvPr id="52" name="Cell"/>
          <p:cNvSpPr txBox="1"/>
          <p:nvPr/>
        </p:nvSpPr>
        <p:spPr>
          <a:xfrm>
            <a:off x="6464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0.535→0.151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-72%</a:t>
            </a:r>
            <a:endParaRPr lang="hr-HR" sz="950"/>
          </a:p>
        </p:txBody>
      </p:sp>
      <p:sp>
        <p:nvSpPr>
          <p:cNvPr id="53" name="Cell"/>
          <p:cNvSpPr txBox="1"/>
          <p:nvPr/>
        </p:nvSpPr>
        <p:spPr>
          <a:xfrm>
            <a:off x="75438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0.440→0.095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-78%</a:t>
            </a:r>
            <a:endParaRPr lang="hr-HR" sz="950"/>
          </a:p>
        </p:txBody>
      </p:sp>
      <p:sp>
        <p:nvSpPr>
          <p:cNvPr id="54" name="Cell"/>
          <p:cNvSpPr txBox="1"/>
          <p:nvPr/>
        </p:nvSpPr>
        <p:spPr>
          <a:xfrm>
            <a:off x="8623300" y="51181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50">
                <a:solidFill>
                  <a:srgbClr val="20282C"/>
                </a:solidFill>
                <a:latin typeface="Aptos"/>
              </a:rPr>
              <a:t>0.629→0.206</a:t>
            </a:r>
            <a:endParaRPr lang="hr-HR" sz="950"/>
          </a:p>
          <a:p>
            <a:r>
              <a:rPr lang="hr-HR" sz="950">
                <a:solidFill>
                  <a:srgbClr val="20282C"/>
                </a:solidFill>
                <a:latin typeface="Aptos"/>
              </a:rPr>
              <a:t>-67%</a:t>
            </a:r>
            <a:endParaRPr lang="hr-HR" sz="950"/>
          </a:p>
        </p:txBody>
      </p:sp>
      <p:sp>
        <p:nvSpPr>
          <p:cNvPr id="55" name="Rectangle"/>
          <p:cNvSpPr/>
          <p:nvPr/>
        </p:nvSpPr>
        <p:spPr>
          <a:xfrm>
            <a:off x="444500" y="5651500"/>
            <a:ext cx="9207500" cy="368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96900" y="5740400"/>
            <a:ext cx="8826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Sve KenLM vrijednosti koriste najbolji validation-selected decoder: beam 40, alpha 2.5, beta 0.3.</a:t>
            </a:r>
            <a:endParaRPr lang="hr-HR" sz="12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07 · REZULTATI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Najbolji VEPRAD rezultat: paper-small GRU + KenLM.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VEPRAD validation odabire beam 40; KenLM smanjuje WER nekoliko puta u odnosu na no-LM CTC decoding.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64500" cy="1524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64500" cy="381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349500"/>
            <a:ext cx="8064500" cy="3810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Model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No LM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289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Fixed LM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test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3848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val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4008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Seen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480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Unseen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2019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0.453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289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0.155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0.118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3848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0.088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4008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0.075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480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0.160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400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0.429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289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0.142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0.127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3848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0.094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4008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0.083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480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0.171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781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0.535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289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0.175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0.151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3848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0.123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4008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0.095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480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0.206</a:t>
            </a:r>
            <a:endParaRPr lang="hr-HR" sz="1020"/>
          </a:p>
        </p:txBody>
      </p:sp>
      <p:sp>
        <p:nvSpPr>
          <p:cNvPr id="37" name="Rectangle"/>
          <p:cNvSpPr/>
          <p:nvPr/>
        </p:nvSpPr>
        <p:spPr>
          <a:xfrm>
            <a:off x="571500" y="3479800"/>
            <a:ext cx="2286000" cy="762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8" name="Text"/>
          <p:cNvSpPr txBox="1"/>
          <p:nvPr/>
        </p:nvSpPr>
        <p:spPr>
          <a:xfrm>
            <a:off x="7239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Best VEPRAD model</a:t>
            </a:r>
            <a:endParaRPr lang="hr-HR" sz="1300"/>
          </a:p>
        </p:txBody>
      </p:sp>
      <p:sp>
        <p:nvSpPr>
          <p:cNvPr id="39" name="Text"/>
          <p:cNvSpPr txBox="1"/>
          <p:nvPr/>
        </p:nvSpPr>
        <p:spPr>
          <a:xfrm>
            <a:off x="7239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paper-small GRU</a:t>
            </a:r>
            <a:endParaRPr lang="hr-HR" sz="1850"/>
          </a:p>
        </p:txBody>
      </p:sp>
      <p:sp>
        <p:nvSpPr>
          <p:cNvPr id="40" name="Text"/>
          <p:cNvSpPr txBox="1"/>
          <p:nvPr/>
        </p:nvSpPr>
        <p:spPr>
          <a:xfrm>
            <a:off x="7239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0.118 test WER</a:t>
            </a:r>
            <a:endParaRPr lang="hr-HR" sz="1050"/>
          </a:p>
        </p:txBody>
      </p:sp>
      <p:sp>
        <p:nvSpPr>
          <p:cNvPr id="41" name="Rectangle"/>
          <p:cNvSpPr/>
          <p:nvPr/>
        </p:nvSpPr>
        <p:spPr>
          <a:xfrm>
            <a:off x="3143250" y="3479800"/>
            <a:ext cx="2286000" cy="762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29565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VEPRAD LM effect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329565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0.453 → 0.118</a:t>
            </a:r>
            <a:endParaRPr lang="hr-HR" sz="1850"/>
          </a:p>
        </p:txBody>
      </p:sp>
      <p:sp>
        <p:nvSpPr>
          <p:cNvPr id="44" name="Text"/>
          <p:cNvSpPr txBox="1"/>
          <p:nvPr/>
        </p:nvSpPr>
        <p:spPr>
          <a:xfrm>
            <a:off x="329565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best model test WER</a:t>
            </a:r>
            <a:endParaRPr lang="hr-HR" sz="1050"/>
          </a:p>
        </p:txBody>
      </p:sp>
      <p:sp>
        <p:nvSpPr>
          <p:cNvPr id="45" name="Rectangle"/>
          <p:cNvSpPr/>
          <p:nvPr/>
        </p:nvSpPr>
        <p:spPr>
          <a:xfrm>
            <a:off x="5715000" y="3479800"/>
            <a:ext cx="2286000" cy="7620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6" name="Text"/>
          <p:cNvSpPr txBox="1"/>
          <p:nvPr/>
        </p:nvSpPr>
        <p:spPr>
          <a:xfrm>
            <a:off x="58674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Speaker gap</a:t>
            </a:r>
            <a:endParaRPr lang="hr-HR" sz="1300"/>
          </a:p>
        </p:txBody>
      </p:sp>
      <p:sp>
        <p:nvSpPr>
          <p:cNvPr id="47" name="Text"/>
          <p:cNvSpPr txBox="1"/>
          <p:nvPr/>
        </p:nvSpPr>
        <p:spPr>
          <a:xfrm>
            <a:off x="58674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15171A"/>
                </a:solidFill>
                <a:latin typeface="Aptos"/>
              </a:rPr>
              <a:t>0.075 vs 0.160</a:t>
            </a:r>
            <a:endParaRPr lang="hr-HR" sz="1850"/>
          </a:p>
        </p:txBody>
      </p:sp>
      <p:sp>
        <p:nvSpPr>
          <p:cNvPr id="48" name="Text"/>
          <p:cNvSpPr txBox="1"/>
          <p:nvPr/>
        </p:nvSpPr>
        <p:spPr>
          <a:xfrm>
            <a:off x="58674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seen vs unseen VEPRAD</a:t>
            </a:r>
            <a:endParaRPr lang="hr-HR" sz="1050"/>
          </a:p>
        </p:txBody>
      </p:sp>
      <p:sp>
        <p:nvSpPr>
          <p:cNvPr id="49" name="Text"/>
          <p:cNvSpPr txBox="1"/>
          <p:nvPr/>
        </p:nvSpPr>
        <p:spPr>
          <a:xfrm>
            <a:off x="444500" y="4667250"/>
            <a:ext cx="3873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Zaključci</a:t>
            </a:r>
            <a:endParaRPr lang="hr-HR" sz="1900"/>
          </a:p>
        </p:txBody>
      </p:sp>
      <p:sp>
        <p:nvSpPr>
          <p:cNvPr id="50" name="Rule"/>
          <p:cNvSpPr/>
          <p:nvPr/>
        </p:nvSpPr>
        <p:spPr>
          <a:xfrm>
            <a:off x="444500" y="4908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51" name="Text"/>
          <p:cNvSpPr txBox="1"/>
          <p:nvPr/>
        </p:nvSpPr>
        <p:spPr>
          <a:xfrm>
            <a:off x="444500" y="5080000"/>
            <a:ext cx="447675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Sustav radi end-to-end na VEPRAD-u: splitovi, trening, dekodiranje i metrike su reproducibilni.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Dublje nije automatski bolje: 5-layer GRU je bolji od 7GRU i 7LSTM u ovoj postavci.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KenLM je ključan jer VEPRAD sadrži mnogo ponavljajućih vremenskih fraza.</a:t>
            </a:r>
            <a:endParaRPr lang="hr-HR" sz="1350"/>
          </a:p>
        </p:txBody>
      </p:sp>
      <p:sp>
        <p:nvSpPr>
          <p:cNvPr id="52" name="Text"/>
          <p:cNvSpPr txBox="1"/>
          <p:nvPr/>
        </p:nvSpPr>
        <p:spPr>
          <a:xfrm>
            <a:off x="5683250" y="466725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Što bi bilo iduće</a:t>
            </a:r>
            <a:endParaRPr lang="hr-HR" sz="1900"/>
          </a:p>
        </p:txBody>
      </p:sp>
      <p:sp>
        <p:nvSpPr>
          <p:cNvPr id="53" name="Rule"/>
          <p:cNvSpPr/>
          <p:nvPr/>
        </p:nvSpPr>
        <p:spPr>
          <a:xfrm>
            <a:off x="5683250" y="4908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54" name="Text"/>
          <p:cNvSpPr txBox="1"/>
          <p:nvPr/>
        </p:nvSpPr>
        <p:spPr>
          <a:xfrm>
            <a:off x="5683250" y="5080000"/>
            <a:ext cx="3937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više CV splitova za stabilniju procjenu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n-gram order sweep za KenLM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eventualno model/feature promjene koje zahtijevaju PaddleSpeech source edit</a:t>
            </a:r>
            <a:endParaRPr lang="hr-HR" sz="13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08 · NAJBOLJI MODEL?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Fine-tune postojećeg pred-treniranog modela.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CLASSLA Wav2Vec2 fine-tune na train-setu; nije PaddleSpeech/DeepSpeech2 trening.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587500"/>
            <a:ext cx="2667000" cy="92075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59690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Model</a:t>
            </a:r>
            <a:endParaRPr lang="hr-HR" sz="1300"/>
          </a:p>
        </p:txBody>
      </p:sp>
      <p:sp>
        <p:nvSpPr>
          <p:cNvPr id="8" name="Text"/>
          <p:cNvSpPr txBox="1"/>
          <p:nvPr/>
        </p:nvSpPr>
        <p:spPr>
          <a:xfrm>
            <a:off x="59690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CLASSLA Wav2Vec2</a:t>
            </a:r>
            <a:endParaRPr lang="hr-HR" sz="1500"/>
          </a:p>
        </p:txBody>
      </p:sp>
      <p:sp>
        <p:nvSpPr>
          <p:cNvPr id="9" name="Text"/>
          <p:cNvSpPr txBox="1"/>
          <p:nvPr/>
        </p:nvSpPr>
        <p:spPr>
          <a:xfrm>
            <a:off x="59690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F8F3E8"/>
                </a:solidFill>
                <a:latin typeface="Aptos"/>
              </a:rPr>
              <a:t>Large HR checkpoint + LM decoder</a:t>
            </a:r>
            <a:endParaRPr lang="hr-HR" sz="960"/>
          </a:p>
        </p:txBody>
      </p:sp>
      <p:sp>
        <p:nvSpPr>
          <p:cNvPr id="10" name="Rectangle"/>
          <p:cNvSpPr/>
          <p:nvPr/>
        </p:nvSpPr>
        <p:spPr>
          <a:xfrm>
            <a:off x="3587750" y="1587500"/>
            <a:ext cx="2667000" cy="92075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374015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Fine-tune</a:t>
            </a:r>
            <a:endParaRPr lang="hr-HR" sz="1300"/>
          </a:p>
        </p:txBody>
      </p:sp>
      <p:sp>
        <p:nvSpPr>
          <p:cNvPr id="12" name="Text"/>
          <p:cNvSpPr txBox="1"/>
          <p:nvPr/>
        </p:nvSpPr>
        <p:spPr>
          <a:xfrm>
            <a:off x="374015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8 epochs · 408 updates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374015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F8F3E8"/>
                </a:solidFill>
                <a:latin typeface="Aptos"/>
              </a:rPr>
              <a:t>3298 train iskaza, 5.03 h, fp16, lr 3e-4</a:t>
            </a:r>
            <a:endParaRPr lang="hr-HR" sz="960"/>
          </a:p>
        </p:txBody>
      </p:sp>
      <p:sp>
        <p:nvSpPr>
          <p:cNvPr id="14" name="Rectangle"/>
          <p:cNvSpPr/>
          <p:nvPr/>
        </p:nvSpPr>
        <p:spPr>
          <a:xfrm>
            <a:off x="6731000" y="1587500"/>
            <a:ext cx="2667000" cy="92075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6883400" y="17272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Split</a:t>
            </a:r>
            <a:endParaRPr lang="hr-HR" sz="1300"/>
          </a:p>
        </p:txBody>
      </p:sp>
      <p:sp>
        <p:nvSpPr>
          <p:cNvPr id="16" name="Text"/>
          <p:cNvSpPr txBox="1"/>
          <p:nvPr/>
        </p:nvSpPr>
        <p:spPr>
          <a:xfrm>
            <a:off x="6883400" y="1955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clean CV + frozen test</a:t>
            </a:r>
            <a:endParaRPr lang="hr-HR" sz="1500"/>
          </a:p>
        </p:txBody>
      </p:sp>
      <p:sp>
        <p:nvSpPr>
          <p:cNvPr id="17" name="Text"/>
          <p:cNvSpPr txBox="1"/>
          <p:nvPr/>
        </p:nvSpPr>
        <p:spPr>
          <a:xfrm>
            <a:off x="6883400" y="2209800"/>
            <a:ext cx="228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60">
                <a:solidFill>
                  <a:srgbClr val="15171A"/>
                </a:solidFill>
                <a:latin typeface="Aptos"/>
              </a:rPr>
              <a:t>val unseen: m05/m11/z07; test unseen: m04/z06/z14</a:t>
            </a:r>
            <a:endParaRPr lang="hr-HR" sz="960"/>
          </a:p>
        </p:txBody>
      </p:sp>
      <p:sp>
        <p:nvSpPr>
          <p:cNvPr id="18" name="Text"/>
          <p:cNvSpPr txBox="1"/>
          <p:nvPr/>
        </p:nvSpPr>
        <p:spPr>
          <a:xfrm>
            <a:off x="444500" y="2806700"/>
            <a:ext cx="4064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Validation + test rezultati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44500" y="30480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44500" y="3270250"/>
            <a:ext cx="8064500" cy="1778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44500" y="3270250"/>
            <a:ext cx="8064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44500" y="3981450"/>
            <a:ext cx="8064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44500" y="4692650"/>
            <a:ext cx="8064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Header"/>
          <p:cNvSpPr txBox="1"/>
          <p:nvPr/>
        </p:nvSpPr>
        <p:spPr>
          <a:xfrm>
            <a:off x="495300" y="3327400"/>
            <a:ext cx="193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Decoder</a:t>
            </a:r>
            <a:endParaRPr lang="hr-HR" sz="900"/>
          </a:p>
        </p:txBody>
      </p:sp>
      <p:sp>
        <p:nvSpPr>
          <p:cNvPr id="25" name="Header"/>
          <p:cNvSpPr txBox="1"/>
          <p:nvPr/>
        </p:nvSpPr>
        <p:spPr>
          <a:xfrm>
            <a:off x="252730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Val WER</a:t>
            </a:r>
            <a:endParaRPr lang="hr-HR" sz="900"/>
          </a:p>
        </p:txBody>
      </p:sp>
      <p:sp>
        <p:nvSpPr>
          <p:cNvPr id="26" name="Header"/>
          <p:cNvSpPr txBox="1"/>
          <p:nvPr/>
        </p:nvSpPr>
        <p:spPr>
          <a:xfrm>
            <a:off x="344805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Val CER</a:t>
            </a:r>
            <a:endParaRPr lang="hr-HR" sz="900"/>
          </a:p>
        </p:txBody>
      </p:sp>
      <p:sp>
        <p:nvSpPr>
          <p:cNvPr id="27" name="Header"/>
          <p:cNvSpPr txBox="1"/>
          <p:nvPr/>
        </p:nvSpPr>
        <p:spPr>
          <a:xfrm>
            <a:off x="436880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WER</a:t>
            </a:r>
            <a:endParaRPr lang="hr-HR" sz="900"/>
          </a:p>
        </p:txBody>
      </p:sp>
      <p:sp>
        <p:nvSpPr>
          <p:cNvPr id="28" name="Header"/>
          <p:cNvSpPr txBox="1"/>
          <p:nvPr/>
        </p:nvSpPr>
        <p:spPr>
          <a:xfrm>
            <a:off x="5289550" y="3327400"/>
            <a:ext cx="819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CER</a:t>
            </a:r>
            <a:endParaRPr lang="hr-HR" sz="900"/>
          </a:p>
        </p:txBody>
      </p:sp>
      <p:sp>
        <p:nvSpPr>
          <p:cNvPr id="29" name="Header"/>
          <p:cNvSpPr txBox="1"/>
          <p:nvPr/>
        </p:nvSpPr>
        <p:spPr>
          <a:xfrm>
            <a:off x="6210300" y="3327400"/>
            <a:ext cx="1073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unseen WER</a:t>
            </a:r>
            <a:endParaRPr lang="hr-HR" sz="900"/>
          </a:p>
        </p:txBody>
      </p:sp>
      <p:sp>
        <p:nvSpPr>
          <p:cNvPr id="30" name="Header"/>
          <p:cNvSpPr txBox="1"/>
          <p:nvPr/>
        </p:nvSpPr>
        <p:spPr>
          <a:xfrm>
            <a:off x="7385050" y="3327400"/>
            <a:ext cx="107315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F8F3E8"/>
                </a:solidFill>
                <a:latin typeface="Aptos"/>
              </a:rPr>
              <a:t>Test unseen CER</a:t>
            </a:r>
            <a:endParaRPr lang="hr-HR" sz="900"/>
          </a:p>
        </p:txBody>
      </p:sp>
      <p:sp>
        <p:nvSpPr>
          <p:cNvPr id="31" name="Cell"/>
          <p:cNvSpPr txBox="1"/>
          <p:nvPr/>
        </p:nvSpPr>
        <p:spPr>
          <a:xfrm>
            <a:off x="495300" y="36766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pre-finetune greedy</a:t>
            </a:r>
            <a:endParaRPr lang="hr-HR" sz="900"/>
          </a:p>
        </p:txBody>
      </p:sp>
      <p:sp>
        <p:nvSpPr>
          <p:cNvPr id="32" name="Cell"/>
          <p:cNvSpPr txBox="1"/>
          <p:nvPr/>
        </p:nvSpPr>
        <p:spPr>
          <a:xfrm>
            <a:off x="252730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0.303</a:t>
            </a:r>
            <a:endParaRPr lang="hr-HR" sz="900"/>
          </a:p>
        </p:txBody>
      </p:sp>
      <p:sp>
        <p:nvSpPr>
          <p:cNvPr id="33" name="Cell"/>
          <p:cNvSpPr txBox="1"/>
          <p:nvPr/>
        </p:nvSpPr>
        <p:spPr>
          <a:xfrm>
            <a:off x="344805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0.149</a:t>
            </a:r>
            <a:endParaRPr lang="hr-HR" sz="900"/>
          </a:p>
        </p:txBody>
      </p:sp>
      <p:sp>
        <p:nvSpPr>
          <p:cNvPr id="34" name="Cell"/>
          <p:cNvSpPr txBox="1"/>
          <p:nvPr/>
        </p:nvSpPr>
        <p:spPr>
          <a:xfrm>
            <a:off x="436880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0.309</a:t>
            </a:r>
            <a:endParaRPr lang="hr-HR" sz="900"/>
          </a:p>
        </p:txBody>
      </p:sp>
      <p:sp>
        <p:nvSpPr>
          <p:cNvPr id="35" name="Cell"/>
          <p:cNvSpPr txBox="1"/>
          <p:nvPr/>
        </p:nvSpPr>
        <p:spPr>
          <a:xfrm>
            <a:off x="5289550" y="36766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0.154</a:t>
            </a:r>
            <a:endParaRPr lang="hr-HR" sz="900"/>
          </a:p>
        </p:txBody>
      </p:sp>
      <p:sp>
        <p:nvSpPr>
          <p:cNvPr id="36" name="Cell"/>
          <p:cNvSpPr txBox="1"/>
          <p:nvPr/>
        </p:nvSpPr>
        <p:spPr>
          <a:xfrm>
            <a:off x="6210300" y="36766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0.337</a:t>
            </a:r>
            <a:endParaRPr lang="hr-HR" sz="900"/>
          </a:p>
        </p:txBody>
      </p:sp>
      <p:sp>
        <p:nvSpPr>
          <p:cNvPr id="37" name="Cell"/>
          <p:cNvSpPr txBox="1"/>
          <p:nvPr/>
        </p:nvSpPr>
        <p:spPr>
          <a:xfrm>
            <a:off x="7385050" y="36766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0.169</a:t>
            </a:r>
            <a:endParaRPr lang="hr-HR" sz="900"/>
          </a:p>
        </p:txBody>
      </p:sp>
      <p:sp>
        <p:nvSpPr>
          <p:cNvPr id="38" name="Cell"/>
          <p:cNvSpPr txBox="1"/>
          <p:nvPr/>
        </p:nvSpPr>
        <p:spPr>
          <a:xfrm>
            <a:off x="495300" y="40322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pre-finetune bundled LM</a:t>
            </a:r>
            <a:endParaRPr lang="hr-HR" sz="900"/>
          </a:p>
        </p:txBody>
      </p:sp>
      <p:sp>
        <p:nvSpPr>
          <p:cNvPr id="39" name="Cell"/>
          <p:cNvSpPr txBox="1"/>
          <p:nvPr/>
        </p:nvSpPr>
        <p:spPr>
          <a:xfrm>
            <a:off x="252730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0.284</a:t>
            </a:r>
            <a:endParaRPr lang="hr-HR" sz="900"/>
          </a:p>
        </p:txBody>
      </p:sp>
      <p:sp>
        <p:nvSpPr>
          <p:cNvPr id="40" name="Cell"/>
          <p:cNvSpPr txBox="1"/>
          <p:nvPr/>
        </p:nvSpPr>
        <p:spPr>
          <a:xfrm>
            <a:off x="344805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0.147</a:t>
            </a:r>
            <a:endParaRPr lang="hr-HR" sz="900"/>
          </a:p>
        </p:txBody>
      </p:sp>
      <p:sp>
        <p:nvSpPr>
          <p:cNvPr id="41" name="Cell"/>
          <p:cNvSpPr txBox="1"/>
          <p:nvPr/>
        </p:nvSpPr>
        <p:spPr>
          <a:xfrm>
            <a:off x="436880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0.294</a:t>
            </a:r>
            <a:endParaRPr lang="hr-HR" sz="900"/>
          </a:p>
        </p:txBody>
      </p:sp>
      <p:sp>
        <p:nvSpPr>
          <p:cNvPr id="42" name="Cell"/>
          <p:cNvSpPr txBox="1"/>
          <p:nvPr/>
        </p:nvSpPr>
        <p:spPr>
          <a:xfrm>
            <a:off x="5289550" y="40322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0.155</a:t>
            </a:r>
            <a:endParaRPr lang="hr-HR" sz="900"/>
          </a:p>
        </p:txBody>
      </p:sp>
      <p:sp>
        <p:nvSpPr>
          <p:cNvPr id="43" name="Cell"/>
          <p:cNvSpPr txBox="1"/>
          <p:nvPr/>
        </p:nvSpPr>
        <p:spPr>
          <a:xfrm>
            <a:off x="6210300" y="40322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0.320</a:t>
            </a:r>
            <a:endParaRPr lang="hr-HR" sz="900"/>
          </a:p>
        </p:txBody>
      </p:sp>
      <p:sp>
        <p:nvSpPr>
          <p:cNvPr id="44" name="Cell"/>
          <p:cNvSpPr txBox="1"/>
          <p:nvPr/>
        </p:nvSpPr>
        <p:spPr>
          <a:xfrm>
            <a:off x="7385050" y="40322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0.170</a:t>
            </a:r>
            <a:endParaRPr lang="hr-HR" sz="900"/>
          </a:p>
        </p:txBody>
      </p:sp>
      <p:sp>
        <p:nvSpPr>
          <p:cNvPr id="45" name="Cell"/>
          <p:cNvSpPr txBox="1"/>
          <p:nvPr/>
        </p:nvSpPr>
        <p:spPr>
          <a:xfrm>
            <a:off x="495300" y="43878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fine-tuned greedy</a:t>
            </a:r>
            <a:endParaRPr lang="hr-HR" sz="900"/>
          </a:p>
        </p:txBody>
      </p:sp>
      <p:sp>
        <p:nvSpPr>
          <p:cNvPr id="46" name="Cell"/>
          <p:cNvSpPr txBox="1"/>
          <p:nvPr/>
        </p:nvSpPr>
        <p:spPr>
          <a:xfrm>
            <a:off x="252730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0.031</a:t>
            </a:r>
            <a:endParaRPr lang="hr-HR" sz="900"/>
          </a:p>
        </p:txBody>
      </p:sp>
      <p:sp>
        <p:nvSpPr>
          <p:cNvPr id="47" name="Cell"/>
          <p:cNvSpPr txBox="1"/>
          <p:nvPr/>
        </p:nvSpPr>
        <p:spPr>
          <a:xfrm>
            <a:off x="344805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0.008</a:t>
            </a:r>
            <a:endParaRPr lang="hr-HR" sz="900"/>
          </a:p>
        </p:txBody>
      </p:sp>
      <p:sp>
        <p:nvSpPr>
          <p:cNvPr id="48" name="Cell"/>
          <p:cNvSpPr txBox="1"/>
          <p:nvPr/>
        </p:nvSpPr>
        <p:spPr>
          <a:xfrm>
            <a:off x="436880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0.039</a:t>
            </a:r>
            <a:endParaRPr lang="hr-HR" sz="900"/>
          </a:p>
        </p:txBody>
      </p:sp>
      <p:sp>
        <p:nvSpPr>
          <p:cNvPr id="49" name="Cell"/>
          <p:cNvSpPr txBox="1"/>
          <p:nvPr/>
        </p:nvSpPr>
        <p:spPr>
          <a:xfrm>
            <a:off x="5289550" y="43878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0.008</a:t>
            </a:r>
            <a:endParaRPr lang="hr-HR" sz="900"/>
          </a:p>
        </p:txBody>
      </p:sp>
      <p:sp>
        <p:nvSpPr>
          <p:cNvPr id="50" name="Cell"/>
          <p:cNvSpPr txBox="1"/>
          <p:nvPr/>
        </p:nvSpPr>
        <p:spPr>
          <a:xfrm>
            <a:off x="6210300" y="43878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0.050</a:t>
            </a:r>
            <a:endParaRPr lang="hr-HR" sz="900"/>
          </a:p>
        </p:txBody>
      </p:sp>
      <p:sp>
        <p:nvSpPr>
          <p:cNvPr id="51" name="Cell"/>
          <p:cNvSpPr txBox="1"/>
          <p:nvPr/>
        </p:nvSpPr>
        <p:spPr>
          <a:xfrm>
            <a:off x="7385050" y="43878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0.010</a:t>
            </a:r>
            <a:endParaRPr lang="hr-HR" sz="900"/>
          </a:p>
        </p:txBody>
      </p:sp>
      <p:sp>
        <p:nvSpPr>
          <p:cNvPr id="52" name="Cell"/>
          <p:cNvSpPr txBox="1"/>
          <p:nvPr/>
        </p:nvSpPr>
        <p:spPr>
          <a:xfrm>
            <a:off x="495300" y="4743450"/>
            <a:ext cx="19304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 b="1">
                <a:solidFill>
                  <a:srgbClr val="15171A"/>
                </a:solidFill>
                <a:latin typeface="Aptos"/>
              </a:rPr>
              <a:t>fine-tuned bundled LM</a:t>
            </a:r>
            <a:endParaRPr lang="hr-HR" sz="900"/>
          </a:p>
        </p:txBody>
      </p:sp>
      <p:sp>
        <p:nvSpPr>
          <p:cNvPr id="53" name="Cell"/>
          <p:cNvSpPr txBox="1"/>
          <p:nvPr/>
        </p:nvSpPr>
        <p:spPr>
          <a:xfrm>
            <a:off x="252730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0.037</a:t>
            </a:r>
            <a:endParaRPr lang="hr-HR" sz="900"/>
          </a:p>
        </p:txBody>
      </p:sp>
      <p:sp>
        <p:nvSpPr>
          <p:cNvPr id="54" name="Cell"/>
          <p:cNvSpPr txBox="1"/>
          <p:nvPr/>
        </p:nvSpPr>
        <p:spPr>
          <a:xfrm>
            <a:off x="344805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0.010</a:t>
            </a:r>
            <a:endParaRPr lang="hr-HR" sz="900"/>
          </a:p>
        </p:txBody>
      </p:sp>
      <p:sp>
        <p:nvSpPr>
          <p:cNvPr id="55" name="Cell"/>
          <p:cNvSpPr txBox="1"/>
          <p:nvPr/>
        </p:nvSpPr>
        <p:spPr>
          <a:xfrm>
            <a:off x="436880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0.042</a:t>
            </a:r>
            <a:endParaRPr lang="hr-HR" sz="900"/>
          </a:p>
        </p:txBody>
      </p:sp>
      <p:sp>
        <p:nvSpPr>
          <p:cNvPr id="56" name="Cell"/>
          <p:cNvSpPr txBox="1"/>
          <p:nvPr/>
        </p:nvSpPr>
        <p:spPr>
          <a:xfrm>
            <a:off x="5289550" y="4743450"/>
            <a:ext cx="819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0.009</a:t>
            </a:r>
            <a:endParaRPr lang="hr-HR" sz="900"/>
          </a:p>
        </p:txBody>
      </p:sp>
      <p:sp>
        <p:nvSpPr>
          <p:cNvPr id="57" name="Cell"/>
          <p:cNvSpPr txBox="1"/>
          <p:nvPr/>
        </p:nvSpPr>
        <p:spPr>
          <a:xfrm>
            <a:off x="6210300" y="47434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0.051</a:t>
            </a:r>
            <a:endParaRPr lang="hr-HR" sz="900"/>
          </a:p>
        </p:txBody>
      </p:sp>
      <p:sp>
        <p:nvSpPr>
          <p:cNvPr id="58" name="Cell"/>
          <p:cNvSpPr txBox="1"/>
          <p:nvPr/>
        </p:nvSpPr>
        <p:spPr>
          <a:xfrm>
            <a:off x="7385050" y="4743450"/>
            <a:ext cx="107315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900">
                <a:solidFill>
                  <a:srgbClr val="20282C"/>
                </a:solidFill>
                <a:latin typeface="Aptos"/>
              </a:rPr>
              <a:t>0.011</a:t>
            </a:r>
            <a:endParaRPr lang="hr-HR" sz="900"/>
          </a:p>
        </p:txBody>
      </p:sp>
      <p:sp>
        <p:nvSpPr>
          <p:cNvPr id="59" name="Text"/>
          <p:cNvSpPr txBox="1"/>
          <p:nvPr/>
        </p:nvSpPr>
        <p:spPr>
          <a:xfrm>
            <a:off x="444500" y="4953000"/>
            <a:ext cx="863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6F6A5B"/>
                </a:solidFill>
                <a:latin typeface="Aptos"/>
              </a:rPr>
              <a:t>CER je prikazan bez razmaka. Bundled LM je fiksni eksterni ParlaMint LM iz checkpointa; ne treniramo VEPRAD KenLM, pa nema text-only LM curenja iz traina prema val/testu.</a:t>
            </a:r>
            <a:endParaRPr lang="hr-HR" sz="1150"/>
          </a:p>
        </p:txBody>
      </p:sp>
      <p:sp>
        <p:nvSpPr>
          <p:cNvPr id="60" name="Rectangle"/>
          <p:cNvSpPr/>
          <p:nvPr/>
        </p:nvSpPr>
        <p:spPr>
          <a:xfrm>
            <a:off x="571500" y="5365750"/>
            <a:ext cx="2476500" cy="6667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1" name="Text"/>
          <p:cNvSpPr txBox="1"/>
          <p:nvPr/>
        </p:nvSpPr>
        <p:spPr>
          <a:xfrm>
            <a:off x="7239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F8F3E8"/>
                </a:solidFill>
                <a:latin typeface="Aptos"/>
              </a:rPr>
              <a:t>Najbolji full test</a:t>
            </a:r>
            <a:endParaRPr lang="hr-HR" sz="1250"/>
          </a:p>
        </p:txBody>
      </p:sp>
      <p:sp>
        <p:nvSpPr>
          <p:cNvPr id="62" name="Text"/>
          <p:cNvSpPr txBox="1"/>
          <p:nvPr/>
        </p:nvSpPr>
        <p:spPr>
          <a:xfrm>
            <a:off x="7239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F8F3E8"/>
                </a:solidFill>
                <a:latin typeface="Aptos"/>
              </a:rPr>
              <a:t>greedy fine-tuned</a:t>
            </a:r>
            <a:endParaRPr lang="hr-HR" sz="1650"/>
          </a:p>
        </p:txBody>
      </p:sp>
      <p:sp>
        <p:nvSpPr>
          <p:cNvPr id="63" name="Text"/>
          <p:cNvSpPr txBox="1"/>
          <p:nvPr/>
        </p:nvSpPr>
        <p:spPr>
          <a:xfrm>
            <a:off x="7239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3.86% WER · 0.75% CER</a:t>
            </a:r>
            <a:endParaRPr lang="hr-HR" sz="1050"/>
          </a:p>
        </p:txBody>
      </p:sp>
      <p:sp>
        <p:nvSpPr>
          <p:cNvPr id="64" name="Rectangle"/>
          <p:cNvSpPr/>
          <p:nvPr/>
        </p:nvSpPr>
        <p:spPr>
          <a:xfrm>
            <a:off x="3302000" y="5365750"/>
            <a:ext cx="2476500" cy="66675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65" name="Text"/>
          <p:cNvSpPr txBox="1"/>
          <p:nvPr/>
        </p:nvSpPr>
        <p:spPr>
          <a:xfrm>
            <a:off x="34544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F8F3E8"/>
                </a:solidFill>
                <a:latin typeface="Aptos"/>
              </a:rPr>
              <a:t>Unseen speakers</a:t>
            </a:r>
            <a:endParaRPr lang="hr-HR" sz="1250"/>
          </a:p>
        </p:txBody>
      </p:sp>
      <p:sp>
        <p:nvSpPr>
          <p:cNvPr id="66" name="Text"/>
          <p:cNvSpPr txBox="1"/>
          <p:nvPr/>
        </p:nvSpPr>
        <p:spPr>
          <a:xfrm>
            <a:off x="34544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F8F3E8"/>
                </a:solidFill>
                <a:latin typeface="Aptos"/>
              </a:rPr>
              <a:t>stroži dio testa</a:t>
            </a:r>
            <a:endParaRPr lang="hr-HR" sz="1650"/>
          </a:p>
        </p:txBody>
      </p:sp>
      <p:sp>
        <p:nvSpPr>
          <p:cNvPr id="67" name="Text"/>
          <p:cNvSpPr txBox="1"/>
          <p:nvPr/>
        </p:nvSpPr>
        <p:spPr>
          <a:xfrm>
            <a:off x="34544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4.97% WER · 0.99% CER</a:t>
            </a:r>
            <a:endParaRPr lang="hr-HR" sz="1050"/>
          </a:p>
        </p:txBody>
      </p:sp>
      <p:sp>
        <p:nvSpPr>
          <p:cNvPr id="68" name="Rectangle"/>
          <p:cNvSpPr/>
          <p:nvPr/>
        </p:nvSpPr>
        <p:spPr>
          <a:xfrm>
            <a:off x="6032500" y="5365750"/>
            <a:ext cx="2476500" cy="66675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69" name="Text"/>
          <p:cNvSpPr txBox="1"/>
          <p:nvPr/>
        </p:nvSpPr>
        <p:spPr>
          <a:xfrm>
            <a:off x="6184900" y="5473700"/>
            <a:ext cx="20955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15171A"/>
                </a:solidFill>
                <a:latin typeface="Aptos"/>
              </a:rPr>
              <a:t>LM nakon fine-tunea</a:t>
            </a:r>
            <a:endParaRPr lang="hr-HR" sz="1250"/>
          </a:p>
        </p:txBody>
      </p:sp>
      <p:sp>
        <p:nvSpPr>
          <p:cNvPr id="70" name="Text"/>
          <p:cNvSpPr txBox="1"/>
          <p:nvPr/>
        </p:nvSpPr>
        <p:spPr>
          <a:xfrm>
            <a:off x="6184900" y="5651500"/>
            <a:ext cx="2095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650" b="1">
                <a:solidFill>
                  <a:srgbClr val="15171A"/>
                </a:solidFill>
                <a:latin typeface="Aptos"/>
              </a:rPr>
              <a:t>blago lošiji</a:t>
            </a:r>
            <a:endParaRPr lang="hr-HR" sz="1650"/>
          </a:p>
        </p:txBody>
      </p:sp>
      <p:sp>
        <p:nvSpPr>
          <p:cNvPr id="71" name="Text"/>
          <p:cNvSpPr txBox="1"/>
          <p:nvPr/>
        </p:nvSpPr>
        <p:spPr>
          <a:xfrm>
            <a:off x="6184900" y="5854700"/>
            <a:ext cx="20955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4.24% vs 3.86% WER</a:t>
            </a:r>
            <a:endParaRPr lang="hr-HR"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5207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952500"/>
            <a:ext cx="2095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800" b="1">
                <a:solidFill>
                  <a:srgbClr val="F8F3E8"/>
                </a:solidFill>
                <a:latin typeface="Aptos"/>
              </a:rPr>
              <a:t>Tema 12</a:t>
            </a:r>
            <a:endParaRPr lang="hr-HR" sz="3800"/>
          </a:p>
        </p:txBody>
      </p:sp>
      <p:sp>
        <p:nvSpPr>
          <p:cNvPr id="6" name="Text"/>
          <p:cNvSpPr txBox="1"/>
          <p:nvPr/>
        </p:nvSpPr>
        <p:spPr>
          <a:xfrm>
            <a:off x="3873500" y="2095500"/>
            <a:ext cx="5715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5800" b="1">
                <a:solidFill>
                  <a:srgbClr val="15171A"/>
                </a:solidFill>
                <a:latin typeface="Aptos"/>
              </a:rPr>
              <a:t>THE END</a:t>
            </a:r>
            <a:endParaRPr lang="hr-HR" sz="5800"/>
          </a:p>
        </p:txBody>
      </p:sp>
      <p:sp>
        <p:nvSpPr>
          <p:cNvPr id="7" name="Rule"/>
          <p:cNvSpPr/>
          <p:nvPr/>
        </p:nvSpPr>
        <p:spPr>
          <a:xfrm>
            <a:off x="3911600" y="2832100"/>
            <a:ext cx="2667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3911600" y="3302000"/>
            <a:ext cx="571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>
                <a:solidFill>
                  <a:srgbClr val="20282C"/>
                </a:solidFill>
                <a:latin typeface="Aptos"/>
              </a:rPr>
              <a:t>Hvala na pažnji.</a:t>
            </a:r>
            <a:endParaRPr lang="hr-HR" sz="2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GJ VEPRAD">
  <a:themeElements>
    <a:clrScheme name="ROGJ">
      <a:dk1>
        <a:srgbClr val="15171A"/>
      </a:dk1>
      <a:lt1>
        <a:srgbClr val="F8F3E8"/>
      </a:lt1>
      <a:dk2>
        <a:srgbClr val="20282C"/>
      </a:dk2>
      <a:lt2>
        <a:srgbClr val="F2DFC7"/>
      </a:lt2>
      <a:accent1>
        <a:srgbClr val="E24A2A"/>
      </a:accent1>
      <a:accent2>
        <a:srgbClr val="2C8C99"/>
      </a:accent2>
      <a:accent3>
        <a:srgbClr val="F0B429"/>
      </a:accent3>
      <a:accent4>
        <a:srgbClr val="5A7D3A"/>
      </a:accent4>
      <a:accent5>
        <a:srgbClr val="7B4A2D"/>
      </a:accent5>
      <a:accent6>
        <a:srgbClr val="6F6A5B"/>
      </a:accent6>
      <a:hlink>
        <a:srgbClr val="2C8C99"/>
      </a:hlink>
      <a:folHlink>
        <a:srgbClr val="7B4A2D"/>
      </a:folHlink>
    </a:clrScheme>
    <a:fontScheme name="ROGJ Fonts">
      <a:majorFont>
        <a:latin typeface="Aptos Display"/>
      </a:majorFont>
      <a:minorFont>
        <a:latin typeface="Aptos"/>
      </a:minorFont>
    </a:fontScheme>
    <a:fmtScheme name="ROGJ Format">
      <a:fillStyleLst>
        <a:solidFill>
          <a:schemeClr val="accent1"/>
        </a:solidFill>
      </a:fillStyleLst>
      <a:lnStyleLst>
        <a:ln w="6350">
          <a:solidFill>
            <a:schemeClr val="accent1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9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ROGJ DeepSpeech2 VEPRAD Presentation</dc:title>
  <dc:subject>DeepSpeech2 acoustic model training on VEPRAD</dc:subject>
  <dc:creator>Codex</dc:creator>
  <cp:lastModifiedBy>Codex</cp:lastModifiedBy>
  <dcterms:created xsi:type="dcterms:W3CDTF">2026-06-13T00:00:00Z</dcterms:created>
  <dcterms:modified xsi:type="dcterms:W3CDTF">2026-06-13T00:00:00Z</dcterms:modified>
</cp:coreProperties>
</file>