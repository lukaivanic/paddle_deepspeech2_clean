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 type="wide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deepspeech2_architecture_generated_slide.png"/>
</Relationships>
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"/>
          <p:cNvSpPr/>
          <p:nvPr/>
        </p:nvSpPr>
        <p:spPr>
          <a:xfrm>
            <a:off x="0" y="0"/>
            <a:ext cx="3206750" cy="6858000"/>
          </a:xfrm>
          <a:prstGeom prst="rect">
            <a:avLst/>
          </a:prstGeom>
          <a:solidFill>
            <a:srgbClr val="15171A"/>
          </a:solidFill>
          <a:ln>
            <a:noFill/>
          </a:ln>
        </p:spPr>
      </p:sp>
      <p:sp>
        <p:nvSpPr>
          <p:cNvPr id="3" name="Rectangle"/>
          <p:cNvSpPr/>
          <p:nvPr/>
        </p:nvSpPr>
        <p:spPr>
          <a:xfrm>
            <a:off x="3206750" y="0"/>
            <a:ext cx="177800" cy="685800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4" name="Text"/>
          <p:cNvSpPr txBox="1"/>
          <p:nvPr/>
        </p:nvSpPr>
        <p:spPr>
          <a:xfrm>
            <a:off x="419100" y="457200"/>
            <a:ext cx="203200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2200" b="1">
                <a:solidFill>
                  <a:srgbClr val="F0B429"/>
                </a:solidFill>
                <a:latin typeface="Aptos"/>
              </a:rPr>
              <a:t>ROGJ 2025/26</a:t>
            </a:r>
            <a:endParaRPr lang="hr-HR" sz="2200"/>
          </a:p>
        </p:txBody>
      </p:sp>
      <p:sp>
        <p:nvSpPr>
          <p:cNvPr id="5" name="Text"/>
          <p:cNvSpPr txBox="1"/>
          <p:nvPr/>
        </p:nvSpPr>
        <p:spPr>
          <a:xfrm>
            <a:off x="419100" y="863600"/>
            <a:ext cx="20955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3400" b="1">
                <a:solidFill>
                  <a:srgbClr val="F8F3E8"/>
                </a:solidFill>
                <a:latin typeface="Aptos"/>
              </a:rPr>
              <a:t>Tema 12</a:t>
            </a:r>
            <a:endParaRPr lang="hr-HR" sz="3400"/>
          </a:p>
        </p:txBody>
      </p:sp>
      <p:sp>
        <p:nvSpPr>
          <p:cNvPr id="6" name="Text"/>
          <p:cNvSpPr txBox="1"/>
          <p:nvPr/>
        </p:nvSpPr>
        <p:spPr>
          <a:xfrm>
            <a:off x="419100" y="1365250"/>
            <a:ext cx="2159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2300">
                <a:solidFill>
                  <a:srgbClr val="F2DFC7"/>
                </a:solidFill>
                <a:latin typeface="Aptos"/>
              </a:rPr>
              <a:t>Učenje akustičkih</a:t>
            </a:r>
            <a:endParaRPr lang="hr-HR" sz="2300"/>
          </a:p>
          <a:p>
            <a:r>
              <a:rPr lang="hr-HR" sz="2300">
                <a:solidFill>
                  <a:srgbClr val="F2DFC7"/>
                </a:solidFill>
                <a:latin typeface="Aptos"/>
              </a:rPr>
              <a:t>modela govora</a:t>
            </a:r>
            <a:endParaRPr lang="hr-HR" sz="2300"/>
          </a:p>
          <a:p>
            <a:r>
              <a:rPr lang="hr-HR" sz="2300">
                <a:solidFill>
                  <a:srgbClr val="F2DFC7"/>
                </a:solidFill>
                <a:latin typeface="Aptos"/>
              </a:rPr>
              <a:t>za raspoznavanje</a:t>
            </a:r>
            <a:endParaRPr lang="hr-HR" sz="2300"/>
          </a:p>
        </p:txBody>
      </p:sp>
      <p:sp>
        <p:nvSpPr>
          <p:cNvPr id="7" name="Text"/>
          <p:cNvSpPr txBox="1"/>
          <p:nvPr/>
        </p:nvSpPr>
        <p:spPr>
          <a:xfrm>
            <a:off x="3873500" y="666750"/>
            <a:ext cx="6667500" cy="749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4100" b="1">
                <a:solidFill>
                  <a:srgbClr val="15171A"/>
                </a:solidFill>
                <a:latin typeface="Aptos"/>
              </a:rPr>
              <a:t>DeepSpeech2 na VEPRAD-u</a:t>
            </a:r>
            <a:endParaRPr lang="hr-HR" sz="4100"/>
          </a:p>
        </p:txBody>
      </p:sp>
      <p:sp>
        <p:nvSpPr>
          <p:cNvPr id="8" name="Text"/>
          <p:cNvSpPr txBox="1"/>
          <p:nvPr/>
        </p:nvSpPr>
        <p:spPr>
          <a:xfrm>
            <a:off x="3911600" y="1854200"/>
            <a:ext cx="66675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2300">
                <a:solidFill>
                  <a:srgbClr val="20282C"/>
                </a:solidFill>
                <a:latin typeface="Aptos"/>
              </a:rPr>
              <a:t>Zadatak: na temelju baze snimljenog i transkribiranog govora naučiti akustičke modele i testirati rad sustava.</a:t>
            </a:r>
            <a:endParaRPr lang="hr-HR" sz="2300"/>
          </a:p>
        </p:txBody>
      </p:sp>
      <p:sp>
        <p:nvSpPr>
          <p:cNvPr id="9" name="Rule"/>
          <p:cNvSpPr/>
          <p:nvPr/>
        </p:nvSpPr>
        <p:spPr>
          <a:xfrm>
            <a:off x="3911600" y="2654300"/>
            <a:ext cx="5588000" cy="5715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10" name="Text"/>
          <p:cNvSpPr txBox="1"/>
          <p:nvPr/>
        </p:nvSpPr>
        <p:spPr>
          <a:xfrm>
            <a:off x="3911600" y="2933700"/>
            <a:ext cx="57150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2100" b="1">
                <a:solidFill>
                  <a:srgbClr val="15171A"/>
                </a:solidFill>
                <a:latin typeface="Aptos"/>
              </a:rPr>
              <a:t>VEPRAD -&gt; DeepSpeech2 trening -&gt; KenLM -&gt; WER/CER</a:t>
            </a:r>
            <a:endParaRPr lang="hr-HR" sz="2100"/>
          </a:p>
        </p:txBody>
      </p:sp>
      <p:sp>
        <p:nvSpPr>
          <p:cNvPr id="11" name="Rectangle"/>
          <p:cNvSpPr/>
          <p:nvPr/>
        </p:nvSpPr>
        <p:spPr>
          <a:xfrm>
            <a:off x="3911600" y="3683000"/>
            <a:ext cx="1555750" cy="736600"/>
          </a:xfrm>
          <a:prstGeom prst="rect">
            <a:avLst/>
          </a:prstGeom>
          <a:solidFill>
            <a:srgbClr val="2C8C99"/>
          </a:solidFill>
          <a:ln>
            <a:noFill/>
          </a:ln>
        </p:spPr>
      </p:sp>
      <p:sp>
        <p:nvSpPr>
          <p:cNvPr id="12" name="Text"/>
          <p:cNvSpPr txBox="1"/>
          <p:nvPr/>
        </p:nvSpPr>
        <p:spPr>
          <a:xfrm>
            <a:off x="4051300" y="3784600"/>
            <a:ext cx="1143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3000" b="1">
                <a:solidFill>
                  <a:srgbClr val="F8F3E8"/>
                </a:solidFill>
                <a:latin typeface="Aptos"/>
              </a:rPr>
              <a:t>3</a:t>
            </a:r>
            <a:endParaRPr lang="hr-HR" sz="3000"/>
          </a:p>
        </p:txBody>
      </p:sp>
      <p:sp>
        <p:nvSpPr>
          <p:cNvPr id="13" name="Text"/>
          <p:cNvSpPr txBox="1"/>
          <p:nvPr/>
        </p:nvSpPr>
        <p:spPr>
          <a:xfrm>
            <a:off x="4051300" y="4102100"/>
            <a:ext cx="1270000" cy="158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00">
                <a:solidFill>
                  <a:srgbClr val="F8F3E8"/>
                </a:solidFill>
                <a:latin typeface="Aptos"/>
              </a:rPr>
              <a:t>trenirana modela</a:t>
            </a:r>
            <a:endParaRPr lang="hr-HR" sz="1300"/>
          </a:p>
        </p:txBody>
      </p:sp>
      <p:sp>
        <p:nvSpPr>
          <p:cNvPr id="14" name="Rectangle"/>
          <p:cNvSpPr/>
          <p:nvPr/>
        </p:nvSpPr>
        <p:spPr>
          <a:xfrm>
            <a:off x="5721350" y="3683000"/>
            <a:ext cx="1555750" cy="736600"/>
          </a:xfrm>
          <a:prstGeom prst="rect">
            <a:avLst/>
          </a:prstGeom>
          <a:solidFill>
            <a:srgbClr val="F0B429"/>
          </a:solidFill>
          <a:ln>
            <a:noFill/>
          </a:ln>
        </p:spPr>
      </p:sp>
      <p:sp>
        <p:nvSpPr>
          <p:cNvPr id="15" name="Text"/>
          <p:cNvSpPr txBox="1"/>
          <p:nvPr/>
        </p:nvSpPr>
        <p:spPr>
          <a:xfrm>
            <a:off x="5861050" y="3784600"/>
            <a:ext cx="1143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3000" b="1">
                <a:solidFill>
                  <a:srgbClr val="15171A"/>
                </a:solidFill>
                <a:latin typeface="Aptos"/>
              </a:rPr>
              <a:t>6</a:t>
            </a:r>
            <a:endParaRPr lang="hr-HR" sz="3000"/>
          </a:p>
        </p:txBody>
      </p:sp>
      <p:sp>
        <p:nvSpPr>
          <p:cNvPr id="16" name="Text"/>
          <p:cNvSpPr txBox="1"/>
          <p:nvPr/>
        </p:nvSpPr>
        <p:spPr>
          <a:xfrm>
            <a:off x="5861050" y="4102100"/>
            <a:ext cx="1270000" cy="158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00">
                <a:solidFill>
                  <a:srgbClr val="15171A"/>
                </a:solidFill>
                <a:latin typeface="Aptos"/>
              </a:rPr>
              <a:t>eval subsetova</a:t>
            </a:r>
            <a:endParaRPr lang="hr-HR" sz="1300"/>
          </a:p>
        </p:txBody>
      </p:sp>
      <p:sp>
        <p:nvSpPr>
          <p:cNvPr id="17" name="Rectangle"/>
          <p:cNvSpPr/>
          <p:nvPr/>
        </p:nvSpPr>
        <p:spPr>
          <a:xfrm>
            <a:off x="7531100" y="3683000"/>
            <a:ext cx="1555750" cy="73660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18" name="Text"/>
          <p:cNvSpPr txBox="1"/>
          <p:nvPr/>
        </p:nvSpPr>
        <p:spPr>
          <a:xfrm>
            <a:off x="7670800" y="3784600"/>
            <a:ext cx="1143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3000" b="1">
                <a:solidFill>
                  <a:srgbClr val="F8F3E8"/>
                </a:solidFill>
                <a:latin typeface="Aptos"/>
              </a:rPr>
              <a:t>0.118</a:t>
            </a:r>
            <a:endParaRPr lang="hr-HR" sz="3000"/>
          </a:p>
        </p:txBody>
      </p:sp>
      <p:sp>
        <p:nvSpPr>
          <p:cNvPr id="19" name="Text"/>
          <p:cNvSpPr txBox="1"/>
          <p:nvPr/>
        </p:nvSpPr>
        <p:spPr>
          <a:xfrm>
            <a:off x="7670800" y="4102100"/>
            <a:ext cx="1270000" cy="158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00">
                <a:solidFill>
                  <a:srgbClr val="F8F3E8"/>
                </a:solidFill>
                <a:latin typeface="Aptos"/>
              </a:rPr>
              <a:t>najbolji test WER</a:t>
            </a:r>
            <a:endParaRPr lang="hr-HR" sz="1300"/>
          </a:p>
        </p:txBody>
      </p:sp>
      <p:sp>
        <p:nvSpPr>
          <p:cNvPr id="20" name="Text"/>
          <p:cNvSpPr txBox="1"/>
          <p:nvPr/>
        </p:nvSpPr>
        <p:spPr>
          <a:xfrm>
            <a:off x="3911600" y="4889500"/>
            <a:ext cx="6223000" cy="825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900">
                <a:solidFill>
                  <a:srgbClr val="6F6A5B"/>
                </a:solidFill>
                <a:latin typeface="Aptos"/>
              </a:rPr>
              <a:t>U prezentaciji: kako smo pripremili VEPRAD, izolirali test skup, definirali CV splitove, trenirali DS2 konfiguracije i izmjerili utjecaj KenLM-a.</a:t>
            </a:r>
            <a:endParaRPr lang="hr-HR" sz="1900"/>
          </a:p>
        </p:txBody>
      </p:sp>
      <p:sp>
        <p:nvSpPr>
          <p:cNvPr id="21" name="Text"/>
          <p:cNvSpPr txBox="1"/>
          <p:nvPr/>
        </p:nvSpPr>
        <p:spPr>
          <a:xfrm>
            <a:off x="3911600" y="6146800"/>
            <a:ext cx="5715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00">
                <a:solidFill>
                  <a:srgbClr val="6F6A5B"/>
                </a:solidFill>
                <a:latin typeface="Aptos"/>
              </a:rPr>
              <a:t>Repo: PaddleSpeech DeepSpeech2 pipeline + VEPRAD manifesti + rezultatne metrike</a:t>
            </a:r>
            <a:endParaRPr lang="hr-HR" sz="13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44500" y="292100"/>
            <a:ext cx="3683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500" b="1">
                <a:solidFill>
                  <a:srgbClr val="E24A2A"/>
                </a:solidFill>
                <a:latin typeface="Aptos"/>
              </a:rPr>
              <a:t>02 · VEPRAD PODACI I SPLITOVI</a:t>
            </a:r>
            <a:endParaRPr lang="hr-HR" sz="1500"/>
          </a:p>
        </p:txBody>
      </p:sp>
      <p:sp>
        <p:nvSpPr>
          <p:cNvPr id="3" name="Title"/>
          <p:cNvSpPr txBox="1"/>
          <p:nvPr/>
        </p:nvSpPr>
        <p:spPr>
          <a:xfrm>
            <a:off x="444500" y="520700"/>
            <a:ext cx="7937500" cy="546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2350" b="1">
                <a:solidFill>
                  <a:srgbClr val="15171A"/>
                </a:solidFill>
                <a:latin typeface="Aptos"/>
              </a:rPr>
              <a:t>VEPRAD test skup je odvojen prije cross-validacije.</a:t>
            </a:r>
            <a:endParaRPr lang="hr-HR" sz="2350"/>
          </a:p>
        </p:txBody>
      </p:sp>
      <p:sp>
        <p:nvSpPr>
          <p:cNvPr id="4" name="Support"/>
          <p:cNvSpPr txBox="1"/>
          <p:nvPr/>
        </p:nvSpPr>
        <p:spPr>
          <a:xfrm>
            <a:off x="444500" y="1130300"/>
            <a:ext cx="79375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80">
                <a:solidFill>
                  <a:srgbClr val="6F6A5B"/>
                </a:solidFill>
                <a:latin typeface="Aptos"/>
              </a:rPr>
              <a:t>Skup koristimo kao uparene audio snimke i transkripte, a govornike držimo kao posebnu os generalizacije.</a:t>
            </a:r>
            <a:endParaRPr lang="hr-HR" sz="1080"/>
          </a:p>
        </p:txBody>
      </p:sp>
      <p:sp>
        <p:nvSpPr>
          <p:cNvPr id="5" name="Rule"/>
          <p:cNvSpPr/>
          <p:nvPr/>
        </p:nvSpPr>
        <p:spPr>
          <a:xfrm>
            <a:off x="444500" y="1447800"/>
            <a:ext cx="736600" cy="4445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6" name="Text"/>
          <p:cNvSpPr txBox="1"/>
          <p:nvPr/>
        </p:nvSpPr>
        <p:spPr>
          <a:xfrm>
            <a:off x="444500" y="1587500"/>
            <a:ext cx="27305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15171A"/>
                </a:solidFill>
                <a:latin typeface="Aptos"/>
              </a:rPr>
              <a:t>Permanentni test</a:t>
            </a:r>
            <a:endParaRPr lang="hr-HR" sz="1800"/>
          </a:p>
        </p:txBody>
      </p:sp>
      <p:sp>
        <p:nvSpPr>
          <p:cNvPr id="7" name="Rule"/>
          <p:cNvSpPr/>
          <p:nvPr/>
        </p:nvSpPr>
        <p:spPr>
          <a:xfrm>
            <a:off x="444500" y="1828800"/>
            <a:ext cx="571500" cy="3810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8" name="Rectangle"/>
          <p:cNvSpPr/>
          <p:nvPr/>
        </p:nvSpPr>
        <p:spPr>
          <a:xfrm>
            <a:off x="444500" y="2032000"/>
            <a:ext cx="266700" cy="26670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9" name="Text"/>
          <p:cNvSpPr txBox="1"/>
          <p:nvPr/>
        </p:nvSpPr>
        <p:spPr>
          <a:xfrm>
            <a:off x="527050" y="2076450"/>
            <a:ext cx="158750" cy="139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500" b="1">
                <a:solidFill>
                  <a:srgbClr val="F8F3E8"/>
                </a:solidFill>
                <a:latin typeface="Aptos"/>
              </a:rPr>
              <a:t>1</a:t>
            </a:r>
            <a:endParaRPr lang="hr-HR" sz="1500"/>
          </a:p>
        </p:txBody>
      </p:sp>
      <p:sp>
        <p:nvSpPr>
          <p:cNvPr id="10" name="Text"/>
          <p:cNvSpPr txBox="1"/>
          <p:nvPr/>
        </p:nvSpPr>
        <p:spPr>
          <a:xfrm>
            <a:off x="825500" y="2044700"/>
            <a:ext cx="273050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250" b="1">
                <a:solidFill>
                  <a:srgbClr val="20282C"/>
                </a:solidFill>
                <a:latin typeface="Aptos"/>
              </a:rPr>
              <a:t>3 govornika se potpuno izdvajaju za test</a:t>
            </a:r>
            <a:endParaRPr lang="hr-HR" sz="1250"/>
          </a:p>
        </p:txBody>
      </p:sp>
      <p:sp>
        <p:nvSpPr>
          <p:cNvPr id="11" name="Rectangle"/>
          <p:cNvSpPr/>
          <p:nvPr/>
        </p:nvSpPr>
        <p:spPr>
          <a:xfrm>
            <a:off x="444500" y="2616200"/>
            <a:ext cx="266700" cy="266700"/>
          </a:xfrm>
          <a:prstGeom prst="rect">
            <a:avLst/>
          </a:prstGeom>
          <a:solidFill>
            <a:srgbClr val="2C8C99"/>
          </a:solidFill>
          <a:ln>
            <a:noFill/>
          </a:ln>
        </p:spPr>
      </p:sp>
      <p:sp>
        <p:nvSpPr>
          <p:cNvPr id="12" name="Text"/>
          <p:cNvSpPr txBox="1"/>
          <p:nvPr/>
        </p:nvSpPr>
        <p:spPr>
          <a:xfrm>
            <a:off x="527050" y="2660650"/>
            <a:ext cx="158750" cy="139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500" b="1">
                <a:solidFill>
                  <a:srgbClr val="F8F3E8"/>
                </a:solidFill>
                <a:latin typeface="Aptos"/>
              </a:rPr>
              <a:t>2</a:t>
            </a:r>
            <a:endParaRPr lang="hr-HR" sz="1500"/>
          </a:p>
        </p:txBody>
      </p:sp>
      <p:sp>
        <p:nvSpPr>
          <p:cNvPr id="13" name="Text"/>
          <p:cNvSpPr txBox="1"/>
          <p:nvPr/>
        </p:nvSpPr>
        <p:spPr>
          <a:xfrm>
            <a:off x="825500" y="2628900"/>
            <a:ext cx="273050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250" b="1">
                <a:solidFill>
                  <a:srgbClr val="20282C"/>
                </a:solidFill>
                <a:latin typeface="Aptos"/>
              </a:rPr>
              <a:t>iz svih ostalih govornika uzima se oko 10% utterancea za test</a:t>
            </a:r>
            <a:endParaRPr lang="hr-HR" sz="1250"/>
          </a:p>
        </p:txBody>
      </p:sp>
      <p:sp>
        <p:nvSpPr>
          <p:cNvPr id="14" name="Rectangle"/>
          <p:cNvSpPr/>
          <p:nvPr/>
        </p:nvSpPr>
        <p:spPr>
          <a:xfrm>
            <a:off x="444500" y="3200400"/>
            <a:ext cx="266700" cy="266700"/>
          </a:xfrm>
          <a:prstGeom prst="rect">
            <a:avLst/>
          </a:prstGeom>
          <a:solidFill>
            <a:srgbClr val="F0B429"/>
          </a:solidFill>
          <a:ln>
            <a:noFill/>
          </a:ln>
        </p:spPr>
      </p:sp>
      <p:sp>
        <p:nvSpPr>
          <p:cNvPr id="15" name="Text"/>
          <p:cNvSpPr txBox="1"/>
          <p:nvPr/>
        </p:nvSpPr>
        <p:spPr>
          <a:xfrm>
            <a:off x="527050" y="3244850"/>
            <a:ext cx="158750" cy="139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500" b="1">
                <a:solidFill>
                  <a:srgbClr val="15171A"/>
                </a:solidFill>
                <a:latin typeface="Aptos"/>
              </a:rPr>
              <a:t>3</a:t>
            </a:r>
            <a:endParaRPr lang="hr-HR" sz="1500"/>
          </a:p>
        </p:txBody>
      </p:sp>
      <p:sp>
        <p:nvSpPr>
          <p:cNvPr id="16" name="Text"/>
          <p:cNvSpPr txBox="1"/>
          <p:nvPr/>
        </p:nvSpPr>
        <p:spPr>
          <a:xfrm>
            <a:off x="825500" y="3213100"/>
            <a:ext cx="273050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250" b="1">
                <a:solidFill>
                  <a:srgbClr val="20282C"/>
                </a:solidFill>
                <a:latin typeface="Aptos"/>
              </a:rPr>
              <a:t>VEPRAD test audio + JSONL žive u data/test i ne ulaze u CV</a:t>
            </a:r>
            <a:endParaRPr lang="hr-HR" sz="1250"/>
          </a:p>
        </p:txBody>
      </p:sp>
      <p:sp>
        <p:nvSpPr>
          <p:cNvPr id="17" name="Text"/>
          <p:cNvSpPr txBox="1"/>
          <p:nvPr/>
        </p:nvSpPr>
        <p:spPr>
          <a:xfrm>
            <a:off x="444500" y="3873500"/>
            <a:ext cx="33020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220">
                <a:solidFill>
                  <a:srgbClr val="6F6A5B"/>
                </a:solidFill>
                <a:latin typeface="Aptos"/>
              </a:rPr>
              <a:t>sm04 je ostavljen izvan aktivnog split poola jer nije bilo dovoljno jasno što točno predstavlja; time smanjujemo rizik od curenja podataka.</a:t>
            </a:r>
            <a:endParaRPr lang="hr-HR" sz="1220"/>
          </a:p>
        </p:txBody>
      </p:sp>
      <p:sp>
        <p:nvSpPr>
          <p:cNvPr id="18" name="Text"/>
          <p:cNvSpPr txBox="1"/>
          <p:nvPr/>
        </p:nvSpPr>
        <p:spPr>
          <a:xfrm>
            <a:off x="4127500" y="1587500"/>
            <a:ext cx="3175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15171A"/>
                </a:solidFill>
                <a:latin typeface="Aptos"/>
              </a:rPr>
              <a:t>Jedan VEPRAD CV split</a:t>
            </a:r>
            <a:endParaRPr lang="hr-HR" sz="1800"/>
          </a:p>
        </p:txBody>
      </p:sp>
      <p:sp>
        <p:nvSpPr>
          <p:cNvPr id="19" name="Rule"/>
          <p:cNvSpPr/>
          <p:nvPr/>
        </p:nvSpPr>
        <p:spPr>
          <a:xfrm>
            <a:off x="4127500" y="1828800"/>
            <a:ext cx="571500" cy="38100"/>
          </a:xfrm>
          <a:prstGeom prst="rect">
            <a:avLst/>
          </a:prstGeom>
          <a:solidFill>
            <a:srgbClr val="2C8C99"/>
          </a:solidFill>
          <a:ln>
            <a:noFill/>
          </a:ln>
        </p:spPr>
      </p:sp>
      <p:sp>
        <p:nvSpPr>
          <p:cNvPr id="20" name="Table background"/>
          <p:cNvSpPr/>
          <p:nvPr/>
        </p:nvSpPr>
        <p:spPr>
          <a:xfrm>
            <a:off x="4127500" y="2032000"/>
            <a:ext cx="5397500" cy="2844800"/>
          </a:xfrm>
          <a:prstGeom prst="rect">
            <a:avLst/>
          </a:prstGeom>
          <a:solidFill>
            <a:srgbClr val="F8F3E8"/>
          </a:solidFill>
          <a:ln w="12700">
            <a:solidFill>
              <a:srgbClr val="D6C8B5"/>
            </a:solidFill>
          </a:ln>
        </p:spPr>
      </p:sp>
      <p:sp>
        <p:nvSpPr>
          <p:cNvPr id="21" name="Table header"/>
          <p:cNvSpPr/>
          <p:nvPr/>
        </p:nvSpPr>
        <p:spPr>
          <a:xfrm>
            <a:off x="4127500" y="2032000"/>
            <a:ext cx="5397500" cy="355600"/>
          </a:xfrm>
          <a:prstGeom prst="rect">
            <a:avLst/>
          </a:prstGeom>
          <a:solidFill>
            <a:srgbClr val="2C8C99"/>
          </a:solidFill>
          <a:ln>
            <a:noFill/>
          </a:ln>
        </p:spPr>
      </p:sp>
      <p:sp>
        <p:nvSpPr>
          <p:cNvPr id="22" name="Table stripe"/>
          <p:cNvSpPr/>
          <p:nvPr/>
        </p:nvSpPr>
        <p:spPr>
          <a:xfrm>
            <a:off x="4127500" y="2743200"/>
            <a:ext cx="5397500" cy="355600"/>
          </a:xfrm>
          <a:prstGeom prst="rect">
            <a:avLst/>
          </a:prstGeom>
          <a:solidFill>
            <a:srgbClr val="F2DFC7"/>
          </a:solidFill>
          <a:ln>
            <a:noFill/>
          </a:ln>
        </p:spPr>
      </p:sp>
      <p:sp>
        <p:nvSpPr>
          <p:cNvPr id="23" name="Table stripe"/>
          <p:cNvSpPr/>
          <p:nvPr/>
        </p:nvSpPr>
        <p:spPr>
          <a:xfrm>
            <a:off x="4127500" y="3454400"/>
            <a:ext cx="5397500" cy="355600"/>
          </a:xfrm>
          <a:prstGeom prst="rect">
            <a:avLst/>
          </a:prstGeom>
          <a:solidFill>
            <a:srgbClr val="F2DFC7"/>
          </a:solidFill>
          <a:ln>
            <a:noFill/>
          </a:ln>
        </p:spPr>
      </p:sp>
      <p:sp>
        <p:nvSpPr>
          <p:cNvPr id="24" name="Table stripe"/>
          <p:cNvSpPr/>
          <p:nvPr/>
        </p:nvSpPr>
        <p:spPr>
          <a:xfrm>
            <a:off x="4127500" y="4165600"/>
            <a:ext cx="5397500" cy="355600"/>
          </a:xfrm>
          <a:prstGeom prst="rect">
            <a:avLst/>
          </a:prstGeom>
          <a:solidFill>
            <a:srgbClr val="F2DFC7"/>
          </a:solidFill>
          <a:ln>
            <a:noFill/>
          </a:ln>
        </p:spPr>
      </p:sp>
      <p:sp>
        <p:nvSpPr>
          <p:cNvPr id="25" name="Header"/>
          <p:cNvSpPr txBox="1"/>
          <p:nvPr/>
        </p:nvSpPr>
        <p:spPr>
          <a:xfrm>
            <a:off x="4178300" y="2089150"/>
            <a:ext cx="13589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 b="1">
                <a:solidFill>
                  <a:srgbClr val="F8F3E8"/>
                </a:solidFill>
                <a:latin typeface="Aptos"/>
              </a:rPr>
              <a:t>Subset</a:t>
            </a:r>
            <a:endParaRPr lang="hr-HR" sz="1000"/>
          </a:p>
        </p:txBody>
      </p:sp>
      <p:sp>
        <p:nvSpPr>
          <p:cNvPr id="26" name="Header"/>
          <p:cNvSpPr txBox="1"/>
          <p:nvPr/>
        </p:nvSpPr>
        <p:spPr>
          <a:xfrm>
            <a:off x="5638800" y="2089150"/>
            <a:ext cx="8509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 b="1">
                <a:solidFill>
                  <a:srgbClr val="F8F3E8"/>
                </a:solidFill>
                <a:latin typeface="Aptos"/>
              </a:rPr>
              <a:t>utt.</a:t>
            </a:r>
            <a:endParaRPr lang="hr-HR" sz="1000"/>
          </a:p>
        </p:txBody>
      </p:sp>
      <p:sp>
        <p:nvSpPr>
          <p:cNvPr id="27" name="Header"/>
          <p:cNvSpPr txBox="1"/>
          <p:nvPr/>
        </p:nvSpPr>
        <p:spPr>
          <a:xfrm>
            <a:off x="6591300" y="2089150"/>
            <a:ext cx="8509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 b="1">
                <a:solidFill>
                  <a:srgbClr val="F8F3E8"/>
                </a:solidFill>
                <a:latin typeface="Aptos"/>
              </a:rPr>
              <a:t>gov.</a:t>
            </a:r>
            <a:endParaRPr lang="hr-HR" sz="1000"/>
          </a:p>
        </p:txBody>
      </p:sp>
      <p:sp>
        <p:nvSpPr>
          <p:cNvPr id="28" name="Header"/>
          <p:cNvSpPr txBox="1"/>
          <p:nvPr/>
        </p:nvSpPr>
        <p:spPr>
          <a:xfrm>
            <a:off x="7543800" y="2089150"/>
            <a:ext cx="8509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 b="1">
                <a:solidFill>
                  <a:srgbClr val="F8F3E8"/>
                </a:solidFill>
                <a:latin typeface="Aptos"/>
              </a:rPr>
              <a:t>h</a:t>
            </a:r>
            <a:endParaRPr lang="hr-HR" sz="1000"/>
          </a:p>
        </p:txBody>
      </p:sp>
      <p:sp>
        <p:nvSpPr>
          <p:cNvPr id="29" name="Header"/>
          <p:cNvSpPr txBox="1"/>
          <p:nvPr/>
        </p:nvSpPr>
        <p:spPr>
          <a:xfrm>
            <a:off x="8496300" y="2089150"/>
            <a:ext cx="9779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 b="1">
                <a:solidFill>
                  <a:srgbClr val="F8F3E8"/>
                </a:solidFill>
                <a:latin typeface="Aptos"/>
              </a:rPr>
              <a:t>uloga</a:t>
            </a:r>
            <a:endParaRPr lang="hr-HR" sz="1000"/>
          </a:p>
        </p:txBody>
      </p:sp>
      <p:sp>
        <p:nvSpPr>
          <p:cNvPr id="30" name="Cell"/>
          <p:cNvSpPr txBox="1"/>
          <p:nvPr/>
        </p:nvSpPr>
        <p:spPr>
          <a:xfrm>
            <a:off x="4178300" y="2438400"/>
            <a:ext cx="1358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 b="1">
                <a:solidFill>
                  <a:srgbClr val="15171A"/>
                </a:solidFill>
                <a:latin typeface="Aptos"/>
              </a:rPr>
              <a:t>train</a:t>
            </a:r>
            <a:endParaRPr lang="hr-HR" sz="1000"/>
          </a:p>
        </p:txBody>
      </p:sp>
      <p:sp>
        <p:nvSpPr>
          <p:cNvPr id="31" name="Cell"/>
          <p:cNvSpPr txBox="1"/>
          <p:nvPr/>
        </p:nvSpPr>
        <p:spPr>
          <a:xfrm>
            <a:off x="5638800" y="24384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3057</a:t>
            </a:r>
            <a:endParaRPr lang="hr-HR" sz="1000"/>
          </a:p>
        </p:txBody>
      </p:sp>
      <p:sp>
        <p:nvSpPr>
          <p:cNvPr id="32" name="Cell"/>
          <p:cNvSpPr txBox="1"/>
          <p:nvPr/>
        </p:nvSpPr>
        <p:spPr>
          <a:xfrm>
            <a:off x="6591300" y="24384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19</a:t>
            </a:r>
            <a:endParaRPr lang="hr-HR" sz="1000"/>
          </a:p>
        </p:txBody>
      </p:sp>
      <p:sp>
        <p:nvSpPr>
          <p:cNvPr id="33" name="Cell"/>
          <p:cNvSpPr txBox="1"/>
          <p:nvPr/>
        </p:nvSpPr>
        <p:spPr>
          <a:xfrm>
            <a:off x="7543800" y="24384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4.72</a:t>
            </a:r>
            <a:endParaRPr lang="hr-HR" sz="1000"/>
          </a:p>
        </p:txBody>
      </p:sp>
      <p:sp>
        <p:nvSpPr>
          <p:cNvPr id="34" name="Cell"/>
          <p:cNvSpPr txBox="1"/>
          <p:nvPr/>
        </p:nvSpPr>
        <p:spPr>
          <a:xfrm>
            <a:off x="8496300" y="2438400"/>
            <a:ext cx="977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učenje modela</a:t>
            </a:r>
            <a:endParaRPr lang="hr-HR" sz="1000"/>
          </a:p>
        </p:txBody>
      </p:sp>
      <p:sp>
        <p:nvSpPr>
          <p:cNvPr id="35" name="Cell"/>
          <p:cNvSpPr txBox="1"/>
          <p:nvPr/>
        </p:nvSpPr>
        <p:spPr>
          <a:xfrm>
            <a:off x="4178300" y="2794000"/>
            <a:ext cx="1358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 b="1">
                <a:solidFill>
                  <a:srgbClr val="15171A"/>
                </a:solidFill>
                <a:latin typeface="Aptos"/>
              </a:rPr>
              <a:t>val</a:t>
            </a:r>
            <a:endParaRPr lang="hr-HR" sz="1000"/>
          </a:p>
        </p:txBody>
      </p:sp>
      <p:sp>
        <p:nvSpPr>
          <p:cNvPr id="36" name="Cell"/>
          <p:cNvSpPr txBox="1"/>
          <p:nvPr/>
        </p:nvSpPr>
        <p:spPr>
          <a:xfrm>
            <a:off x="5638800" y="27940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1205</a:t>
            </a:r>
            <a:endParaRPr lang="hr-HR" sz="1000"/>
          </a:p>
        </p:txBody>
      </p:sp>
      <p:sp>
        <p:nvSpPr>
          <p:cNvPr id="37" name="Cell"/>
          <p:cNvSpPr txBox="1"/>
          <p:nvPr/>
        </p:nvSpPr>
        <p:spPr>
          <a:xfrm>
            <a:off x="6591300" y="27940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22</a:t>
            </a:r>
            <a:endParaRPr lang="hr-HR" sz="1000"/>
          </a:p>
        </p:txBody>
      </p:sp>
      <p:sp>
        <p:nvSpPr>
          <p:cNvPr id="38" name="Cell"/>
          <p:cNvSpPr txBox="1"/>
          <p:nvPr/>
        </p:nvSpPr>
        <p:spPr>
          <a:xfrm>
            <a:off x="7543800" y="27940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1.81</a:t>
            </a:r>
            <a:endParaRPr lang="hr-HR" sz="1000"/>
          </a:p>
        </p:txBody>
      </p:sp>
      <p:sp>
        <p:nvSpPr>
          <p:cNvPr id="39" name="Cell"/>
          <p:cNvSpPr txBox="1"/>
          <p:nvPr/>
        </p:nvSpPr>
        <p:spPr>
          <a:xfrm>
            <a:off x="8496300" y="2794000"/>
            <a:ext cx="977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odabir/usporedba</a:t>
            </a:r>
            <a:endParaRPr lang="hr-HR" sz="1000"/>
          </a:p>
        </p:txBody>
      </p:sp>
      <p:sp>
        <p:nvSpPr>
          <p:cNvPr id="40" name="Cell"/>
          <p:cNvSpPr txBox="1"/>
          <p:nvPr/>
        </p:nvSpPr>
        <p:spPr>
          <a:xfrm>
            <a:off x="4178300" y="3149600"/>
            <a:ext cx="1358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 b="1">
                <a:solidFill>
                  <a:srgbClr val="15171A"/>
                </a:solidFill>
                <a:latin typeface="Aptos"/>
              </a:rPr>
              <a:t>val seen</a:t>
            </a:r>
            <a:endParaRPr lang="hr-HR" sz="1000"/>
          </a:p>
        </p:txBody>
      </p:sp>
      <p:sp>
        <p:nvSpPr>
          <p:cNvPr id="41" name="Cell"/>
          <p:cNvSpPr txBox="1"/>
          <p:nvPr/>
        </p:nvSpPr>
        <p:spPr>
          <a:xfrm>
            <a:off x="5638800" y="31496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349</a:t>
            </a:r>
            <a:endParaRPr lang="hr-HR" sz="1000"/>
          </a:p>
        </p:txBody>
      </p:sp>
      <p:sp>
        <p:nvSpPr>
          <p:cNvPr id="42" name="Cell"/>
          <p:cNvSpPr txBox="1"/>
          <p:nvPr/>
        </p:nvSpPr>
        <p:spPr>
          <a:xfrm>
            <a:off x="6591300" y="31496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19</a:t>
            </a:r>
            <a:endParaRPr lang="hr-HR" sz="1000"/>
          </a:p>
        </p:txBody>
      </p:sp>
      <p:sp>
        <p:nvSpPr>
          <p:cNvPr id="43" name="Cell"/>
          <p:cNvSpPr txBox="1"/>
          <p:nvPr/>
        </p:nvSpPr>
        <p:spPr>
          <a:xfrm>
            <a:off x="7543800" y="31496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0.54</a:t>
            </a:r>
            <a:endParaRPr lang="hr-HR" sz="1000"/>
          </a:p>
        </p:txBody>
      </p:sp>
      <p:sp>
        <p:nvSpPr>
          <p:cNvPr id="44" name="Cell"/>
          <p:cNvSpPr txBox="1"/>
          <p:nvPr/>
        </p:nvSpPr>
        <p:spPr>
          <a:xfrm>
            <a:off x="8496300" y="3149600"/>
            <a:ext cx="977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isti govornici</a:t>
            </a:r>
            <a:endParaRPr lang="hr-HR" sz="1000"/>
          </a:p>
        </p:txBody>
      </p:sp>
      <p:sp>
        <p:nvSpPr>
          <p:cNvPr id="45" name="Cell"/>
          <p:cNvSpPr txBox="1"/>
          <p:nvPr/>
        </p:nvSpPr>
        <p:spPr>
          <a:xfrm>
            <a:off x="4178300" y="3505200"/>
            <a:ext cx="1358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 b="1">
                <a:solidFill>
                  <a:srgbClr val="15171A"/>
                </a:solidFill>
                <a:latin typeface="Aptos"/>
              </a:rPr>
              <a:t>val unseen</a:t>
            </a:r>
            <a:endParaRPr lang="hr-HR" sz="1000"/>
          </a:p>
        </p:txBody>
      </p:sp>
      <p:sp>
        <p:nvSpPr>
          <p:cNvPr id="46" name="Cell"/>
          <p:cNvSpPr txBox="1"/>
          <p:nvPr/>
        </p:nvSpPr>
        <p:spPr>
          <a:xfrm>
            <a:off x="5638800" y="35052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856</a:t>
            </a:r>
            <a:endParaRPr lang="hr-HR" sz="1000"/>
          </a:p>
        </p:txBody>
      </p:sp>
      <p:sp>
        <p:nvSpPr>
          <p:cNvPr id="47" name="Cell"/>
          <p:cNvSpPr txBox="1"/>
          <p:nvPr/>
        </p:nvSpPr>
        <p:spPr>
          <a:xfrm>
            <a:off x="6591300" y="35052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3</a:t>
            </a:r>
            <a:endParaRPr lang="hr-HR" sz="1000"/>
          </a:p>
        </p:txBody>
      </p:sp>
      <p:sp>
        <p:nvSpPr>
          <p:cNvPr id="48" name="Cell"/>
          <p:cNvSpPr txBox="1"/>
          <p:nvPr/>
        </p:nvSpPr>
        <p:spPr>
          <a:xfrm>
            <a:off x="7543800" y="35052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1.26</a:t>
            </a:r>
            <a:endParaRPr lang="hr-HR" sz="1000"/>
          </a:p>
        </p:txBody>
      </p:sp>
      <p:sp>
        <p:nvSpPr>
          <p:cNvPr id="49" name="Cell"/>
          <p:cNvSpPr txBox="1"/>
          <p:nvPr/>
        </p:nvSpPr>
        <p:spPr>
          <a:xfrm>
            <a:off x="8496300" y="3505200"/>
            <a:ext cx="977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novi govornici</a:t>
            </a:r>
            <a:endParaRPr lang="hr-HR" sz="1000"/>
          </a:p>
        </p:txBody>
      </p:sp>
      <p:sp>
        <p:nvSpPr>
          <p:cNvPr id="50" name="Cell"/>
          <p:cNvSpPr txBox="1"/>
          <p:nvPr/>
        </p:nvSpPr>
        <p:spPr>
          <a:xfrm>
            <a:off x="4178300" y="3860800"/>
            <a:ext cx="1358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 b="1">
                <a:solidFill>
                  <a:srgbClr val="15171A"/>
                </a:solidFill>
                <a:latin typeface="Aptos"/>
              </a:rPr>
              <a:t>test</a:t>
            </a:r>
            <a:endParaRPr lang="hr-HR" sz="1000"/>
          </a:p>
        </p:txBody>
      </p:sp>
      <p:sp>
        <p:nvSpPr>
          <p:cNvPr id="51" name="Cell"/>
          <p:cNvSpPr txBox="1"/>
          <p:nvPr/>
        </p:nvSpPr>
        <p:spPr>
          <a:xfrm>
            <a:off x="5638800" y="38608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993</a:t>
            </a:r>
            <a:endParaRPr lang="hr-HR" sz="1000"/>
          </a:p>
        </p:txBody>
      </p:sp>
      <p:sp>
        <p:nvSpPr>
          <p:cNvPr id="52" name="Cell"/>
          <p:cNvSpPr txBox="1"/>
          <p:nvPr/>
        </p:nvSpPr>
        <p:spPr>
          <a:xfrm>
            <a:off x="6591300" y="38608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25</a:t>
            </a:r>
            <a:endParaRPr lang="hr-HR" sz="1000"/>
          </a:p>
        </p:txBody>
      </p:sp>
      <p:sp>
        <p:nvSpPr>
          <p:cNvPr id="53" name="Cell"/>
          <p:cNvSpPr txBox="1"/>
          <p:nvPr/>
        </p:nvSpPr>
        <p:spPr>
          <a:xfrm>
            <a:off x="7543800" y="38608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1.50</a:t>
            </a:r>
            <a:endParaRPr lang="hr-HR" sz="1000"/>
          </a:p>
        </p:txBody>
      </p:sp>
      <p:sp>
        <p:nvSpPr>
          <p:cNvPr id="54" name="Cell"/>
          <p:cNvSpPr txBox="1"/>
          <p:nvPr/>
        </p:nvSpPr>
        <p:spPr>
          <a:xfrm>
            <a:off x="8496300" y="3860800"/>
            <a:ext cx="977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zamrznuta provjera</a:t>
            </a:r>
            <a:endParaRPr lang="hr-HR" sz="1000"/>
          </a:p>
        </p:txBody>
      </p:sp>
      <p:sp>
        <p:nvSpPr>
          <p:cNvPr id="55" name="Cell"/>
          <p:cNvSpPr txBox="1"/>
          <p:nvPr/>
        </p:nvSpPr>
        <p:spPr>
          <a:xfrm>
            <a:off x="4178300" y="4216400"/>
            <a:ext cx="1358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 b="1">
                <a:solidFill>
                  <a:srgbClr val="15171A"/>
                </a:solidFill>
                <a:latin typeface="Aptos"/>
              </a:rPr>
              <a:t>test seen</a:t>
            </a:r>
            <a:endParaRPr lang="hr-HR" sz="1000"/>
          </a:p>
        </p:txBody>
      </p:sp>
      <p:sp>
        <p:nvSpPr>
          <p:cNvPr id="56" name="Cell"/>
          <p:cNvSpPr txBox="1"/>
          <p:nvPr/>
        </p:nvSpPr>
        <p:spPr>
          <a:xfrm>
            <a:off x="5638800" y="42164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486</a:t>
            </a:r>
            <a:endParaRPr lang="hr-HR" sz="1000"/>
          </a:p>
        </p:txBody>
      </p:sp>
      <p:sp>
        <p:nvSpPr>
          <p:cNvPr id="57" name="Cell"/>
          <p:cNvSpPr txBox="1"/>
          <p:nvPr/>
        </p:nvSpPr>
        <p:spPr>
          <a:xfrm>
            <a:off x="6591300" y="42164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22</a:t>
            </a:r>
            <a:endParaRPr lang="hr-HR" sz="1000"/>
          </a:p>
        </p:txBody>
      </p:sp>
      <p:sp>
        <p:nvSpPr>
          <p:cNvPr id="58" name="Cell"/>
          <p:cNvSpPr txBox="1"/>
          <p:nvPr/>
        </p:nvSpPr>
        <p:spPr>
          <a:xfrm>
            <a:off x="7543800" y="42164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0.74</a:t>
            </a:r>
            <a:endParaRPr lang="hr-HR" sz="1000"/>
          </a:p>
        </p:txBody>
      </p:sp>
      <p:sp>
        <p:nvSpPr>
          <p:cNvPr id="59" name="Cell"/>
          <p:cNvSpPr txBox="1"/>
          <p:nvPr/>
        </p:nvSpPr>
        <p:spPr>
          <a:xfrm>
            <a:off x="8496300" y="4216400"/>
            <a:ext cx="977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isti govornici</a:t>
            </a:r>
            <a:endParaRPr lang="hr-HR" sz="1000"/>
          </a:p>
        </p:txBody>
      </p:sp>
      <p:sp>
        <p:nvSpPr>
          <p:cNvPr id="60" name="Cell"/>
          <p:cNvSpPr txBox="1"/>
          <p:nvPr/>
        </p:nvSpPr>
        <p:spPr>
          <a:xfrm>
            <a:off x="4178300" y="4572000"/>
            <a:ext cx="1358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 b="1">
                <a:solidFill>
                  <a:srgbClr val="15171A"/>
                </a:solidFill>
                <a:latin typeface="Aptos"/>
              </a:rPr>
              <a:t>test unseen</a:t>
            </a:r>
            <a:endParaRPr lang="hr-HR" sz="1000"/>
          </a:p>
        </p:txBody>
      </p:sp>
      <p:sp>
        <p:nvSpPr>
          <p:cNvPr id="61" name="Cell"/>
          <p:cNvSpPr txBox="1"/>
          <p:nvPr/>
        </p:nvSpPr>
        <p:spPr>
          <a:xfrm>
            <a:off x="5638800" y="45720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507</a:t>
            </a:r>
            <a:endParaRPr lang="hr-HR" sz="1000"/>
          </a:p>
        </p:txBody>
      </p:sp>
      <p:sp>
        <p:nvSpPr>
          <p:cNvPr id="62" name="Cell"/>
          <p:cNvSpPr txBox="1"/>
          <p:nvPr/>
        </p:nvSpPr>
        <p:spPr>
          <a:xfrm>
            <a:off x="6591300" y="45720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3</a:t>
            </a:r>
            <a:endParaRPr lang="hr-HR" sz="1000"/>
          </a:p>
        </p:txBody>
      </p:sp>
      <p:sp>
        <p:nvSpPr>
          <p:cNvPr id="63" name="Cell"/>
          <p:cNvSpPr txBox="1"/>
          <p:nvPr/>
        </p:nvSpPr>
        <p:spPr>
          <a:xfrm>
            <a:off x="7543800" y="4572000"/>
            <a:ext cx="850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0.76</a:t>
            </a:r>
            <a:endParaRPr lang="hr-HR" sz="1000"/>
          </a:p>
        </p:txBody>
      </p:sp>
      <p:sp>
        <p:nvSpPr>
          <p:cNvPr id="64" name="Cell"/>
          <p:cNvSpPr txBox="1"/>
          <p:nvPr/>
        </p:nvSpPr>
        <p:spPr>
          <a:xfrm>
            <a:off x="8496300" y="4572000"/>
            <a:ext cx="977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00">
                <a:solidFill>
                  <a:srgbClr val="20282C"/>
                </a:solidFill>
                <a:latin typeface="Aptos"/>
              </a:rPr>
              <a:t>novi govornici</a:t>
            </a:r>
            <a:endParaRPr lang="hr-HR" sz="1000"/>
          </a:p>
        </p:txBody>
      </p:sp>
      <p:sp>
        <p:nvSpPr>
          <p:cNvPr id="65" name="Text"/>
          <p:cNvSpPr txBox="1"/>
          <p:nvPr/>
        </p:nvSpPr>
        <p:spPr>
          <a:xfrm>
            <a:off x="4127500" y="4826000"/>
            <a:ext cx="4889500" cy="520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400">
                <a:solidFill>
                  <a:srgbClr val="6F6A5B"/>
                </a:solidFill>
                <a:latin typeface="Aptos"/>
              </a:rPr>
              <a:t>Namjera VEPRAD splitova je mjeriti dvije stvari odvojeno: koliko model generalizira na nove rečenice istih govornika i koliko generalizira na potpuno neviđene govornike.</a:t>
            </a:r>
            <a:endParaRPr lang="hr-HR" sz="1400"/>
          </a:p>
        </p:txBody>
      </p:sp>
      <p:sp>
        <p:nvSpPr>
          <p:cNvPr id="66" name="Rectangle"/>
          <p:cNvSpPr/>
          <p:nvPr/>
        </p:nvSpPr>
        <p:spPr>
          <a:xfrm>
            <a:off x="444500" y="5588000"/>
            <a:ext cx="9461500" cy="469900"/>
          </a:xfrm>
          <a:prstGeom prst="rect">
            <a:avLst/>
          </a:prstGeom>
          <a:solidFill>
            <a:srgbClr val="F2DFC7"/>
          </a:solidFill>
          <a:ln w="12700">
            <a:solidFill>
              <a:srgbClr val="D6C8B5"/>
            </a:solidFill>
          </a:ln>
        </p:spPr>
      </p:sp>
      <p:sp>
        <p:nvSpPr>
          <p:cNvPr id="67" name="Text"/>
          <p:cNvSpPr txBox="1"/>
          <p:nvPr/>
        </p:nvSpPr>
        <p:spPr>
          <a:xfrm>
            <a:off x="609600" y="5702300"/>
            <a:ext cx="913130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450" b="1">
                <a:solidFill>
                  <a:srgbClr val="15171A"/>
                </a:solidFill>
                <a:latin typeface="Aptos"/>
              </a:rPr>
              <a:t>Reproducibilnost: permanentni test skup ne diramo nakon stvaranja; za nove validacijske eksperimente generiramo nove CV splitove iz non-test poola.</a:t>
            </a:r>
            <a:endParaRPr lang="hr-HR" sz="1450"/>
          </a:p>
        </p:txBody>
      </p:sp>
      <p:sp>
        <p:nvSpPr>
          <p:cNvPr id="68" name="Footer"/>
          <p:cNvSpPr txBox="1"/>
          <p:nvPr/>
        </p:nvSpPr>
        <p:spPr>
          <a:xfrm>
            <a:off x="444500" y="6591300"/>
            <a:ext cx="92075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850">
                <a:solidFill>
                  <a:srgbClr val="6F6A5B"/>
                </a:solidFill>
                <a:latin typeface="Aptos"/>
              </a:rPr>
              <a:t>Izvori u repozitoriju: data/test/*.meta.json, data/cross_validation_splits/cv_paper_small_001, README.</a:t>
            </a:r>
            <a:endParaRPr lang="hr-HR" sz="85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44500" y="292100"/>
            <a:ext cx="3683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500" b="1">
                <a:solidFill>
                  <a:srgbClr val="E24A2A"/>
                </a:solidFill>
                <a:latin typeface="Aptos"/>
              </a:rPr>
              <a:t>03 · PIPELINE</a:t>
            </a:r>
            <a:endParaRPr lang="hr-HR" sz="1500"/>
          </a:p>
        </p:txBody>
      </p:sp>
      <p:sp>
        <p:nvSpPr>
          <p:cNvPr id="3" name="Title"/>
          <p:cNvSpPr txBox="1"/>
          <p:nvPr/>
        </p:nvSpPr>
        <p:spPr>
          <a:xfrm>
            <a:off x="444500" y="520700"/>
            <a:ext cx="7937500" cy="546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2350" b="1">
                <a:solidFill>
                  <a:srgbClr val="15171A"/>
                </a:solidFill>
                <a:latin typeface="Aptos"/>
              </a:rPr>
              <a:t>VEPRAD pipeline je jedan Python tok, ne stari shell recipe.</a:t>
            </a:r>
            <a:endParaRPr lang="hr-HR" sz="2350"/>
          </a:p>
        </p:txBody>
      </p:sp>
      <p:sp>
        <p:nvSpPr>
          <p:cNvPr id="4" name="Support"/>
          <p:cNvSpPr txBox="1"/>
          <p:nvPr/>
        </p:nvSpPr>
        <p:spPr>
          <a:xfrm>
            <a:off x="444500" y="1130300"/>
            <a:ext cx="79375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80">
                <a:solidFill>
                  <a:srgbClr val="6F6A5B"/>
                </a:solidFill>
                <a:latin typeface="Aptos"/>
              </a:rPr>
              <a:t>Skripta poziva PaddleSpeech Python funkcije direktno: VEPRAD split/manifesti, trening, averaging, eval i metrike.</a:t>
            </a:r>
            <a:endParaRPr lang="hr-HR" sz="1080"/>
          </a:p>
        </p:txBody>
      </p:sp>
      <p:sp>
        <p:nvSpPr>
          <p:cNvPr id="5" name="Rule"/>
          <p:cNvSpPr/>
          <p:nvPr/>
        </p:nvSpPr>
        <p:spPr>
          <a:xfrm>
            <a:off x="444500" y="1447800"/>
            <a:ext cx="736600" cy="4445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6" name="Rectangle"/>
          <p:cNvSpPr/>
          <p:nvPr/>
        </p:nvSpPr>
        <p:spPr>
          <a:xfrm>
            <a:off x="584200" y="1854200"/>
            <a:ext cx="1282700" cy="584200"/>
          </a:xfrm>
          <a:prstGeom prst="rect">
            <a:avLst/>
          </a:prstGeom>
          <a:solidFill>
            <a:srgbClr val="15171A"/>
          </a:solidFill>
          <a:ln>
            <a:noFill/>
          </a:ln>
        </p:spPr>
      </p:sp>
      <p:sp>
        <p:nvSpPr>
          <p:cNvPr id="7" name="Text"/>
          <p:cNvSpPr txBox="1"/>
          <p:nvPr/>
        </p:nvSpPr>
        <p:spPr>
          <a:xfrm>
            <a:off x="698500" y="1955800"/>
            <a:ext cx="10795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F8F3E8"/>
                </a:solidFill>
                <a:latin typeface="Aptos"/>
              </a:rPr>
              <a:t>VEPRAD</a:t>
            </a:r>
            <a:endParaRPr lang="hr-HR" sz="1800"/>
          </a:p>
        </p:txBody>
      </p:sp>
      <p:sp>
        <p:nvSpPr>
          <p:cNvPr id="8" name="Text"/>
          <p:cNvSpPr txBox="1"/>
          <p:nvPr/>
        </p:nvSpPr>
        <p:spPr>
          <a:xfrm>
            <a:off x="698500" y="2190750"/>
            <a:ext cx="1066800" cy="12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150">
                <a:solidFill>
                  <a:srgbClr val="F8F3E8"/>
                </a:solidFill>
                <a:latin typeface="Aptos"/>
              </a:rPr>
              <a:t>audio + txt</a:t>
            </a:r>
            <a:endParaRPr lang="hr-HR" sz="1150"/>
          </a:p>
        </p:txBody>
      </p:sp>
      <p:sp>
        <p:nvSpPr>
          <p:cNvPr id="9" name="Text"/>
          <p:cNvSpPr txBox="1"/>
          <p:nvPr/>
        </p:nvSpPr>
        <p:spPr>
          <a:xfrm>
            <a:off x="1943100" y="2019300"/>
            <a:ext cx="2286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2400" b="1">
                <a:solidFill>
                  <a:srgbClr val="E24A2A"/>
                </a:solidFill>
                <a:latin typeface="Aptos"/>
              </a:rPr>
              <a:t>→</a:t>
            </a:r>
            <a:endParaRPr lang="hr-HR" sz="2400"/>
          </a:p>
        </p:txBody>
      </p:sp>
      <p:sp>
        <p:nvSpPr>
          <p:cNvPr id="10" name="Rectangle"/>
          <p:cNvSpPr/>
          <p:nvPr/>
        </p:nvSpPr>
        <p:spPr>
          <a:xfrm>
            <a:off x="2159000" y="1854200"/>
            <a:ext cx="1282700" cy="584200"/>
          </a:xfrm>
          <a:prstGeom prst="rect">
            <a:avLst/>
          </a:prstGeom>
          <a:solidFill>
            <a:srgbClr val="2C8C99"/>
          </a:solidFill>
          <a:ln>
            <a:noFill/>
          </a:ln>
        </p:spPr>
      </p:sp>
      <p:sp>
        <p:nvSpPr>
          <p:cNvPr id="11" name="Text"/>
          <p:cNvSpPr txBox="1"/>
          <p:nvPr/>
        </p:nvSpPr>
        <p:spPr>
          <a:xfrm>
            <a:off x="2273300" y="1955800"/>
            <a:ext cx="10795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F8F3E8"/>
                </a:solidFill>
                <a:latin typeface="Aptos"/>
              </a:rPr>
              <a:t>manifesti</a:t>
            </a:r>
            <a:endParaRPr lang="hr-HR" sz="1800"/>
          </a:p>
        </p:txBody>
      </p:sp>
      <p:sp>
        <p:nvSpPr>
          <p:cNvPr id="12" name="Text"/>
          <p:cNvSpPr txBox="1"/>
          <p:nvPr/>
        </p:nvSpPr>
        <p:spPr>
          <a:xfrm>
            <a:off x="2273300" y="2190750"/>
            <a:ext cx="1066800" cy="12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150">
                <a:solidFill>
                  <a:srgbClr val="F8F3E8"/>
                </a:solidFill>
                <a:latin typeface="Aptos"/>
              </a:rPr>
              <a:t>JSONL rel. paths</a:t>
            </a:r>
            <a:endParaRPr lang="hr-HR" sz="1150"/>
          </a:p>
        </p:txBody>
      </p:sp>
      <p:sp>
        <p:nvSpPr>
          <p:cNvPr id="13" name="Text"/>
          <p:cNvSpPr txBox="1"/>
          <p:nvPr/>
        </p:nvSpPr>
        <p:spPr>
          <a:xfrm>
            <a:off x="3517900" y="2019300"/>
            <a:ext cx="2286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2400" b="1">
                <a:solidFill>
                  <a:srgbClr val="E24A2A"/>
                </a:solidFill>
                <a:latin typeface="Aptos"/>
              </a:rPr>
              <a:t>→</a:t>
            </a:r>
            <a:endParaRPr lang="hr-HR" sz="2400"/>
          </a:p>
        </p:txBody>
      </p:sp>
      <p:sp>
        <p:nvSpPr>
          <p:cNvPr id="14" name="Rectangle"/>
          <p:cNvSpPr/>
          <p:nvPr/>
        </p:nvSpPr>
        <p:spPr>
          <a:xfrm>
            <a:off x="3733800" y="1854200"/>
            <a:ext cx="1282700" cy="584200"/>
          </a:xfrm>
          <a:prstGeom prst="rect">
            <a:avLst/>
          </a:prstGeom>
          <a:solidFill>
            <a:srgbClr val="F0B429"/>
          </a:solidFill>
          <a:ln>
            <a:noFill/>
          </a:ln>
        </p:spPr>
      </p:sp>
      <p:sp>
        <p:nvSpPr>
          <p:cNvPr id="15" name="Text"/>
          <p:cNvSpPr txBox="1"/>
          <p:nvPr/>
        </p:nvSpPr>
        <p:spPr>
          <a:xfrm>
            <a:off x="3848100" y="1955800"/>
            <a:ext cx="10795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15171A"/>
                </a:solidFill>
                <a:latin typeface="Aptos"/>
              </a:rPr>
              <a:t>features</a:t>
            </a:r>
            <a:endParaRPr lang="hr-HR" sz="1800"/>
          </a:p>
        </p:txBody>
      </p:sp>
      <p:sp>
        <p:nvSpPr>
          <p:cNvPr id="16" name="Text"/>
          <p:cNvSpPr txBox="1"/>
          <p:nvPr/>
        </p:nvSpPr>
        <p:spPr>
          <a:xfrm>
            <a:off x="3848100" y="2190750"/>
            <a:ext cx="1066800" cy="12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150">
                <a:solidFill>
                  <a:srgbClr val="15171A"/>
                </a:solidFill>
                <a:latin typeface="Aptos"/>
              </a:rPr>
              <a:t>fbank_kaldi + CMVN</a:t>
            </a:r>
            <a:endParaRPr lang="hr-HR" sz="1150"/>
          </a:p>
        </p:txBody>
      </p:sp>
      <p:sp>
        <p:nvSpPr>
          <p:cNvPr id="17" name="Text"/>
          <p:cNvSpPr txBox="1"/>
          <p:nvPr/>
        </p:nvSpPr>
        <p:spPr>
          <a:xfrm>
            <a:off x="5092700" y="2019300"/>
            <a:ext cx="2286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2400" b="1">
                <a:solidFill>
                  <a:srgbClr val="E24A2A"/>
                </a:solidFill>
                <a:latin typeface="Aptos"/>
              </a:rPr>
              <a:t>→</a:t>
            </a:r>
            <a:endParaRPr lang="hr-HR" sz="2400"/>
          </a:p>
        </p:txBody>
      </p:sp>
      <p:sp>
        <p:nvSpPr>
          <p:cNvPr id="18" name="Rectangle"/>
          <p:cNvSpPr/>
          <p:nvPr/>
        </p:nvSpPr>
        <p:spPr>
          <a:xfrm>
            <a:off x="5308600" y="1854200"/>
            <a:ext cx="1282700" cy="584200"/>
          </a:xfrm>
          <a:prstGeom prst="rect">
            <a:avLst/>
          </a:prstGeom>
          <a:solidFill>
            <a:srgbClr val="5A7D3A"/>
          </a:solidFill>
          <a:ln>
            <a:noFill/>
          </a:ln>
        </p:spPr>
      </p:sp>
      <p:sp>
        <p:nvSpPr>
          <p:cNvPr id="19" name="Text"/>
          <p:cNvSpPr txBox="1"/>
          <p:nvPr/>
        </p:nvSpPr>
        <p:spPr>
          <a:xfrm>
            <a:off x="5422900" y="1955800"/>
            <a:ext cx="10795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F8F3E8"/>
                </a:solidFill>
                <a:latin typeface="Aptos"/>
              </a:rPr>
              <a:t>vocab</a:t>
            </a:r>
            <a:endParaRPr lang="hr-HR" sz="1800"/>
          </a:p>
        </p:txBody>
      </p:sp>
      <p:sp>
        <p:nvSpPr>
          <p:cNvPr id="20" name="Text"/>
          <p:cNvSpPr txBox="1"/>
          <p:nvPr/>
        </p:nvSpPr>
        <p:spPr>
          <a:xfrm>
            <a:off x="5422900" y="2190750"/>
            <a:ext cx="1066800" cy="12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150">
                <a:solidFill>
                  <a:srgbClr val="F8F3E8"/>
                </a:solidFill>
                <a:latin typeface="Aptos"/>
              </a:rPr>
              <a:t>31 char, train-only</a:t>
            </a:r>
            <a:endParaRPr lang="hr-HR" sz="1150"/>
          </a:p>
        </p:txBody>
      </p:sp>
      <p:sp>
        <p:nvSpPr>
          <p:cNvPr id="21" name="Text"/>
          <p:cNvSpPr txBox="1"/>
          <p:nvPr/>
        </p:nvSpPr>
        <p:spPr>
          <a:xfrm>
            <a:off x="6667500" y="2019300"/>
            <a:ext cx="2286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2400" b="1">
                <a:solidFill>
                  <a:srgbClr val="E24A2A"/>
                </a:solidFill>
                <a:latin typeface="Aptos"/>
              </a:rPr>
              <a:t>→</a:t>
            </a:r>
            <a:endParaRPr lang="hr-HR" sz="2400"/>
          </a:p>
        </p:txBody>
      </p:sp>
      <p:sp>
        <p:nvSpPr>
          <p:cNvPr id="22" name="Rectangle"/>
          <p:cNvSpPr/>
          <p:nvPr/>
        </p:nvSpPr>
        <p:spPr>
          <a:xfrm>
            <a:off x="6883400" y="1854200"/>
            <a:ext cx="1282700" cy="58420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23" name="Text"/>
          <p:cNvSpPr txBox="1"/>
          <p:nvPr/>
        </p:nvSpPr>
        <p:spPr>
          <a:xfrm>
            <a:off x="6997700" y="1955800"/>
            <a:ext cx="10795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F8F3E8"/>
                </a:solidFill>
                <a:latin typeface="Aptos"/>
              </a:rPr>
              <a:t>DS2</a:t>
            </a:r>
            <a:endParaRPr lang="hr-HR" sz="1800"/>
          </a:p>
        </p:txBody>
      </p:sp>
      <p:sp>
        <p:nvSpPr>
          <p:cNvPr id="24" name="Text"/>
          <p:cNvSpPr txBox="1"/>
          <p:nvPr/>
        </p:nvSpPr>
        <p:spPr>
          <a:xfrm>
            <a:off x="6997700" y="2190750"/>
            <a:ext cx="1066800" cy="12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150">
                <a:solidFill>
                  <a:srgbClr val="F8F3E8"/>
                </a:solidFill>
                <a:latin typeface="Aptos"/>
              </a:rPr>
              <a:t>CTC trening</a:t>
            </a:r>
            <a:endParaRPr lang="hr-HR" sz="1150"/>
          </a:p>
        </p:txBody>
      </p:sp>
      <p:sp>
        <p:nvSpPr>
          <p:cNvPr id="25" name="Text"/>
          <p:cNvSpPr txBox="1"/>
          <p:nvPr/>
        </p:nvSpPr>
        <p:spPr>
          <a:xfrm>
            <a:off x="8242300" y="2019300"/>
            <a:ext cx="2286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2400" b="1">
                <a:solidFill>
                  <a:srgbClr val="E24A2A"/>
                </a:solidFill>
                <a:latin typeface="Aptos"/>
              </a:rPr>
              <a:t>→</a:t>
            </a:r>
            <a:endParaRPr lang="hr-HR" sz="2400"/>
          </a:p>
        </p:txBody>
      </p:sp>
      <p:sp>
        <p:nvSpPr>
          <p:cNvPr id="26" name="Rectangle"/>
          <p:cNvSpPr/>
          <p:nvPr/>
        </p:nvSpPr>
        <p:spPr>
          <a:xfrm>
            <a:off x="8458200" y="1854200"/>
            <a:ext cx="1282700" cy="584200"/>
          </a:xfrm>
          <a:prstGeom prst="rect">
            <a:avLst/>
          </a:prstGeom>
          <a:solidFill>
            <a:srgbClr val="15171A"/>
          </a:solidFill>
          <a:ln>
            <a:noFill/>
          </a:ln>
        </p:spPr>
      </p:sp>
      <p:sp>
        <p:nvSpPr>
          <p:cNvPr id="27" name="Text"/>
          <p:cNvSpPr txBox="1"/>
          <p:nvPr/>
        </p:nvSpPr>
        <p:spPr>
          <a:xfrm>
            <a:off x="8572500" y="1955800"/>
            <a:ext cx="10795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F8F3E8"/>
                </a:solidFill>
                <a:latin typeface="Aptos"/>
              </a:rPr>
              <a:t>eval</a:t>
            </a:r>
            <a:endParaRPr lang="hr-HR" sz="1800"/>
          </a:p>
        </p:txBody>
      </p:sp>
      <p:sp>
        <p:nvSpPr>
          <p:cNvPr id="28" name="Text"/>
          <p:cNvSpPr txBox="1"/>
          <p:nvPr/>
        </p:nvSpPr>
        <p:spPr>
          <a:xfrm>
            <a:off x="8572500" y="2190750"/>
            <a:ext cx="1066800" cy="12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150">
                <a:solidFill>
                  <a:srgbClr val="F8F3E8"/>
                </a:solidFill>
                <a:latin typeface="Aptos"/>
              </a:rPr>
              <a:t>WER/CER po subsetu</a:t>
            </a:r>
            <a:endParaRPr lang="hr-HR" sz="1150"/>
          </a:p>
        </p:txBody>
      </p:sp>
      <p:sp>
        <p:nvSpPr>
          <p:cNvPr id="29" name="Text"/>
          <p:cNvSpPr txBox="1"/>
          <p:nvPr/>
        </p:nvSpPr>
        <p:spPr>
          <a:xfrm>
            <a:off x="584200" y="2984500"/>
            <a:ext cx="2730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15171A"/>
                </a:solidFill>
                <a:latin typeface="Aptos"/>
              </a:rPr>
              <a:t>Preprocessing odluke</a:t>
            </a:r>
            <a:endParaRPr lang="hr-HR" sz="1800"/>
          </a:p>
        </p:txBody>
      </p:sp>
      <p:sp>
        <p:nvSpPr>
          <p:cNvPr id="30" name="Rule"/>
          <p:cNvSpPr/>
          <p:nvPr/>
        </p:nvSpPr>
        <p:spPr>
          <a:xfrm>
            <a:off x="584200" y="3225800"/>
            <a:ext cx="571500" cy="3810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31" name="Text"/>
          <p:cNvSpPr txBox="1"/>
          <p:nvPr/>
        </p:nvSpPr>
        <p:spPr>
          <a:xfrm>
            <a:off x="584200" y="3365500"/>
            <a:ext cx="3619500" cy="1206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50">
                <a:solidFill>
                  <a:srgbClr val="20282C"/>
                </a:solidFill>
                <a:latin typeface="Aptos"/>
              </a:rPr>
              <a:t>• 16 kHz, 25 ms window, 10 ms shift</a:t>
            </a:r>
            <a:endParaRPr lang="hr-HR" sz="1350"/>
          </a:p>
          <a:p>
            <a:r>
              <a:rPr lang="hr-HR" sz="1350">
                <a:solidFill>
                  <a:srgbClr val="20282C"/>
                </a:solidFill>
                <a:latin typeface="Aptos"/>
              </a:rPr>
              <a:t>• 161-bin fbank_kaldi + CMVN</a:t>
            </a:r>
            <a:endParaRPr lang="hr-HR" sz="1350"/>
          </a:p>
          <a:p>
            <a:r>
              <a:rPr lang="hr-HR" sz="1350">
                <a:solidFill>
                  <a:srgbClr val="20282C"/>
                </a:solidFill>
                <a:latin typeface="Aptos"/>
              </a:rPr>
              <a:t>• character CTC vocab built only from train</a:t>
            </a:r>
            <a:endParaRPr lang="hr-HR" sz="1350"/>
          </a:p>
          <a:p>
            <a:r>
              <a:rPr lang="hr-HR" sz="1350">
                <a:solidFill>
                  <a:srgbClr val="20282C"/>
                </a:solidFill>
                <a:latin typeface="Aptos"/>
              </a:rPr>
              <a:t>• Croatian letters covered: 0 unknown chars on val/test</a:t>
            </a:r>
            <a:endParaRPr lang="hr-HR" sz="1350"/>
          </a:p>
          <a:p>
            <a:r>
              <a:rPr lang="hr-HR" sz="1350">
                <a:solidFill>
                  <a:srgbClr val="20282C"/>
                </a:solidFill>
                <a:latin typeface="Aptos"/>
              </a:rPr>
              <a:t>• no data augmentation in these runs</a:t>
            </a:r>
            <a:endParaRPr lang="hr-HR" sz="1350"/>
          </a:p>
        </p:txBody>
      </p:sp>
      <p:sp>
        <p:nvSpPr>
          <p:cNvPr id="32" name="Text"/>
          <p:cNvSpPr txBox="1"/>
          <p:nvPr/>
        </p:nvSpPr>
        <p:spPr>
          <a:xfrm>
            <a:off x="4762500" y="2984500"/>
            <a:ext cx="2984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15171A"/>
                </a:solidFill>
                <a:latin typeface="Aptos"/>
              </a:rPr>
              <a:t>Transkripti i event tagovi</a:t>
            </a:r>
            <a:endParaRPr lang="hr-HR" sz="1800"/>
          </a:p>
        </p:txBody>
      </p:sp>
      <p:sp>
        <p:nvSpPr>
          <p:cNvPr id="33" name="Rule"/>
          <p:cNvSpPr/>
          <p:nvPr/>
        </p:nvSpPr>
        <p:spPr>
          <a:xfrm>
            <a:off x="4762500" y="3225800"/>
            <a:ext cx="571500" cy="38100"/>
          </a:xfrm>
          <a:prstGeom prst="rect">
            <a:avLst/>
          </a:prstGeom>
          <a:solidFill>
            <a:srgbClr val="2C8C99"/>
          </a:solidFill>
          <a:ln>
            <a:noFill/>
          </a:ln>
        </p:spPr>
      </p:sp>
      <p:sp>
        <p:nvSpPr>
          <p:cNvPr id="34" name="Text"/>
          <p:cNvSpPr txBox="1"/>
          <p:nvPr/>
        </p:nvSpPr>
        <p:spPr>
          <a:xfrm>
            <a:off x="4762500" y="3365500"/>
            <a:ext cx="4127500" cy="1206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400" b="1">
                <a:solidFill>
                  <a:srgbClr val="20282C"/>
                </a:solidFill>
                <a:latin typeface="Aptos"/>
              </a:rPr>
              <a:t>ASR target je normalizirano polje text.</a:t>
            </a:r>
            <a:endParaRPr lang="hr-HR" sz="1400"/>
          </a:p>
          <a:p>
            <a:r>
              <a:rPr lang="hr-HR" sz="1300">
                <a:solidFill>
                  <a:srgbClr val="6F6A5B"/>
                </a:solidFill>
                <a:latin typeface="Aptos"/>
              </a:rPr>
              <a:t>Event tagovi poput &lt;uzdah&gt; ostaju u text_raw/non_speech_events, ali se ne treniraju kao CTC znakovi jer bi se u character modu rastavili na &lt;, u, z, ...</a:t>
            </a:r>
            <a:endParaRPr lang="hr-HR" sz="1300"/>
          </a:p>
        </p:txBody>
      </p:sp>
      <p:sp>
        <p:nvSpPr>
          <p:cNvPr id="35" name="Rectangle"/>
          <p:cNvSpPr/>
          <p:nvPr/>
        </p:nvSpPr>
        <p:spPr>
          <a:xfrm>
            <a:off x="584200" y="5080000"/>
            <a:ext cx="8509000" cy="495300"/>
          </a:xfrm>
          <a:prstGeom prst="rect">
            <a:avLst/>
          </a:prstGeom>
          <a:solidFill>
            <a:srgbClr val="15171A"/>
          </a:solidFill>
          <a:ln>
            <a:noFill/>
          </a:ln>
        </p:spPr>
      </p:sp>
      <p:sp>
        <p:nvSpPr>
          <p:cNvPr id="36" name="Text"/>
          <p:cNvSpPr txBox="1"/>
          <p:nvPr/>
        </p:nvSpPr>
        <p:spPr>
          <a:xfrm>
            <a:off x="762000" y="5187950"/>
            <a:ext cx="8128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50" b="1">
                <a:solidFill>
                  <a:srgbClr val="F8F3E8"/>
                </a:solidFill>
                <a:latin typeface="Aptos"/>
              </a:rPr>
              <a:t>Programski tok: scripts/run_ds2_pipeline.py uzima VEPRAD manifest, generira PaddleSpeech podatke, trenira model, računa avg_1 checkpoint i evaluira VEPRAD val/test seen/unseen podskupove.</a:t>
            </a:r>
            <a:endParaRPr lang="hr-HR" sz="1350"/>
          </a:p>
        </p:txBody>
      </p:sp>
      <p:sp>
        <p:nvSpPr>
          <p:cNvPr id="37" name="Footer"/>
          <p:cNvSpPr txBox="1"/>
          <p:nvPr/>
        </p:nvSpPr>
        <p:spPr>
          <a:xfrm>
            <a:off x="444500" y="6591300"/>
            <a:ext cx="92075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850">
                <a:solidFill>
                  <a:srgbClr val="6F6A5B"/>
                </a:solidFill>
                <a:latin typeface="Aptos"/>
              </a:rPr>
              <a:t>Pipeline datoteke: scripts/run_ds2_pipeline.py, scripts/create_cv_split.py, scripts/train_kenlm_lm.py.</a:t>
            </a:r>
            <a:endParaRPr lang="hr-HR" sz="85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44500" y="292100"/>
            <a:ext cx="3683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500" b="1">
                <a:solidFill>
                  <a:srgbClr val="E24A2A"/>
                </a:solidFill>
                <a:latin typeface="Aptos"/>
              </a:rPr>
              <a:t>04 · DEEPSPEECH2</a:t>
            </a:r>
            <a:endParaRPr lang="hr-HR" sz="1500"/>
          </a:p>
        </p:txBody>
      </p:sp>
      <p:sp>
        <p:nvSpPr>
          <p:cNvPr id="3" name="Title"/>
          <p:cNvSpPr txBox="1"/>
          <p:nvPr/>
        </p:nvSpPr>
        <p:spPr>
          <a:xfrm>
            <a:off x="444500" y="520700"/>
            <a:ext cx="7937500" cy="546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2350" b="1">
                <a:solidFill>
                  <a:srgbClr val="15171A"/>
                </a:solidFill>
                <a:latin typeface="Aptos"/>
              </a:rPr>
              <a:t>DeepSpeech2 je akustički model koji smo trenirali na VEPRAD govoru.</a:t>
            </a:r>
            <a:endParaRPr lang="hr-HR" sz="2350"/>
          </a:p>
        </p:txBody>
      </p:sp>
      <p:sp>
        <p:nvSpPr>
          <p:cNvPr id="4" name="Support"/>
          <p:cNvSpPr txBox="1"/>
          <p:nvPr/>
        </p:nvSpPr>
        <p:spPr>
          <a:xfrm>
            <a:off x="444500" y="1130300"/>
            <a:ext cx="79375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80">
                <a:solidFill>
                  <a:srgbClr val="6F6A5B"/>
                </a:solidFill>
                <a:latin typeface="Aptos"/>
              </a:rPr>
              <a:t>Slika prikazuje paper-style tok; desni stupac navodi što smo točno mogli reproducirati bez mijenjanja PaddleSpeech sourcea.</a:t>
            </a:r>
            <a:endParaRPr lang="hr-HR" sz="1080"/>
          </a:p>
        </p:txBody>
      </p:sp>
      <p:sp>
        <p:nvSpPr>
          <p:cNvPr id="5" name="Rule"/>
          <p:cNvSpPr/>
          <p:nvPr/>
        </p:nvSpPr>
        <p:spPr>
          <a:xfrm>
            <a:off x="444500" y="1447800"/>
            <a:ext cx="736600" cy="4445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pic>
        <p:nvPicPr>
          <p:cNvPr id="6" name="DeepSpeech2 architecture"/>
          <p:cNvPicPr/>
          <p:nvPr/>
        </p:nvPicPr>
        <p:blipFill>
          <a:blip r:embed="rId2"/>
          <a:stretch>
            <a:fillRect/>
          </a:stretch>
        </p:blipFill>
        <p:spPr>
          <a:xfrm>
            <a:off x="342900" y="1511300"/>
            <a:ext cx="7175500" cy="4032250"/>
          </a:xfrm>
          <a:prstGeom prst="rect">
            <a:avLst/>
          </a:prstGeom>
        </p:spPr>
      </p:pic>
      <p:sp>
        <p:nvSpPr>
          <p:cNvPr id="7" name="Rectangle"/>
          <p:cNvSpPr/>
          <p:nvPr/>
        </p:nvSpPr>
        <p:spPr>
          <a:xfrm>
            <a:off x="7823200" y="1536700"/>
            <a:ext cx="3873500" cy="2832100"/>
          </a:xfrm>
          <a:prstGeom prst="rect">
            <a:avLst/>
          </a:prstGeom>
          <a:solidFill>
            <a:srgbClr val="15171A"/>
          </a:solidFill>
          <a:ln>
            <a:noFill/>
          </a:ln>
        </p:spPr>
      </p:sp>
      <p:sp>
        <p:nvSpPr>
          <p:cNvPr id="8" name="Text"/>
          <p:cNvSpPr txBox="1"/>
          <p:nvPr/>
        </p:nvSpPr>
        <p:spPr>
          <a:xfrm>
            <a:off x="8001000" y="1689100"/>
            <a:ext cx="3556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F0B429"/>
                </a:solidFill>
                <a:latin typeface="Aptos"/>
              </a:rPr>
              <a:t>Što smo zadržali</a:t>
            </a:r>
            <a:endParaRPr lang="hr-HR" sz="1800"/>
          </a:p>
        </p:txBody>
      </p:sp>
      <p:sp>
        <p:nvSpPr>
          <p:cNvPr id="9" name="Text"/>
          <p:cNvSpPr txBox="1"/>
          <p:nvPr/>
        </p:nvSpPr>
        <p:spPr>
          <a:xfrm>
            <a:off x="8001000" y="2032000"/>
            <a:ext cx="3441700" cy="1054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50">
                <a:solidFill>
                  <a:srgbClr val="F8F3E8"/>
                </a:solidFill>
                <a:latin typeface="Aptos"/>
              </a:rPr>
              <a:t>• konvolucijski front-end</a:t>
            </a:r>
            <a:endParaRPr lang="hr-HR" sz="1350"/>
          </a:p>
          <a:p>
            <a:r>
              <a:rPr lang="hr-HR" sz="1350">
                <a:solidFill>
                  <a:srgbClr val="F8F3E8"/>
                </a:solidFill>
                <a:latin typeface="Aptos"/>
              </a:rPr>
              <a:t>• bidirectional offline recurrent layers</a:t>
            </a:r>
            <a:endParaRPr lang="hr-HR" sz="1350"/>
          </a:p>
          <a:p>
            <a:r>
              <a:rPr lang="hr-HR" sz="1350">
                <a:solidFill>
                  <a:srgbClr val="F8F3E8"/>
                </a:solidFill>
                <a:latin typeface="Aptos"/>
              </a:rPr>
              <a:t>• character CTC targets</a:t>
            </a:r>
            <a:endParaRPr lang="hr-HR" sz="1350"/>
          </a:p>
          <a:p>
            <a:r>
              <a:rPr lang="hr-HR" sz="1350">
                <a:solidFill>
                  <a:srgbClr val="F8F3E8"/>
                </a:solidFill>
                <a:latin typeface="Aptos"/>
              </a:rPr>
              <a:t>• beam search decoding path</a:t>
            </a:r>
            <a:endParaRPr lang="hr-HR" sz="1350"/>
          </a:p>
          <a:p>
            <a:r>
              <a:rPr lang="hr-HR" sz="1350">
                <a:solidFill>
                  <a:srgbClr val="F8F3E8"/>
                </a:solidFill>
                <a:latin typeface="Aptos"/>
              </a:rPr>
              <a:t>• external word-level KenLM scorer</a:t>
            </a:r>
            <a:endParaRPr lang="hr-HR" sz="1350"/>
          </a:p>
        </p:txBody>
      </p:sp>
      <p:sp>
        <p:nvSpPr>
          <p:cNvPr id="10" name="Text"/>
          <p:cNvSpPr txBox="1"/>
          <p:nvPr/>
        </p:nvSpPr>
        <p:spPr>
          <a:xfrm>
            <a:off x="8001000" y="3302000"/>
            <a:ext cx="3556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700" b="1">
                <a:solidFill>
                  <a:srgbClr val="F0B429"/>
                </a:solidFill>
                <a:latin typeface="Aptos"/>
              </a:rPr>
              <a:t>Razlike od paper konfiguracije</a:t>
            </a:r>
            <a:endParaRPr lang="hr-HR" sz="1700"/>
          </a:p>
        </p:txBody>
      </p:sp>
      <p:sp>
        <p:nvSpPr>
          <p:cNvPr id="11" name="Text"/>
          <p:cNvSpPr txBox="1"/>
          <p:nvPr/>
        </p:nvSpPr>
        <p:spPr>
          <a:xfrm>
            <a:off x="8001000" y="3606800"/>
            <a:ext cx="3441700" cy="596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260">
                <a:solidFill>
                  <a:srgbClr val="F2DFC7"/>
                </a:solidFill>
                <a:latin typeface="Aptos"/>
              </a:rPr>
              <a:t>BatchNorm, exact spectrogram path, Nesterov optimizer and lookahead conv are not exposed cleanly in this PaddleSpeech DS2 path.</a:t>
            </a:r>
            <a:endParaRPr lang="hr-HR" sz="1260"/>
          </a:p>
        </p:txBody>
      </p:sp>
      <p:sp>
        <p:nvSpPr>
          <p:cNvPr id="12" name="Rectangle"/>
          <p:cNvSpPr/>
          <p:nvPr/>
        </p:nvSpPr>
        <p:spPr>
          <a:xfrm>
            <a:off x="7823200" y="4622800"/>
            <a:ext cx="3873500" cy="609600"/>
          </a:xfrm>
          <a:prstGeom prst="rect">
            <a:avLst/>
          </a:prstGeom>
          <a:solidFill>
            <a:srgbClr val="F2DFC7"/>
          </a:solidFill>
          <a:ln w="12700">
            <a:solidFill>
              <a:srgbClr val="D6C8B5"/>
            </a:solidFill>
          </a:ln>
        </p:spPr>
      </p:sp>
      <p:sp>
        <p:nvSpPr>
          <p:cNvPr id="13" name="Text"/>
          <p:cNvSpPr txBox="1"/>
          <p:nvPr/>
        </p:nvSpPr>
        <p:spPr>
          <a:xfrm>
            <a:off x="8001000" y="4762500"/>
            <a:ext cx="3556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50" b="1">
                <a:solidFill>
                  <a:srgbClr val="15171A"/>
                </a:solidFill>
                <a:latin typeface="Aptos"/>
              </a:rPr>
              <a:t>Zaključak: VEPRAD run je paper-close approximation, ne bit-for-bit reprodukcija Deep Speech 2 rada.</a:t>
            </a:r>
            <a:endParaRPr lang="hr-HR" sz="1350"/>
          </a:p>
        </p:txBody>
      </p:sp>
      <p:sp>
        <p:nvSpPr>
          <p:cNvPr id="14" name="Footer"/>
          <p:cNvSpPr txBox="1"/>
          <p:nvPr/>
        </p:nvSpPr>
        <p:spPr>
          <a:xfrm>
            <a:off x="444500" y="6591300"/>
            <a:ext cx="92075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850">
                <a:solidFill>
                  <a:srgbClr val="6F6A5B"/>
                </a:solidFill>
                <a:latin typeface="Aptos"/>
              </a:rPr>
              <a:t>Architecture image: presentation/deepspeech2_architecture_generated_slide.png; exact configs: conf/deepspeech2_paper_*.yaml.</a:t>
            </a:r>
            <a:endParaRPr lang="hr-HR" sz="85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44500" y="292100"/>
            <a:ext cx="3683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500" b="1">
                <a:solidFill>
                  <a:srgbClr val="E24A2A"/>
                </a:solidFill>
                <a:latin typeface="Aptos"/>
              </a:rPr>
              <a:t>05 · MODELI I HIPERPARAMETRI</a:t>
            </a:r>
            <a:endParaRPr lang="hr-HR" sz="1500"/>
          </a:p>
        </p:txBody>
      </p:sp>
      <p:sp>
        <p:nvSpPr>
          <p:cNvPr id="3" name="Title"/>
          <p:cNvSpPr txBox="1"/>
          <p:nvPr/>
        </p:nvSpPr>
        <p:spPr>
          <a:xfrm>
            <a:off x="444500" y="520700"/>
            <a:ext cx="7937500" cy="546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2350" b="1">
                <a:solidFill>
                  <a:srgbClr val="15171A"/>
                </a:solidFill>
                <a:latin typeface="Aptos"/>
              </a:rPr>
              <a:t>Na istom VEPRAD splitu trenirali smo paper-small konfiguraciju i dvije dublje varijante.</a:t>
            </a:r>
            <a:endParaRPr lang="hr-HR" sz="2350"/>
          </a:p>
        </p:txBody>
      </p:sp>
      <p:sp>
        <p:nvSpPr>
          <p:cNvPr id="4" name="Support"/>
          <p:cNvSpPr txBox="1"/>
          <p:nvPr/>
        </p:nvSpPr>
        <p:spPr>
          <a:xfrm>
            <a:off x="444500" y="1130300"/>
            <a:ext cx="79375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80">
                <a:solidFill>
                  <a:srgbClr val="6F6A5B"/>
                </a:solidFill>
                <a:latin typeface="Aptos"/>
              </a:rPr>
              <a:t>Cilj nije bio samo dobiti jedan score, nego vidjeti što se na VEPRAD-u mijenja s dubinom i tipom rekurentne ćelije.</a:t>
            </a:r>
            <a:endParaRPr lang="hr-HR" sz="1080"/>
          </a:p>
        </p:txBody>
      </p:sp>
      <p:sp>
        <p:nvSpPr>
          <p:cNvPr id="5" name="Rule"/>
          <p:cNvSpPr/>
          <p:nvPr/>
        </p:nvSpPr>
        <p:spPr>
          <a:xfrm>
            <a:off x="444500" y="1447800"/>
            <a:ext cx="736600" cy="4445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6" name="Table background"/>
          <p:cNvSpPr/>
          <p:nvPr/>
        </p:nvSpPr>
        <p:spPr>
          <a:xfrm>
            <a:off x="444500" y="1651000"/>
            <a:ext cx="8572500" cy="1574800"/>
          </a:xfrm>
          <a:prstGeom prst="rect">
            <a:avLst/>
          </a:prstGeom>
          <a:solidFill>
            <a:srgbClr val="F8F3E8"/>
          </a:solidFill>
          <a:ln w="12700">
            <a:solidFill>
              <a:srgbClr val="D6C8B5"/>
            </a:solidFill>
          </a:ln>
        </p:spPr>
      </p:sp>
      <p:sp>
        <p:nvSpPr>
          <p:cNvPr id="7" name="Table header"/>
          <p:cNvSpPr/>
          <p:nvPr/>
        </p:nvSpPr>
        <p:spPr>
          <a:xfrm>
            <a:off x="444500" y="1651000"/>
            <a:ext cx="8572500" cy="39370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8" name="Table stripe"/>
          <p:cNvSpPr/>
          <p:nvPr/>
        </p:nvSpPr>
        <p:spPr>
          <a:xfrm>
            <a:off x="444500" y="2438400"/>
            <a:ext cx="8572500" cy="393700"/>
          </a:xfrm>
          <a:prstGeom prst="rect">
            <a:avLst/>
          </a:prstGeom>
          <a:solidFill>
            <a:srgbClr val="F2DFC7"/>
          </a:solidFill>
          <a:ln>
            <a:noFill/>
          </a:ln>
        </p:spPr>
      </p:sp>
      <p:sp>
        <p:nvSpPr>
          <p:cNvPr id="9" name="Header"/>
          <p:cNvSpPr txBox="1"/>
          <p:nvPr/>
        </p:nvSpPr>
        <p:spPr>
          <a:xfrm>
            <a:off x="495300" y="1708150"/>
            <a:ext cx="16764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 b="1">
                <a:solidFill>
                  <a:srgbClr val="F8F3E8"/>
                </a:solidFill>
                <a:latin typeface="Aptos"/>
              </a:rPr>
              <a:t>Run</a:t>
            </a:r>
            <a:endParaRPr lang="hr-HR" sz="1050"/>
          </a:p>
        </p:txBody>
      </p:sp>
      <p:sp>
        <p:nvSpPr>
          <p:cNvPr id="10" name="Header"/>
          <p:cNvSpPr txBox="1"/>
          <p:nvPr/>
        </p:nvSpPr>
        <p:spPr>
          <a:xfrm>
            <a:off x="2273300" y="1708150"/>
            <a:ext cx="1104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 b="1">
                <a:solidFill>
                  <a:srgbClr val="F8F3E8"/>
                </a:solidFill>
                <a:latin typeface="Aptos"/>
              </a:rPr>
              <a:t>recurrent</a:t>
            </a:r>
            <a:endParaRPr lang="hr-HR" sz="1050"/>
          </a:p>
        </p:txBody>
      </p:sp>
      <p:sp>
        <p:nvSpPr>
          <p:cNvPr id="11" name="Header"/>
          <p:cNvSpPr txBox="1"/>
          <p:nvPr/>
        </p:nvSpPr>
        <p:spPr>
          <a:xfrm>
            <a:off x="3479800" y="1708150"/>
            <a:ext cx="977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 b="1">
                <a:solidFill>
                  <a:srgbClr val="F8F3E8"/>
                </a:solidFill>
                <a:latin typeface="Aptos"/>
              </a:rPr>
              <a:t>layers</a:t>
            </a:r>
            <a:endParaRPr lang="hr-HR" sz="1050"/>
          </a:p>
        </p:txBody>
      </p:sp>
      <p:sp>
        <p:nvSpPr>
          <p:cNvPr id="12" name="Header"/>
          <p:cNvSpPr txBox="1"/>
          <p:nvPr/>
        </p:nvSpPr>
        <p:spPr>
          <a:xfrm>
            <a:off x="4559300" y="1708150"/>
            <a:ext cx="9144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 b="1">
                <a:solidFill>
                  <a:srgbClr val="F8F3E8"/>
                </a:solidFill>
                <a:latin typeface="Aptos"/>
              </a:rPr>
              <a:t>hidden</a:t>
            </a:r>
            <a:endParaRPr lang="hr-HR" sz="1050"/>
          </a:p>
        </p:txBody>
      </p:sp>
      <p:sp>
        <p:nvSpPr>
          <p:cNvPr id="13" name="Header"/>
          <p:cNvSpPr txBox="1"/>
          <p:nvPr/>
        </p:nvSpPr>
        <p:spPr>
          <a:xfrm>
            <a:off x="5575300" y="1708150"/>
            <a:ext cx="850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 b="1">
                <a:solidFill>
                  <a:srgbClr val="F8F3E8"/>
                </a:solidFill>
                <a:latin typeface="Aptos"/>
              </a:rPr>
              <a:t>params</a:t>
            </a:r>
            <a:endParaRPr lang="hr-HR" sz="1050"/>
          </a:p>
        </p:txBody>
      </p:sp>
      <p:sp>
        <p:nvSpPr>
          <p:cNvPr id="14" name="Header"/>
          <p:cNvSpPr txBox="1"/>
          <p:nvPr/>
        </p:nvSpPr>
        <p:spPr>
          <a:xfrm>
            <a:off x="6527800" y="1708150"/>
            <a:ext cx="977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 b="1">
                <a:solidFill>
                  <a:srgbClr val="F8F3E8"/>
                </a:solidFill>
                <a:latin typeface="Aptos"/>
              </a:rPr>
              <a:t>epochs</a:t>
            </a:r>
            <a:endParaRPr lang="hr-HR" sz="1050"/>
          </a:p>
        </p:txBody>
      </p:sp>
      <p:sp>
        <p:nvSpPr>
          <p:cNvPr id="15" name="Header"/>
          <p:cNvSpPr txBox="1"/>
          <p:nvPr/>
        </p:nvSpPr>
        <p:spPr>
          <a:xfrm>
            <a:off x="7607300" y="1708150"/>
            <a:ext cx="1358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 b="1">
                <a:solidFill>
                  <a:srgbClr val="F8F3E8"/>
                </a:solidFill>
                <a:latin typeface="Aptos"/>
              </a:rPr>
              <a:t>reason</a:t>
            </a:r>
            <a:endParaRPr lang="hr-HR" sz="1050"/>
          </a:p>
        </p:txBody>
      </p:sp>
      <p:sp>
        <p:nvSpPr>
          <p:cNvPr id="16" name="Cell"/>
          <p:cNvSpPr txBox="1"/>
          <p:nvPr/>
        </p:nvSpPr>
        <p:spPr>
          <a:xfrm>
            <a:off x="495300" y="2095500"/>
            <a:ext cx="16764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 b="1">
                <a:solidFill>
                  <a:srgbClr val="15171A"/>
                </a:solidFill>
                <a:latin typeface="Aptos"/>
              </a:rPr>
              <a:t>paper_small_001</a:t>
            </a:r>
            <a:endParaRPr lang="hr-HR" sz="1050"/>
          </a:p>
        </p:txBody>
      </p:sp>
      <p:sp>
        <p:nvSpPr>
          <p:cNvPr id="17" name="Cell"/>
          <p:cNvSpPr txBox="1"/>
          <p:nvPr/>
        </p:nvSpPr>
        <p:spPr>
          <a:xfrm>
            <a:off x="2273300" y="2095500"/>
            <a:ext cx="1104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>
                <a:solidFill>
                  <a:srgbClr val="20282C"/>
                </a:solidFill>
                <a:latin typeface="Aptos"/>
              </a:rPr>
              <a:t>GRU</a:t>
            </a:r>
            <a:endParaRPr lang="hr-HR" sz="1050"/>
          </a:p>
        </p:txBody>
      </p:sp>
      <p:sp>
        <p:nvSpPr>
          <p:cNvPr id="18" name="Cell"/>
          <p:cNvSpPr txBox="1"/>
          <p:nvPr/>
        </p:nvSpPr>
        <p:spPr>
          <a:xfrm>
            <a:off x="3479800" y="2095500"/>
            <a:ext cx="977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>
                <a:solidFill>
                  <a:srgbClr val="20282C"/>
                </a:solidFill>
                <a:latin typeface="Aptos"/>
              </a:rPr>
              <a:t>5 biRNN</a:t>
            </a:r>
            <a:endParaRPr lang="hr-HR" sz="1050"/>
          </a:p>
        </p:txBody>
      </p:sp>
      <p:sp>
        <p:nvSpPr>
          <p:cNvPr id="19" name="Cell"/>
          <p:cNvSpPr txBox="1"/>
          <p:nvPr/>
        </p:nvSpPr>
        <p:spPr>
          <a:xfrm>
            <a:off x="4559300" y="2095500"/>
            <a:ext cx="9144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>
                <a:solidFill>
                  <a:srgbClr val="20282C"/>
                </a:solidFill>
                <a:latin typeface="Aptos"/>
              </a:rPr>
              <a:t>650</a:t>
            </a:r>
            <a:endParaRPr lang="hr-HR" sz="1050"/>
          </a:p>
        </p:txBody>
      </p:sp>
      <p:sp>
        <p:nvSpPr>
          <p:cNvPr id="20" name="Cell"/>
          <p:cNvSpPr txBox="1"/>
          <p:nvPr/>
        </p:nvSpPr>
        <p:spPr>
          <a:xfrm>
            <a:off x="5575300" y="2095500"/>
            <a:ext cx="850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>
                <a:solidFill>
                  <a:srgbClr val="20282C"/>
                </a:solidFill>
                <a:latin typeface="Aptos"/>
              </a:rPr>
              <a:t>36.21M</a:t>
            </a:r>
            <a:endParaRPr lang="hr-HR" sz="1050"/>
          </a:p>
        </p:txBody>
      </p:sp>
      <p:sp>
        <p:nvSpPr>
          <p:cNvPr id="21" name="Cell"/>
          <p:cNvSpPr txBox="1"/>
          <p:nvPr/>
        </p:nvSpPr>
        <p:spPr>
          <a:xfrm>
            <a:off x="6527800" y="2095500"/>
            <a:ext cx="977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>
                <a:solidFill>
                  <a:srgbClr val="20282C"/>
                </a:solidFill>
                <a:latin typeface="Aptos"/>
              </a:rPr>
              <a:t>20</a:t>
            </a:r>
            <a:endParaRPr lang="hr-HR" sz="1050"/>
          </a:p>
        </p:txBody>
      </p:sp>
      <p:sp>
        <p:nvSpPr>
          <p:cNvPr id="22" name="Cell"/>
          <p:cNvSpPr txBox="1"/>
          <p:nvPr/>
        </p:nvSpPr>
        <p:spPr>
          <a:xfrm>
            <a:off x="7607300" y="2095500"/>
            <a:ext cx="1358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>
                <a:solidFill>
                  <a:srgbClr val="20282C"/>
                </a:solidFill>
                <a:latin typeface="Aptos"/>
              </a:rPr>
              <a:t>najbliže small DS2</a:t>
            </a:r>
            <a:endParaRPr lang="hr-HR" sz="1050"/>
          </a:p>
          <a:p>
            <a:r>
              <a:rPr lang="hr-HR" sz="1050">
                <a:solidFill>
                  <a:srgbClr val="20282C"/>
                </a:solidFill>
                <a:latin typeface="Aptos"/>
              </a:rPr>
              <a:t>bez source edita</a:t>
            </a:r>
            <a:endParaRPr lang="hr-HR" sz="1050"/>
          </a:p>
        </p:txBody>
      </p:sp>
      <p:sp>
        <p:nvSpPr>
          <p:cNvPr id="23" name="Cell"/>
          <p:cNvSpPr txBox="1"/>
          <p:nvPr/>
        </p:nvSpPr>
        <p:spPr>
          <a:xfrm>
            <a:off x="495300" y="2489200"/>
            <a:ext cx="16764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 b="1">
                <a:solidFill>
                  <a:srgbClr val="15171A"/>
                </a:solidFill>
                <a:latin typeface="Aptos"/>
              </a:rPr>
              <a:t>paper_7gru_001</a:t>
            </a:r>
            <a:endParaRPr lang="hr-HR" sz="1050"/>
          </a:p>
        </p:txBody>
      </p:sp>
      <p:sp>
        <p:nvSpPr>
          <p:cNvPr id="24" name="Cell"/>
          <p:cNvSpPr txBox="1"/>
          <p:nvPr/>
        </p:nvSpPr>
        <p:spPr>
          <a:xfrm>
            <a:off x="2273300" y="2489200"/>
            <a:ext cx="1104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>
                <a:solidFill>
                  <a:srgbClr val="20282C"/>
                </a:solidFill>
                <a:latin typeface="Aptos"/>
              </a:rPr>
              <a:t>GRU</a:t>
            </a:r>
            <a:endParaRPr lang="hr-HR" sz="1050"/>
          </a:p>
        </p:txBody>
      </p:sp>
      <p:sp>
        <p:nvSpPr>
          <p:cNvPr id="25" name="Cell"/>
          <p:cNvSpPr txBox="1"/>
          <p:nvPr/>
        </p:nvSpPr>
        <p:spPr>
          <a:xfrm>
            <a:off x="3479800" y="2489200"/>
            <a:ext cx="977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>
                <a:solidFill>
                  <a:srgbClr val="20282C"/>
                </a:solidFill>
                <a:latin typeface="Aptos"/>
              </a:rPr>
              <a:t>7 biRNN</a:t>
            </a:r>
            <a:endParaRPr lang="hr-HR" sz="1050"/>
          </a:p>
        </p:txBody>
      </p:sp>
      <p:sp>
        <p:nvSpPr>
          <p:cNvPr id="26" name="Cell"/>
          <p:cNvSpPr txBox="1"/>
          <p:nvPr/>
        </p:nvSpPr>
        <p:spPr>
          <a:xfrm>
            <a:off x="4559300" y="2489200"/>
            <a:ext cx="9144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>
                <a:solidFill>
                  <a:srgbClr val="20282C"/>
                </a:solidFill>
                <a:latin typeface="Aptos"/>
              </a:rPr>
              <a:t>650</a:t>
            </a:r>
            <a:endParaRPr lang="hr-HR" sz="1050"/>
          </a:p>
        </p:txBody>
      </p:sp>
      <p:sp>
        <p:nvSpPr>
          <p:cNvPr id="27" name="Cell"/>
          <p:cNvSpPr txBox="1"/>
          <p:nvPr/>
        </p:nvSpPr>
        <p:spPr>
          <a:xfrm>
            <a:off x="5575300" y="2489200"/>
            <a:ext cx="850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>
                <a:solidFill>
                  <a:srgbClr val="20282C"/>
                </a:solidFill>
                <a:latin typeface="Aptos"/>
              </a:rPr>
              <a:t>50.73M</a:t>
            </a:r>
            <a:endParaRPr lang="hr-HR" sz="1050"/>
          </a:p>
        </p:txBody>
      </p:sp>
      <p:sp>
        <p:nvSpPr>
          <p:cNvPr id="28" name="Cell"/>
          <p:cNvSpPr txBox="1"/>
          <p:nvPr/>
        </p:nvSpPr>
        <p:spPr>
          <a:xfrm>
            <a:off x="6527800" y="2489200"/>
            <a:ext cx="977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>
                <a:solidFill>
                  <a:srgbClr val="20282C"/>
                </a:solidFill>
                <a:latin typeface="Aptos"/>
              </a:rPr>
              <a:t>20</a:t>
            </a:r>
            <a:endParaRPr lang="hr-HR" sz="1050"/>
          </a:p>
        </p:txBody>
      </p:sp>
      <p:sp>
        <p:nvSpPr>
          <p:cNvPr id="29" name="Cell"/>
          <p:cNvSpPr txBox="1"/>
          <p:nvPr/>
        </p:nvSpPr>
        <p:spPr>
          <a:xfrm>
            <a:off x="7607300" y="2489200"/>
            <a:ext cx="1358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>
                <a:solidFill>
                  <a:srgbClr val="20282C"/>
                </a:solidFill>
                <a:latin typeface="Aptos"/>
              </a:rPr>
              <a:t>+2 sloja,</a:t>
            </a:r>
            <a:endParaRPr lang="hr-HR" sz="1050"/>
          </a:p>
          <a:p>
            <a:r>
              <a:rPr lang="hr-HR" sz="1050">
                <a:solidFill>
                  <a:srgbClr val="20282C"/>
                </a:solidFill>
                <a:latin typeface="Aptos"/>
              </a:rPr>
              <a:t>isti cell</a:t>
            </a:r>
            <a:endParaRPr lang="hr-HR" sz="1050"/>
          </a:p>
        </p:txBody>
      </p:sp>
      <p:sp>
        <p:nvSpPr>
          <p:cNvPr id="30" name="Cell"/>
          <p:cNvSpPr txBox="1"/>
          <p:nvPr/>
        </p:nvSpPr>
        <p:spPr>
          <a:xfrm>
            <a:off x="495300" y="2882900"/>
            <a:ext cx="16764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 b="1">
                <a:solidFill>
                  <a:srgbClr val="15171A"/>
                </a:solidFill>
                <a:latin typeface="Aptos"/>
              </a:rPr>
              <a:t>paper_7lstm_001</a:t>
            </a:r>
            <a:endParaRPr lang="hr-HR" sz="1050"/>
          </a:p>
        </p:txBody>
      </p:sp>
      <p:sp>
        <p:nvSpPr>
          <p:cNvPr id="31" name="Cell"/>
          <p:cNvSpPr txBox="1"/>
          <p:nvPr/>
        </p:nvSpPr>
        <p:spPr>
          <a:xfrm>
            <a:off x="2273300" y="2882900"/>
            <a:ext cx="1104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>
                <a:solidFill>
                  <a:srgbClr val="20282C"/>
                </a:solidFill>
                <a:latin typeface="Aptos"/>
              </a:rPr>
              <a:t>LSTM</a:t>
            </a:r>
            <a:endParaRPr lang="hr-HR" sz="1050"/>
          </a:p>
        </p:txBody>
      </p:sp>
      <p:sp>
        <p:nvSpPr>
          <p:cNvPr id="32" name="Cell"/>
          <p:cNvSpPr txBox="1"/>
          <p:nvPr/>
        </p:nvSpPr>
        <p:spPr>
          <a:xfrm>
            <a:off x="3479800" y="2882900"/>
            <a:ext cx="977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>
                <a:solidFill>
                  <a:srgbClr val="20282C"/>
                </a:solidFill>
                <a:latin typeface="Aptos"/>
              </a:rPr>
              <a:t>7 biRNN</a:t>
            </a:r>
            <a:endParaRPr lang="hr-HR" sz="1050"/>
          </a:p>
        </p:txBody>
      </p:sp>
      <p:sp>
        <p:nvSpPr>
          <p:cNvPr id="33" name="Cell"/>
          <p:cNvSpPr txBox="1"/>
          <p:nvPr/>
        </p:nvSpPr>
        <p:spPr>
          <a:xfrm>
            <a:off x="4559300" y="2882900"/>
            <a:ext cx="9144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>
                <a:solidFill>
                  <a:srgbClr val="20282C"/>
                </a:solidFill>
                <a:latin typeface="Aptos"/>
              </a:rPr>
              <a:t>650</a:t>
            </a:r>
            <a:endParaRPr lang="hr-HR" sz="1050"/>
          </a:p>
        </p:txBody>
      </p:sp>
      <p:sp>
        <p:nvSpPr>
          <p:cNvPr id="34" name="Cell"/>
          <p:cNvSpPr txBox="1"/>
          <p:nvPr/>
        </p:nvSpPr>
        <p:spPr>
          <a:xfrm>
            <a:off x="5575300" y="2882900"/>
            <a:ext cx="850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>
                <a:solidFill>
                  <a:srgbClr val="20282C"/>
                </a:solidFill>
                <a:latin typeface="Aptos"/>
              </a:rPr>
              <a:t>67.61M</a:t>
            </a:r>
            <a:endParaRPr lang="hr-HR" sz="1050"/>
          </a:p>
        </p:txBody>
      </p:sp>
      <p:sp>
        <p:nvSpPr>
          <p:cNvPr id="35" name="Cell"/>
          <p:cNvSpPr txBox="1"/>
          <p:nvPr/>
        </p:nvSpPr>
        <p:spPr>
          <a:xfrm>
            <a:off x="6527800" y="2882900"/>
            <a:ext cx="977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>
                <a:solidFill>
                  <a:srgbClr val="20282C"/>
                </a:solidFill>
                <a:latin typeface="Aptos"/>
              </a:rPr>
              <a:t>20</a:t>
            </a:r>
            <a:endParaRPr lang="hr-HR" sz="1050"/>
          </a:p>
        </p:txBody>
      </p:sp>
      <p:sp>
        <p:nvSpPr>
          <p:cNvPr id="36" name="Cell"/>
          <p:cNvSpPr txBox="1"/>
          <p:nvPr/>
        </p:nvSpPr>
        <p:spPr>
          <a:xfrm>
            <a:off x="7607300" y="2882900"/>
            <a:ext cx="13589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>
                <a:solidFill>
                  <a:srgbClr val="20282C"/>
                </a:solidFill>
                <a:latin typeface="Aptos"/>
              </a:rPr>
              <a:t>usporedba cella</a:t>
            </a:r>
            <a:endParaRPr lang="hr-HR" sz="1050"/>
          </a:p>
          <a:p>
            <a:r>
              <a:rPr lang="hr-HR" sz="1050">
                <a:solidFill>
                  <a:srgbClr val="20282C"/>
                </a:solidFill>
                <a:latin typeface="Aptos"/>
              </a:rPr>
              <a:t>s istom dubinom</a:t>
            </a:r>
            <a:endParaRPr lang="hr-HR" sz="1050"/>
          </a:p>
        </p:txBody>
      </p:sp>
      <p:sp>
        <p:nvSpPr>
          <p:cNvPr id="37" name="Text"/>
          <p:cNvSpPr txBox="1"/>
          <p:nvPr/>
        </p:nvSpPr>
        <p:spPr>
          <a:xfrm>
            <a:off x="444500" y="3556000"/>
            <a:ext cx="285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15171A"/>
                </a:solidFill>
                <a:latin typeface="Aptos"/>
              </a:rPr>
              <a:t>Zajedničko u treningu</a:t>
            </a:r>
            <a:endParaRPr lang="hr-HR" sz="1800"/>
          </a:p>
        </p:txBody>
      </p:sp>
      <p:sp>
        <p:nvSpPr>
          <p:cNvPr id="38" name="Rule"/>
          <p:cNvSpPr/>
          <p:nvPr/>
        </p:nvSpPr>
        <p:spPr>
          <a:xfrm>
            <a:off x="444500" y="3797300"/>
            <a:ext cx="571500" cy="38100"/>
          </a:xfrm>
          <a:prstGeom prst="rect">
            <a:avLst/>
          </a:prstGeom>
          <a:solidFill>
            <a:srgbClr val="2C8C99"/>
          </a:solidFill>
          <a:ln>
            <a:noFill/>
          </a:ln>
        </p:spPr>
      </p:sp>
      <p:sp>
        <p:nvSpPr>
          <p:cNvPr id="39" name="Text"/>
          <p:cNvSpPr txBox="1"/>
          <p:nvPr/>
        </p:nvSpPr>
        <p:spPr>
          <a:xfrm>
            <a:off x="444500" y="3949700"/>
            <a:ext cx="3937000" cy="1257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50">
                <a:solidFill>
                  <a:srgbClr val="20282C"/>
                </a:solidFill>
                <a:latin typeface="Aptos"/>
              </a:rPr>
              <a:t>• 2 convolution layers, no FC layers</a:t>
            </a:r>
            <a:endParaRPr lang="hr-HR" sz="1350"/>
          </a:p>
          <a:p>
            <a:r>
              <a:rPr lang="hr-HR" sz="1350">
                <a:solidFill>
                  <a:srgbClr val="20282C"/>
                </a:solidFill>
                <a:latin typeface="Aptos"/>
              </a:rPr>
              <a:t>• fbank_kaldi 161 + CMVN, no augmentation</a:t>
            </a:r>
            <a:endParaRPr lang="hr-HR" sz="1350"/>
          </a:p>
          <a:p>
            <a:r>
              <a:rPr lang="hr-HR" sz="1350">
                <a:solidFill>
                  <a:srgbClr val="20282C"/>
                </a:solidFill>
                <a:latin typeface="Aptos"/>
              </a:rPr>
              <a:t>• batch size 32, 8 workers</a:t>
            </a:r>
            <a:endParaRPr lang="hr-HR" sz="1350"/>
          </a:p>
          <a:p>
            <a:r>
              <a:rPr lang="hr-HR" sz="1350">
                <a:solidFill>
                  <a:srgbClr val="20282C"/>
                </a:solidFill>
                <a:latin typeface="Aptos"/>
              </a:rPr>
              <a:t>• lr 5e-4, exponential decay 0.93, grad clip 5.0</a:t>
            </a:r>
            <a:endParaRPr lang="hr-HR" sz="1350"/>
          </a:p>
          <a:p>
            <a:r>
              <a:rPr lang="hr-HR" sz="1350">
                <a:solidFill>
                  <a:srgbClr val="20282C"/>
                </a:solidFill>
                <a:latin typeface="Aptos"/>
              </a:rPr>
              <a:t>• avg_1 checkpoint used for final eval</a:t>
            </a:r>
            <a:endParaRPr lang="hr-HR" sz="1350"/>
          </a:p>
        </p:txBody>
      </p:sp>
      <p:sp>
        <p:nvSpPr>
          <p:cNvPr id="40" name="Text"/>
          <p:cNvSpPr txBox="1"/>
          <p:nvPr/>
        </p:nvSpPr>
        <p:spPr>
          <a:xfrm>
            <a:off x="4953000" y="3556000"/>
            <a:ext cx="2857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15171A"/>
                </a:solidFill>
                <a:latin typeface="Aptos"/>
              </a:rPr>
              <a:t>Zašto ovako</a:t>
            </a:r>
            <a:endParaRPr lang="hr-HR" sz="1800"/>
          </a:p>
        </p:txBody>
      </p:sp>
      <p:sp>
        <p:nvSpPr>
          <p:cNvPr id="41" name="Rule"/>
          <p:cNvSpPr/>
          <p:nvPr/>
        </p:nvSpPr>
        <p:spPr>
          <a:xfrm>
            <a:off x="4953000" y="3797300"/>
            <a:ext cx="571500" cy="38100"/>
          </a:xfrm>
          <a:prstGeom prst="rect">
            <a:avLst/>
          </a:prstGeom>
          <a:solidFill>
            <a:srgbClr val="F0B429"/>
          </a:solidFill>
          <a:ln>
            <a:noFill/>
          </a:ln>
        </p:spPr>
      </p:sp>
      <p:sp>
        <p:nvSpPr>
          <p:cNvPr id="42" name="Text"/>
          <p:cNvSpPr txBox="1"/>
          <p:nvPr/>
        </p:nvSpPr>
        <p:spPr>
          <a:xfrm>
            <a:off x="4953000" y="3949700"/>
            <a:ext cx="4127500" cy="1257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50">
                <a:solidFill>
                  <a:srgbClr val="20282C"/>
                </a:solidFill>
                <a:latin typeface="Aptos"/>
              </a:rPr>
              <a:t>Paper-small run drži hidden size 650 i GRU kao najbližu izvedivu VEPRAD varijantu unutar PaddleSpeecha.</a:t>
            </a:r>
            <a:endParaRPr lang="hr-HR" sz="1350"/>
          </a:p>
          <a:p>
            <a:r>
              <a:rPr lang="hr-HR" sz="1350">
                <a:solidFill>
                  <a:srgbClr val="6F6A5B"/>
                </a:solidFill>
                <a:latin typeface="Aptos"/>
              </a:rPr>
              <a:t>Dublji GRU testira samu dubinu. LSTM testira je li druga recurrent cell bolja na istom VEPRAD splitu i decoding protokolu.</a:t>
            </a:r>
            <a:endParaRPr lang="hr-HR" sz="1350"/>
          </a:p>
        </p:txBody>
      </p:sp>
      <p:sp>
        <p:nvSpPr>
          <p:cNvPr id="43" name="Rectangle"/>
          <p:cNvSpPr/>
          <p:nvPr/>
        </p:nvSpPr>
        <p:spPr>
          <a:xfrm>
            <a:off x="444500" y="5588000"/>
            <a:ext cx="8699500" cy="495300"/>
          </a:xfrm>
          <a:prstGeom prst="rect">
            <a:avLst/>
          </a:prstGeom>
          <a:solidFill>
            <a:srgbClr val="F2DFC7"/>
          </a:solidFill>
          <a:ln w="12700">
            <a:solidFill>
              <a:srgbClr val="D6C8B5"/>
            </a:solidFill>
          </a:ln>
        </p:spPr>
      </p:sp>
      <p:sp>
        <p:nvSpPr>
          <p:cNvPr id="44" name="Text"/>
          <p:cNvSpPr txBox="1"/>
          <p:nvPr/>
        </p:nvSpPr>
        <p:spPr>
          <a:xfrm>
            <a:off x="609600" y="5702300"/>
            <a:ext cx="838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00" b="1">
                <a:solidFill>
                  <a:srgbClr val="15171A"/>
                </a:solidFill>
                <a:latin typeface="Aptos"/>
              </a:rPr>
              <a:t>Optimizer napomena: za razliku od DS2 papera, ovaj PaddleSpeech trainer koristi Adam + LR decay; to eksplicitno navodimo kao razliku od paper reprodukcije.</a:t>
            </a:r>
            <a:endParaRPr lang="hr-HR" sz="1300"/>
          </a:p>
        </p:txBody>
      </p:sp>
      <p:sp>
        <p:nvSpPr>
          <p:cNvPr id="45" name="Footer"/>
          <p:cNvSpPr txBox="1"/>
          <p:nvPr/>
        </p:nvSpPr>
        <p:spPr>
          <a:xfrm>
            <a:off x="444500" y="6591300"/>
            <a:ext cx="92075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850">
                <a:solidFill>
                  <a:srgbClr val="6F6A5B"/>
                </a:solidFill>
                <a:latin typeface="Aptos"/>
              </a:rPr>
              <a:t>Konfiguracije: conf/deepspeech2_paper_small.yaml, conf/deepspeech2_paper_7gru.yaml, conf/deepspeech2_paper_7lstm.yaml.</a:t>
            </a:r>
            <a:endParaRPr lang="hr-HR" sz="85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44500" y="292100"/>
            <a:ext cx="3683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500" b="1">
                <a:solidFill>
                  <a:srgbClr val="E24A2A"/>
                </a:solidFill>
                <a:latin typeface="Aptos"/>
              </a:rPr>
              <a:t>06 · KENLM DEKODIRANJE</a:t>
            </a:r>
            <a:endParaRPr lang="hr-HR" sz="1500"/>
          </a:p>
        </p:txBody>
      </p:sp>
      <p:sp>
        <p:nvSpPr>
          <p:cNvPr id="3" name="Title"/>
          <p:cNvSpPr txBox="1"/>
          <p:nvPr/>
        </p:nvSpPr>
        <p:spPr>
          <a:xfrm>
            <a:off x="444500" y="520700"/>
            <a:ext cx="7937500" cy="546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2350" b="1">
                <a:solidFill>
                  <a:srgbClr val="15171A"/>
                </a:solidFill>
                <a:latin typeface="Aptos"/>
              </a:rPr>
              <a:t>KenLM se trenira na VEPRAD train transkriptima.</a:t>
            </a:r>
            <a:endParaRPr lang="hr-HR" sz="2350"/>
          </a:p>
        </p:txBody>
      </p:sp>
      <p:sp>
        <p:nvSpPr>
          <p:cNvPr id="4" name="Support"/>
          <p:cNvSpPr txBox="1"/>
          <p:nvPr/>
        </p:nvSpPr>
        <p:spPr>
          <a:xfrm>
            <a:off x="444500" y="1130300"/>
            <a:ext cx="79375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80">
                <a:solidFill>
                  <a:srgbClr val="6F6A5B"/>
                </a:solidFill>
                <a:latin typeface="Aptos"/>
              </a:rPr>
              <a:t>Prije LM treninga izbacujemo VEPRAD train rečenice koje se previše poklapaju s val/test tekstom.</a:t>
            </a:r>
            <a:endParaRPr lang="hr-HR" sz="1080"/>
          </a:p>
        </p:txBody>
      </p:sp>
      <p:sp>
        <p:nvSpPr>
          <p:cNvPr id="5" name="Rule"/>
          <p:cNvSpPr/>
          <p:nvPr/>
        </p:nvSpPr>
        <p:spPr>
          <a:xfrm>
            <a:off x="444500" y="1447800"/>
            <a:ext cx="736600" cy="4445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6" name="Rectangle"/>
          <p:cNvSpPr/>
          <p:nvPr/>
        </p:nvSpPr>
        <p:spPr>
          <a:xfrm>
            <a:off x="444500" y="1651000"/>
            <a:ext cx="3175000" cy="1333500"/>
          </a:xfrm>
          <a:prstGeom prst="rect">
            <a:avLst/>
          </a:prstGeom>
          <a:solidFill>
            <a:srgbClr val="15171A"/>
          </a:solidFill>
          <a:ln>
            <a:noFill/>
          </a:ln>
        </p:spPr>
      </p:sp>
      <p:sp>
        <p:nvSpPr>
          <p:cNvPr id="7" name="Text"/>
          <p:cNvSpPr txBox="1"/>
          <p:nvPr/>
        </p:nvSpPr>
        <p:spPr>
          <a:xfrm>
            <a:off x="609600" y="1790700"/>
            <a:ext cx="28575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F0B429"/>
                </a:solidFill>
                <a:latin typeface="Aptos"/>
              </a:rPr>
              <a:t>LM corpus filter</a:t>
            </a:r>
            <a:endParaRPr lang="hr-HR" sz="1800"/>
          </a:p>
        </p:txBody>
      </p:sp>
      <p:sp>
        <p:nvSpPr>
          <p:cNvPr id="8" name="Text"/>
          <p:cNvSpPr txBox="1"/>
          <p:nvPr/>
        </p:nvSpPr>
        <p:spPr>
          <a:xfrm>
            <a:off x="609600" y="2082800"/>
            <a:ext cx="2730500" cy="673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50" b="1">
                <a:solidFill>
                  <a:srgbClr val="F8F3E8"/>
                </a:solidFill>
                <a:latin typeface="Aptos"/>
              </a:rPr>
              <a:t>train rows: 3057</a:t>
            </a:r>
            <a:endParaRPr lang="hr-HR" sz="1350"/>
          </a:p>
          <a:p>
            <a:r>
              <a:rPr lang="hr-HR" sz="1350">
                <a:solidFill>
                  <a:srgbClr val="F8F3E8"/>
                </a:solidFill>
                <a:latin typeface="Aptos"/>
              </a:rPr>
              <a:t>kept for KenLM: 2290</a:t>
            </a:r>
            <a:endParaRPr lang="hr-HR" sz="1350"/>
          </a:p>
          <a:p>
            <a:r>
              <a:rPr lang="hr-HR" sz="1240">
                <a:solidFill>
                  <a:srgbClr val="F2DFC7"/>
                </a:solidFill>
                <a:latin typeface="Aptos"/>
              </a:rPr>
              <a:t>excluded: 767 exact/fuzzy held-out matches</a:t>
            </a:r>
            <a:endParaRPr lang="hr-HR" sz="1240"/>
          </a:p>
        </p:txBody>
      </p:sp>
      <p:sp>
        <p:nvSpPr>
          <p:cNvPr id="9" name="Rectangle"/>
          <p:cNvSpPr/>
          <p:nvPr/>
        </p:nvSpPr>
        <p:spPr>
          <a:xfrm>
            <a:off x="3873500" y="1651000"/>
            <a:ext cx="3175000" cy="1333500"/>
          </a:xfrm>
          <a:prstGeom prst="rect">
            <a:avLst/>
          </a:prstGeom>
          <a:solidFill>
            <a:srgbClr val="2C8C99"/>
          </a:solidFill>
          <a:ln>
            <a:noFill/>
          </a:ln>
        </p:spPr>
      </p:sp>
      <p:sp>
        <p:nvSpPr>
          <p:cNvPr id="10" name="Text"/>
          <p:cNvSpPr txBox="1"/>
          <p:nvPr/>
        </p:nvSpPr>
        <p:spPr>
          <a:xfrm>
            <a:off x="4038600" y="1790700"/>
            <a:ext cx="28575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F8F3E8"/>
                </a:solidFill>
                <a:latin typeface="Aptos"/>
              </a:rPr>
              <a:t>Scorer</a:t>
            </a:r>
            <a:endParaRPr lang="hr-HR" sz="1800"/>
          </a:p>
        </p:txBody>
      </p:sp>
      <p:sp>
        <p:nvSpPr>
          <p:cNvPr id="11" name="Text"/>
          <p:cNvSpPr txBox="1"/>
          <p:nvPr/>
        </p:nvSpPr>
        <p:spPr>
          <a:xfrm>
            <a:off x="4038600" y="2082800"/>
            <a:ext cx="2730500" cy="673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00" b="1">
                <a:solidFill>
                  <a:srgbClr val="F8F3E8"/>
                </a:solidFill>
                <a:latin typeface="Aptos"/>
              </a:rPr>
              <a:t>word-level KenLM 5-gram</a:t>
            </a:r>
            <a:endParaRPr lang="hr-HR" sz="1300"/>
          </a:p>
          <a:p>
            <a:r>
              <a:rPr lang="hr-HR" sz="1240">
                <a:solidFill>
                  <a:srgbClr val="F8F3E8"/>
                </a:solidFill>
                <a:latin typeface="Aptos"/>
              </a:rPr>
              <a:t>is_character_based = 0</a:t>
            </a:r>
            <a:endParaRPr lang="hr-HR" sz="1240"/>
          </a:p>
          <a:p>
            <a:r>
              <a:rPr lang="hr-HR" sz="1240">
                <a:solidFill>
                  <a:srgbClr val="F8F3E8"/>
                </a:solidFill>
                <a:latin typeface="Aptos"/>
              </a:rPr>
              <a:t>max_order = 5</a:t>
            </a:r>
            <a:endParaRPr lang="hr-HR" sz="1240"/>
          </a:p>
          <a:p>
            <a:r>
              <a:rPr lang="hr-HR" sz="1240">
                <a:solidFill>
                  <a:srgbClr val="F8F3E8"/>
                </a:solidFill>
                <a:latin typeface="Aptos"/>
              </a:rPr>
              <a:t>dict_size = 1181</a:t>
            </a:r>
            <a:endParaRPr lang="hr-HR" sz="1240"/>
          </a:p>
        </p:txBody>
      </p:sp>
      <p:sp>
        <p:nvSpPr>
          <p:cNvPr id="12" name="Rectangle"/>
          <p:cNvSpPr/>
          <p:nvPr/>
        </p:nvSpPr>
        <p:spPr>
          <a:xfrm>
            <a:off x="7302500" y="1651000"/>
            <a:ext cx="3175000" cy="1333500"/>
          </a:xfrm>
          <a:prstGeom prst="rect">
            <a:avLst/>
          </a:prstGeom>
          <a:solidFill>
            <a:srgbClr val="F0B429"/>
          </a:solidFill>
          <a:ln>
            <a:noFill/>
          </a:ln>
        </p:spPr>
      </p:sp>
      <p:sp>
        <p:nvSpPr>
          <p:cNvPr id="13" name="Text"/>
          <p:cNvSpPr txBox="1"/>
          <p:nvPr/>
        </p:nvSpPr>
        <p:spPr>
          <a:xfrm>
            <a:off x="7467600" y="1790700"/>
            <a:ext cx="28575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15171A"/>
                </a:solidFill>
                <a:latin typeface="Aptos"/>
              </a:rPr>
              <a:t>Sweep grid</a:t>
            </a:r>
            <a:endParaRPr lang="hr-HR" sz="1800"/>
          </a:p>
        </p:txBody>
      </p:sp>
      <p:sp>
        <p:nvSpPr>
          <p:cNvPr id="14" name="Text"/>
          <p:cNvSpPr txBox="1"/>
          <p:nvPr/>
        </p:nvSpPr>
        <p:spPr>
          <a:xfrm>
            <a:off x="7467600" y="2082800"/>
            <a:ext cx="2730500" cy="673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220" b="1">
                <a:solidFill>
                  <a:srgbClr val="15171A"/>
                </a:solidFill>
                <a:latin typeface="Aptos"/>
              </a:rPr>
              <a:t>beam 5/10/20/40 at a=2.5 b=0.3</a:t>
            </a:r>
            <a:endParaRPr lang="hr-HR" sz="1220"/>
          </a:p>
          <a:p>
            <a:r>
              <a:rPr lang="hr-HR" sz="1220">
                <a:solidFill>
                  <a:srgbClr val="15171A"/>
                </a:solidFill>
                <a:latin typeface="Aptos"/>
              </a:rPr>
              <a:t>beam 20 alpha: 2.0 / 3.0</a:t>
            </a:r>
            <a:endParaRPr lang="hr-HR" sz="1220"/>
          </a:p>
          <a:p>
            <a:r>
              <a:rPr lang="hr-HR" sz="1220">
                <a:solidFill>
                  <a:srgbClr val="15171A"/>
                </a:solidFill>
                <a:latin typeface="Aptos"/>
              </a:rPr>
              <a:t>beam 20 beta: 0.0 / 0.6</a:t>
            </a:r>
            <a:endParaRPr lang="hr-HR" sz="1220"/>
          </a:p>
        </p:txBody>
      </p:sp>
      <p:sp>
        <p:nvSpPr>
          <p:cNvPr id="15" name="Text"/>
          <p:cNvSpPr txBox="1"/>
          <p:nvPr/>
        </p:nvSpPr>
        <p:spPr>
          <a:xfrm>
            <a:off x="444500" y="3429000"/>
            <a:ext cx="3556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00" b="1">
                <a:solidFill>
                  <a:srgbClr val="15171A"/>
                </a:solidFill>
                <a:latin typeface="Aptos"/>
              </a:rPr>
              <a:t>Najbolji VEPRAD decoder</a:t>
            </a:r>
            <a:endParaRPr lang="hr-HR" sz="1800"/>
          </a:p>
        </p:txBody>
      </p:sp>
      <p:sp>
        <p:nvSpPr>
          <p:cNvPr id="16" name="Rule"/>
          <p:cNvSpPr/>
          <p:nvPr/>
        </p:nvSpPr>
        <p:spPr>
          <a:xfrm>
            <a:off x="444500" y="3670300"/>
            <a:ext cx="571500" cy="3810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17" name="Table background"/>
          <p:cNvSpPr/>
          <p:nvPr/>
        </p:nvSpPr>
        <p:spPr>
          <a:xfrm>
            <a:off x="444500" y="3886200"/>
            <a:ext cx="7747000" cy="1473200"/>
          </a:xfrm>
          <a:prstGeom prst="rect">
            <a:avLst/>
          </a:prstGeom>
          <a:solidFill>
            <a:srgbClr val="F8F3E8"/>
          </a:solidFill>
          <a:ln w="12700">
            <a:solidFill>
              <a:srgbClr val="D6C8B5"/>
            </a:solidFill>
          </a:ln>
        </p:spPr>
      </p:sp>
      <p:sp>
        <p:nvSpPr>
          <p:cNvPr id="18" name="Table header"/>
          <p:cNvSpPr/>
          <p:nvPr/>
        </p:nvSpPr>
        <p:spPr>
          <a:xfrm>
            <a:off x="444500" y="3886200"/>
            <a:ext cx="7747000" cy="36830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19" name="Table stripe"/>
          <p:cNvSpPr/>
          <p:nvPr/>
        </p:nvSpPr>
        <p:spPr>
          <a:xfrm>
            <a:off x="444500" y="4622800"/>
            <a:ext cx="7747000" cy="368300"/>
          </a:xfrm>
          <a:prstGeom prst="rect">
            <a:avLst/>
          </a:prstGeom>
          <a:solidFill>
            <a:srgbClr val="F2DFC7"/>
          </a:solidFill>
          <a:ln>
            <a:noFill/>
          </a:ln>
        </p:spPr>
      </p:sp>
      <p:sp>
        <p:nvSpPr>
          <p:cNvPr id="20" name="Header"/>
          <p:cNvSpPr txBox="1"/>
          <p:nvPr/>
        </p:nvSpPr>
        <p:spPr>
          <a:xfrm>
            <a:off x="495300" y="3943350"/>
            <a:ext cx="1739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30" b="1">
                <a:solidFill>
                  <a:srgbClr val="F8F3E8"/>
                </a:solidFill>
                <a:latin typeface="Aptos"/>
              </a:rPr>
              <a:t>Model</a:t>
            </a:r>
            <a:endParaRPr lang="hr-HR" sz="1030"/>
          </a:p>
        </p:txBody>
      </p:sp>
      <p:sp>
        <p:nvSpPr>
          <p:cNvPr id="21" name="Header"/>
          <p:cNvSpPr txBox="1"/>
          <p:nvPr/>
        </p:nvSpPr>
        <p:spPr>
          <a:xfrm>
            <a:off x="2336800" y="3943350"/>
            <a:ext cx="1485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30" b="1">
                <a:solidFill>
                  <a:srgbClr val="F8F3E8"/>
                </a:solidFill>
                <a:latin typeface="Aptos"/>
              </a:rPr>
              <a:t>best decoder</a:t>
            </a:r>
            <a:endParaRPr lang="hr-HR" sz="1030"/>
          </a:p>
        </p:txBody>
      </p:sp>
      <p:sp>
        <p:nvSpPr>
          <p:cNvPr id="22" name="Header"/>
          <p:cNvSpPr txBox="1"/>
          <p:nvPr/>
        </p:nvSpPr>
        <p:spPr>
          <a:xfrm>
            <a:off x="3924300" y="3943350"/>
            <a:ext cx="977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30" b="1">
                <a:solidFill>
                  <a:srgbClr val="F8F3E8"/>
                </a:solidFill>
                <a:latin typeface="Aptos"/>
              </a:rPr>
              <a:t>val WER</a:t>
            </a:r>
            <a:endParaRPr lang="hr-HR" sz="1030"/>
          </a:p>
        </p:txBody>
      </p:sp>
      <p:sp>
        <p:nvSpPr>
          <p:cNvPr id="23" name="Header"/>
          <p:cNvSpPr txBox="1"/>
          <p:nvPr/>
        </p:nvSpPr>
        <p:spPr>
          <a:xfrm>
            <a:off x="5003800" y="3943350"/>
            <a:ext cx="977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30" b="1">
                <a:solidFill>
                  <a:srgbClr val="F8F3E8"/>
                </a:solidFill>
                <a:latin typeface="Aptos"/>
              </a:rPr>
              <a:t>test WER</a:t>
            </a:r>
            <a:endParaRPr lang="hr-HR" sz="1030"/>
          </a:p>
        </p:txBody>
      </p:sp>
      <p:sp>
        <p:nvSpPr>
          <p:cNvPr id="24" name="Header"/>
          <p:cNvSpPr txBox="1"/>
          <p:nvPr/>
        </p:nvSpPr>
        <p:spPr>
          <a:xfrm>
            <a:off x="6083300" y="3943350"/>
            <a:ext cx="977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30" b="1">
                <a:solidFill>
                  <a:srgbClr val="F8F3E8"/>
                </a:solidFill>
                <a:latin typeface="Aptos"/>
              </a:rPr>
              <a:t>seen</a:t>
            </a:r>
            <a:endParaRPr lang="hr-HR" sz="1030"/>
          </a:p>
        </p:txBody>
      </p:sp>
      <p:sp>
        <p:nvSpPr>
          <p:cNvPr id="25" name="Header"/>
          <p:cNvSpPr txBox="1"/>
          <p:nvPr/>
        </p:nvSpPr>
        <p:spPr>
          <a:xfrm>
            <a:off x="7162800" y="3943350"/>
            <a:ext cx="977900" cy="292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30" b="1">
                <a:solidFill>
                  <a:srgbClr val="F8F3E8"/>
                </a:solidFill>
                <a:latin typeface="Aptos"/>
              </a:rPr>
              <a:t>unseen</a:t>
            </a:r>
            <a:endParaRPr lang="hr-HR" sz="1030"/>
          </a:p>
        </p:txBody>
      </p:sp>
      <p:sp>
        <p:nvSpPr>
          <p:cNvPr id="26" name="Cell"/>
          <p:cNvSpPr txBox="1"/>
          <p:nvPr/>
        </p:nvSpPr>
        <p:spPr>
          <a:xfrm>
            <a:off x="495300" y="4305300"/>
            <a:ext cx="1739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30" b="1">
                <a:solidFill>
                  <a:srgbClr val="15171A"/>
                </a:solidFill>
                <a:latin typeface="Aptos"/>
              </a:rPr>
              <a:t>paper-small GRU</a:t>
            </a:r>
            <a:endParaRPr lang="hr-HR" sz="1030"/>
          </a:p>
        </p:txBody>
      </p:sp>
      <p:sp>
        <p:nvSpPr>
          <p:cNvPr id="27" name="Cell"/>
          <p:cNvSpPr txBox="1"/>
          <p:nvPr/>
        </p:nvSpPr>
        <p:spPr>
          <a:xfrm>
            <a:off x="2336800" y="4305300"/>
            <a:ext cx="1485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30">
                <a:solidFill>
                  <a:srgbClr val="20282C"/>
                </a:solidFill>
                <a:latin typeface="Aptos"/>
              </a:rPr>
              <a:t>beam 40</a:t>
            </a:r>
            <a:endParaRPr lang="hr-HR" sz="1030"/>
          </a:p>
          <a:p>
            <a:r>
              <a:rPr lang="hr-HR" sz="1030">
                <a:solidFill>
                  <a:srgbClr val="20282C"/>
                </a:solidFill>
                <a:latin typeface="Aptos"/>
              </a:rPr>
              <a:t>a=2.5 b=0.3</a:t>
            </a:r>
            <a:endParaRPr lang="hr-HR" sz="1030"/>
          </a:p>
        </p:txBody>
      </p:sp>
      <p:sp>
        <p:nvSpPr>
          <p:cNvPr id="28" name="Cell"/>
          <p:cNvSpPr txBox="1"/>
          <p:nvPr/>
        </p:nvSpPr>
        <p:spPr>
          <a:xfrm>
            <a:off x="3924300" y="4305300"/>
            <a:ext cx="977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30">
                <a:solidFill>
                  <a:srgbClr val="20282C"/>
                </a:solidFill>
                <a:latin typeface="Aptos"/>
              </a:rPr>
              <a:t>0.088</a:t>
            </a:r>
            <a:endParaRPr lang="hr-HR" sz="1030"/>
          </a:p>
        </p:txBody>
      </p:sp>
      <p:sp>
        <p:nvSpPr>
          <p:cNvPr id="29" name="Cell"/>
          <p:cNvSpPr txBox="1"/>
          <p:nvPr/>
        </p:nvSpPr>
        <p:spPr>
          <a:xfrm>
            <a:off x="5003800" y="4305300"/>
            <a:ext cx="977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30">
                <a:solidFill>
                  <a:srgbClr val="20282C"/>
                </a:solidFill>
                <a:latin typeface="Aptos"/>
              </a:rPr>
              <a:t>0.118</a:t>
            </a:r>
            <a:endParaRPr lang="hr-HR" sz="1030"/>
          </a:p>
        </p:txBody>
      </p:sp>
      <p:sp>
        <p:nvSpPr>
          <p:cNvPr id="30" name="Cell"/>
          <p:cNvSpPr txBox="1"/>
          <p:nvPr/>
        </p:nvSpPr>
        <p:spPr>
          <a:xfrm>
            <a:off x="6083300" y="4305300"/>
            <a:ext cx="977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30">
                <a:solidFill>
                  <a:srgbClr val="20282C"/>
                </a:solidFill>
                <a:latin typeface="Aptos"/>
              </a:rPr>
              <a:t>0.075</a:t>
            </a:r>
            <a:endParaRPr lang="hr-HR" sz="1030"/>
          </a:p>
        </p:txBody>
      </p:sp>
      <p:sp>
        <p:nvSpPr>
          <p:cNvPr id="31" name="Cell"/>
          <p:cNvSpPr txBox="1"/>
          <p:nvPr/>
        </p:nvSpPr>
        <p:spPr>
          <a:xfrm>
            <a:off x="7162800" y="4305300"/>
            <a:ext cx="977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30">
                <a:solidFill>
                  <a:srgbClr val="20282C"/>
                </a:solidFill>
                <a:latin typeface="Aptos"/>
              </a:rPr>
              <a:t>0.160</a:t>
            </a:r>
            <a:endParaRPr lang="hr-HR" sz="1030"/>
          </a:p>
        </p:txBody>
      </p:sp>
      <p:sp>
        <p:nvSpPr>
          <p:cNvPr id="32" name="Cell"/>
          <p:cNvSpPr txBox="1"/>
          <p:nvPr/>
        </p:nvSpPr>
        <p:spPr>
          <a:xfrm>
            <a:off x="495300" y="4673600"/>
            <a:ext cx="1739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30" b="1">
                <a:solidFill>
                  <a:srgbClr val="15171A"/>
                </a:solidFill>
                <a:latin typeface="Aptos"/>
              </a:rPr>
              <a:t>7-layer GRU</a:t>
            </a:r>
            <a:endParaRPr lang="hr-HR" sz="1030"/>
          </a:p>
        </p:txBody>
      </p:sp>
      <p:sp>
        <p:nvSpPr>
          <p:cNvPr id="33" name="Cell"/>
          <p:cNvSpPr txBox="1"/>
          <p:nvPr/>
        </p:nvSpPr>
        <p:spPr>
          <a:xfrm>
            <a:off x="2336800" y="4673600"/>
            <a:ext cx="1485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30">
                <a:solidFill>
                  <a:srgbClr val="20282C"/>
                </a:solidFill>
                <a:latin typeface="Aptos"/>
              </a:rPr>
              <a:t>beam 40</a:t>
            </a:r>
            <a:endParaRPr lang="hr-HR" sz="1030"/>
          </a:p>
          <a:p>
            <a:r>
              <a:rPr lang="hr-HR" sz="1030">
                <a:solidFill>
                  <a:srgbClr val="20282C"/>
                </a:solidFill>
                <a:latin typeface="Aptos"/>
              </a:rPr>
              <a:t>a=2.5 b=0.3</a:t>
            </a:r>
            <a:endParaRPr lang="hr-HR" sz="1030"/>
          </a:p>
        </p:txBody>
      </p:sp>
      <p:sp>
        <p:nvSpPr>
          <p:cNvPr id="34" name="Cell"/>
          <p:cNvSpPr txBox="1"/>
          <p:nvPr/>
        </p:nvSpPr>
        <p:spPr>
          <a:xfrm>
            <a:off x="3924300" y="4673600"/>
            <a:ext cx="977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30">
                <a:solidFill>
                  <a:srgbClr val="20282C"/>
                </a:solidFill>
                <a:latin typeface="Aptos"/>
              </a:rPr>
              <a:t>0.094</a:t>
            </a:r>
            <a:endParaRPr lang="hr-HR" sz="1030"/>
          </a:p>
        </p:txBody>
      </p:sp>
      <p:sp>
        <p:nvSpPr>
          <p:cNvPr id="35" name="Cell"/>
          <p:cNvSpPr txBox="1"/>
          <p:nvPr/>
        </p:nvSpPr>
        <p:spPr>
          <a:xfrm>
            <a:off x="5003800" y="4673600"/>
            <a:ext cx="977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30">
                <a:solidFill>
                  <a:srgbClr val="20282C"/>
                </a:solidFill>
                <a:latin typeface="Aptos"/>
              </a:rPr>
              <a:t>0.127</a:t>
            </a:r>
            <a:endParaRPr lang="hr-HR" sz="1030"/>
          </a:p>
        </p:txBody>
      </p:sp>
      <p:sp>
        <p:nvSpPr>
          <p:cNvPr id="36" name="Cell"/>
          <p:cNvSpPr txBox="1"/>
          <p:nvPr/>
        </p:nvSpPr>
        <p:spPr>
          <a:xfrm>
            <a:off x="6083300" y="4673600"/>
            <a:ext cx="977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30">
                <a:solidFill>
                  <a:srgbClr val="20282C"/>
                </a:solidFill>
                <a:latin typeface="Aptos"/>
              </a:rPr>
              <a:t>0.083</a:t>
            </a:r>
            <a:endParaRPr lang="hr-HR" sz="1030"/>
          </a:p>
        </p:txBody>
      </p:sp>
      <p:sp>
        <p:nvSpPr>
          <p:cNvPr id="37" name="Cell"/>
          <p:cNvSpPr txBox="1"/>
          <p:nvPr/>
        </p:nvSpPr>
        <p:spPr>
          <a:xfrm>
            <a:off x="7162800" y="4673600"/>
            <a:ext cx="977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30">
                <a:solidFill>
                  <a:srgbClr val="20282C"/>
                </a:solidFill>
                <a:latin typeface="Aptos"/>
              </a:rPr>
              <a:t>0.171</a:t>
            </a:r>
            <a:endParaRPr lang="hr-HR" sz="1030"/>
          </a:p>
        </p:txBody>
      </p:sp>
      <p:sp>
        <p:nvSpPr>
          <p:cNvPr id="38" name="Cell"/>
          <p:cNvSpPr txBox="1"/>
          <p:nvPr/>
        </p:nvSpPr>
        <p:spPr>
          <a:xfrm>
            <a:off x="495300" y="5041900"/>
            <a:ext cx="1739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30" b="1">
                <a:solidFill>
                  <a:srgbClr val="15171A"/>
                </a:solidFill>
                <a:latin typeface="Aptos"/>
              </a:rPr>
              <a:t>7-layer LSTM</a:t>
            </a:r>
            <a:endParaRPr lang="hr-HR" sz="1030"/>
          </a:p>
        </p:txBody>
      </p:sp>
      <p:sp>
        <p:nvSpPr>
          <p:cNvPr id="39" name="Cell"/>
          <p:cNvSpPr txBox="1"/>
          <p:nvPr/>
        </p:nvSpPr>
        <p:spPr>
          <a:xfrm>
            <a:off x="2336800" y="5041900"/>
            <a:ext cx="1485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30">
                <a:solidFill>
                  <a:srgbClr val="20282C"/>
                </a:solidFill>
                <a:latin typeface="Aptos"/>
              </a:rPr>
              <a:t>beam 40</a:t>
            </a:r>
            <a:endParaRPr lang="hr-HR" sz="1030"/>
          </a:p>
          <a:p>
            <a:r>
              <a:rPr lang="hr-HR" sz="1030">
                <a:solidFill>
                  <a:srgbClr val="20282C"/>
                </a:solidFill>
                <a:latin typeface="Aptos"/>
              </a:rPr>
              <a:t>a=2.5 b=0.3</a:t>
            </a:r>
            <a:endParaRPr lang="hr-HR" sz="1030"/>
          </a:p>
        </p:txBody>
      </p:sp>
      <p:sp>
        <p:nvSpPr>
          <p:cNvPr id="40" name="Cell"/>
          <p:cNvSpPr txBox="1"/>
          <p:nvPr/>
        </p:nvSpPr>
        <p:spPr>
          <a:xfrm>
            <a:off x="3924300" y="5041900"/>
            <a:ext cx="977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30">
                <a:solidFill>
                  <a:srgbClr val="20282C"/>
                </a:solidFill>
                <a:latin typeface="Aptos"/>
              </a:rPr>
              <a:t>0.123</a:t>
            </a:r>
            <a:endParaRPr lang="hr-HR" sz="1030"/>
          </a:p>
        </p:txBody>
      </p:sp>
      <p:sp>
        <p:nvSpPr>
          <p:cNvPr id="41" name="Cell"/>
          <p:cNvSpPr txBox="1"/>
          <p:nvPr/>
        </p:nvSpPr>
        <p:spPr>
          <a:xfrm>
            <a:off x="5003800" y="5041900"/>
            <a:ext cx="977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30">
                <a:solidFill>
                  <a:srgbClr val="20282C"/>
                </a:solidFill>
                <a:latin typeface="Aptos"/>
              </a:rPr>
              <a:t>0.151</a:t>
            </a:r>
            <a:endParaRPr lang="hr-HR" sz="1030"/>
          </a:p>
        </p:txBody>
      </p:sp>
      <p:sp>
        <p:nvSpPr>
          <p:cNvPr id="42" name="Cell"/>
          <p:cNvSpPr txBox="1"/>
          <p:nvPr/>
        </p:nvSpPr>
        <p:spPr>
          <a:xfrm>
            <a:off x="6083300" y="5041900"/>
            <a:ext cx="977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30">
                <a:solidFill>
                  <a:srgbClr val="20282C"/>
                </a:solidFill>
                <a:latin typeface="Aptos"/>
              </a:rPr>
              <a:t>0.095</a:t>
            </a:r>
            <a:endParaRPr lang="hr-HR" sz="1030"/>
          </a:p>
        </p:txBody>
      </p:sp>
      <p:sp>
        <p:nvSpPr>
          <p:cNvPr id="43" name="Cell"/>
          <p:cNvSpPr txBox="1"/>
          <p:nvPr/>
        </p:nvSpPr>
        <p:spPr>
          <a:xfrm>
            <a:off x="7162800" y="5041900"/>
            <a:ext cx="977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30">
                <a:solidFill>
                  <a:srgbClr val="20282C"/>
                </a:solidFill>
                <a:latin typeface="Aptos"/>
              </a:rPr>
              <a:t>0.206</a:t>
            </a:r>
            <a:endParaRPr lang="hr-HR" sz="1030"/>
          </a:p>
        </p:txBody>
      </p:sp>
      <p:sp>
        <p:nvSpPr>
          <p:cNvPr id="44" name="Rectangle"/>
          <p:cNvSpPr/>
          <p:nvPr/>
        </p:nvSpPr>
        <p:spPr>
          <a:xfrm>
            <a:off x="444500" y="5359400"/>
            <a:ext cx="7747000" cy="368300"/>
          </a:xfrm>
          <a:prstGeom prst="rect">
            <a:avLst/>
          </a:prstGeom>
          <a:solidFill>
            <a:srgbClr val="F2DFC7"/>
          </a:solidFill>
          <a:ln w="12700">
            <a:solidFill>
              <a:srgbClr val="D6C8B5"/>
            </a:solidFill>
          </a:ln>
        </p:spPr>
      </p:sp>
      <p:sp>
        <p:nvSpPr>
          <p:cNvPr id="45" name="Text"/>
          <p:cNvSpPr txBox="1"/>
          <p:nvPr/>
        </p:nvSpPr>
        <p:spPr>
          <a:xfrm>
            <a:off x="596900" y="5448300"/>
            <a:ext cx="74295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220" b="1">
                <a:solidFill>
                  <a:srgbClr val="15171A"/>
                </a:solidFill>
                <a:latin typeface="Aptos"/>
              </a:rPr>
              <a:t>U sva tri modela isti decoder pobjeđuje na validation setu: beam 40, alpha 2.5, beta 0.3.</a:t>
            </a:r>
            <a:endParaRPr lang="hr-HR" sz="1220"/>
          </a:p>
        </p:txBody>
      </p:sp>
      <p:sp>
        <p:nvSpPr>
          <p:cNvPr id="46" name="Footer"/>
          <p:cNvSpPr txBox="1"/>
          <p:nvPr/>
        </p:nvSpPr>
        <p:spPr>
          <a:xfrm>
            <a:off x="444500" y="6591300"/>
            <a:ext cx="92075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850">
                <a:solidFill>
                  <a:srgbClr val="6F6A5B"/>
                </a:solidFill>
                <a:latin typeface="Aptos"/>
              </a:rPr>
              <a:t>Machine-readable sweep: results/kenlm_sweep_all_models/metrics.json.</a:t>
            </a:r>
            <a:endParaRPr lang="hr-HR" sz="85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3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44500" y="292100"/>
            <a:ext cx="3683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500" b="1">
                <a:solidFill>
                  <a:srgbClr val="E24A2A"/>
                </a:solidFill>
                <a:latin typeface="Aptos"/>
              </a:rPr>
              <a:t>07 · REZULTATI</a:t>
            </a:r>
            <a:endParaRPr lang="hr-HR" sz="1500"/>
          </a:p>
        </p:txBody>
      </p:sp>
      <p:sp>
        <p:nvSpPr>
          <p:cNvPr id="3" name="Title"/>
          <p:cNvSpPr txBox="1"/>
          <p:nvPr/>
        </p:nvSpPr>
        <p:spPr>
          <a:xfrm>
            <a:off x="444500" y="520700"/>
            <a:ext cx="7937500" cy="546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2350" b="1">
                <a:solidFill>
                  <a:srgbClr val="15171A"/>
                </a:solidFill>
                <a:latin typeface="Aptos"/>
              </a:rPr>
              <a:t>Najbolji VEPRAD rezultat: paper-small GRU + KenLM.</a:t>
            </a:r>
            <a:endParaRPr lang="hr-HR" sz="2350"/>
          </a:p>
        </p:txBody>
      </p:sp>
      <p:sp>
        <p:nvSpPr>
          <p:cNvPr id="4" name="Support"/>
          <p:cNvSpPr txBox="1"/>
          <p:nvPr/>
        </p:nvSpPr>
        <p:spPr>
          <a:xfrm>
            <a:off x="444500" y="1130300"/>
            <a:ext cx="79375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80">
                <a:solidFill>
                  <a:srgbClr val="6F6A5B"/>
                </a:solidFill>
                <a:latin typeface="Aptos"/>
              </a:rPr>
              <a:t>VEPRAD validation odabire beam 40; KenLM smanjuje WER nekoliko puta u odnosu na no-LM CTC decoding.</a:t>
            </a:r>
            <a:endParaRPr lang="hr-HR" sz="1080"/>
          </a:p>
        </p:txBody>
      </p:sp>
      <p:sp>
        <p:nvSpPr>
          <p:cNvPr id="5" name="Rule"/>
          <p:cNvSpPr/>
          <p:nvPr/>
        </p:nvSpPr>
        <p:spPr>
          <a:xfrm>
            <a:off x="444500" y="1447800"/>
            <a:ext cx="736600" cy="4445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6" name="Table background"/>
          <p:cNvSpPr/>
          <p:nvPr/>
        </p:nvSpPr>
        <p:spPr>
          <a:xfrm>
            <a:off x="444500" y="1587500"/>
            <a:ext cx="8064500" cy="1524000"/>
          </a:xfrm>
          <a:prstGeom prst="rect">
            <a:avLst/>
          </a:prstGeom>
          <a:solidFill>
            <a:srgbClr val="F8F3E8"/>
          </a:solidFill>
          <a:ln w="12700">
            <a:solidFill>
              <a:srgbClr val="D6C8B5"/>
            </a:solidFill>
          </a:ln>
        </p:spPr>
      </p:sp>
      <p:sp>
        <p:nvSpPr>
          <p:cNvPr id="7" name="Table header"/>
          <p:cNvSpPr/>
          <p:nvPr/>
        </p:nvSpPr>
        <p:spPr>
          <a:xfrm>
            <a:off x="444500" y="1587500"/>
            <a:ext cx="8064500" cy="381000"/>
          </a:xfrm>
          <a:prstGeom prst="rect">
            <a:avLst/>
          </a:prstGeom>
          <a:solidFill>
            <a:srgbClr val="2C8C99"/>
          </a:solidFill>
          <a:ln>
            <a:noFill/>
          </a:ln>
        </p:spPr>
      </p:sp>
      <p:sp>
        <p:nvSpPr>
          <p:cNvPr id="8" name="Table stripe"/>
          <p:cNvSpPr/>
          <p:nvPr/>
        </p:nvSpPr>
        <p:spPr>
          <a:xfrm>
            <a:off x="444500" y="2349500"/>
            <a:ext cx="8064500" cy="381000"/>
          </a:xfrm>
          <a:prstGeom prst="rect">
            <a:avLst/>
          </a:prstGeom>
          <a:solidFill>
            <a:srgbClr val="F2DFC7"/>
          </a:solidFill>
          <a:ln>
            <a:noFill/>
          </a:ln>
        </p:spPr>
      </p:sp>
      <p:sp>
        <p:nvSpPr>
          <p:cNvPr id="9" name="Header"/>
          <p:cNvSpPr txBox="1"/>
          <p:nvPr/>
        </p:nvSpPr>
        <p:spPr>
          <a:xfrm>
            <a:off x="495300" y="1644650"/>
            <a:ext cx="16764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 b="1">
                <a:solidFill>
                  <a:srgbClr val="F8F3E8"/>
                </a:solidFill>
                <a:latin typeface="Aptos"/>
              </a:rPr>
              <a:t>Model</a:t>
            </a:r>
            <a:endParaRPr lang="hr-HR" sz="1020"/>
          </a:p>
        </p:txBody>
      </p:sp>
      <p:sp>
        <p:nvSpPr>
          <p:cNvPr id="10" name="Header"/>
          <p:cNvSpPr txBox="1"/>
          <p:nvPr/>
        </p:nvSpPr>
        <p:spPr>
          <a:xfrm>
            <a:off x="2273300" y="1644650"/>
            <a:ext cx="9144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 b="1">
                <a:solidFill>
                  <a:srgbClr val="F8F3E8"/>
                </a:solidFill>
                <a:latin typeface="Aptos"/>
              </a:rPr>
              <a:t>No LM</a:t>
            </a:r>
            <a:endParaRPr lang="hr-HR" sz="1020"/>
          </a:p>
        </p:txBody>
      </p:sp>
      <p:sp>
        <p:nvSpPr>
          <p:cNvPr id="11" name="Header"/>
          <p:cNvSpPr txBox="1"/>
          <p:nvPr/>
        </p:nvSpPr>
        <p:spPr>
          <a:xfrm>
            <a:off x="3289300" y="1644650"/>
            <a:ext cx="9144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 b="1">
                <a:solidFill>
                  <a:srgbClr val="F8F3E8"/>
                </a:solidFill>
                <a:latin typeface="Aptos"/>
              </a:rPr>
              <a:t>Fixed LM</a:t>
            </a:r>
            <a:endParaRPr lang="hr-HR" sz="1020"/>
          </a:p>
        </p:txBody>
      </p:sp>
      <p:sp>
        <p:nvSpPr>
          <p:cNvPr id="12" name="Header"/>
          <p:cNvSpPr txBox="1"/>
          <p:nvPr/>
        </p:nvSpPr>
        <p:spPr>
          <a:xfrm>
            <a:off x="4305300" y="1644650"/>
            <a:ext cx="977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 b="1">
                <a:solidFill>
                  <a:srgbClr val="F8F3E8"/>
                </a:solidFill>
                <a:latin typeface="Aptos"/>
              </a:rPr>
              <a:t>Best test</a:t>
            </a:r>
            <a:endParaRPr lang="hr-HR" sz="1020"/>
          </a:p>
        </p:txBody>
      </p:sp>
      <p:sp>
        <p:nvSpPr>
          <p:cNvPr id="13" name="Header"/>
          <p:cNvSpPr txBox="1"/>
          <p:nvPr/>
        </p:nvSpPr>
        <p:spPr>
          <a:xfrm>
            <a:off x="5384800" y="1644650"/>
            <a:ext cx="9144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 b="1">
                <a:solidFill>
                  <a:srgbClr val="F8F3E8"/>
                </a:solidFill>
                <a:latin typeface="Aptos"/>
              </a:rPr>
              <a:t>Best val</a:t>
            </a:r>
            <a:endParaRPr lang="hr-HR" sz="1020"/>
          </a:p>
        </p:txBody>
      </p:sp>
      <p:sp>
        <p:nvSpPr>
          <p:cNvPr id="14" name="Header"/>
          <p:cNvSpPr txBox="1"/>
          <p:nvPr/>
        </p:nvSpPr>
        <p:spPr>
          <a:xfrm>
            <a:off x="6400800" y="1644650"/>
            <a:ext cx="977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 b="1">
                <a:solidFill>
                  <a:srgbClr val="F8F3E8"/>
                </a:solidFill>
                <a:latin typeface="Aptos"/>
              </a:rPr>
              <a:t>Seen</a:t>
            </a:r>
            <a:endParaRPr lang="hr-HR" sz="1020"/>
          </a:p>
        </p:txBody>
      </p:sp>
      <p:sp>
        <p:nvSpPr>
          <p:cNvPr id="15" name="Header"/>
          <p:cNvSpPr txBox="1"/>
          <p:nvPr/>
        </p:nvSpPr>
        <p:spPr>
          <a:xfrm>
            <a:off x="7480300" y="1644650"/>
            <a:ext cx="977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 b="1">
                <a:solidFill>
                  <a:srgbClr val="F8F3E8"/>
                </a:solidFill>
                <a:latin typeface="Aptos"/>
              </a:rPr>
              <a:t>Unseen</a:t>
            </a:r>
            <a:endParaRPr lang="hr-HR" sz="1020"/>
          </a:p>
        </p:txBody>
      </p:sp>
      <p:sp>
        <p:nvSpPr>
          <p:cNvPr id="16" name="Cell"/>
          <p:cNvSpPr txBox="1"/>
          <p:nvPr/>
        </p:nvSpPr>
        <p:spPr>
          <a:xfrm>
            <a:off x="495300" y="2019300"/>
            <a:ext cx="16764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 b="1">
                <a:solidFill>
                  <a:srgbClr val="15171A"/>
                </a:solidFill>
                <a:latin typeface="Aptos"/>
              </a:rPr>
              <a:t>paper-small GRU</a:t>
            </a:r>
            <a:endParaRPr lang="hr-HR" sz="1020"/>
          </a:p>
        </p:txBody>
      </p:sp>
      <p:sp>
        <p:nvSpPr>
          <p:cNvPr id="17" name="Cell"/>
          <p:cNvSpPr txBox="1"/>
          <p:nvPr/>
        </p:nvSpPr>
        <p:spPr>
          <a:xfrm>
            <a:off x="2273300" y="2019300"/>
            <a:ext cx="9144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0.453</a:t>
            </a:r>
            <a:endParaRPr lang="hr-HR" sz="1020"/>
          </a:p>
        </p:txBody>
      </p:sp>
      <p:sp>
        <p:nvSpPr>
          <p:cNvPr id="18" name="Cell"/>
          <p:cNvSpPr txBox="1"/>
          <p:nvPr/>
        </p:nvSpPr>
        <p:spPr>
          <a:xfrm>
            <a:off x="3289300" y="2019300"/>
            <a:ext cx="9144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0.155</a:t>
            </a:r>
            <a:endParaRPr lang="hr-HR" sz="1020"/>
          </a:p>
        </p:txBody>
      </p:sp>
      <p:sp>
        <p:nvSpPr>
          <p:cNvPr id="19" name="Cell"/>
          <p:cNvSpPr txBox="1"/>
          <p:nvPr/>
        </p:nvSpPr>
        <p:spPr>
          <a:xfrm>
            <a:off x="4305300" y="2019300"/>
            <a:ext cx="977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0.118</a:t>
            </a:r>
            <a:endParaRPr lang="hr-HR" sz="1020"/>
          </a:p>
        </p:txBody>
      </p:sp>
      <p:sp>
        <p:nvSpPr>
          <p:cNvPr id="20" name="Cell"/>
          <p:cNvSpPr txBox="1"/>
          <p:nvPr/>
        </p:nvSpPr>
        <p:spPr>
          <a:xfrm>
            <a:off x="5384800" y="2019300"/>
            <a:ext cx="9144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0.088</a:t>
            </a:r>
            <a:endParaRPr lang="hr-HR" sz="1020"/>
          </a:p>
        </p:txBody>
      </p:sp>
      <p:sp>
        <p:nvSpPr>
          <p:cNvPr id="21" name="Cell"/>
          <p:cNvSpPr txBox="1"/>
          <p:nvPr/>
        </p:nvSpPr>
        <p:spPr>
          <a:xfrm>
            <a:off x="6400800" y="2019300"/>
            <a:ext cx="977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0.075</a:t>
            </a:r>
            <a:endParaRPr lang="hr-HR" sz="1020"/>
          </a:p>
        </p:txBody>
      </p:sp>
      <p:sp>
        <p:nvSpPr>
          <p:cNvPr id="22" name="Cell"/>
          <p:cNvSpPr txBox="1"/>
          <p:nvPr/>
        </p:nvSpPr>
        <p:spPr>
          <a:xfrm>
            <a:off x="7480300" y="2019300"/>
            <a:ext cx="977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0.160</a:t>
            </a:r>
            <a:endParaRPr lang="hr-HR" sz="1020"/>
          </a:p>
        </p:txBody>
      </p:sp>
      <p:sp>
        <p:nvSpPr>
          <p:cNvPr id="23" name="Cell"/>
          <p:cNvSpPr txBox="1"/>
          <p:nvPr/>
        </p:nvSpPr>
        <p:spPr>
          <a:xfrm>
            <a:off x="495300" y="2400300"/>
            <a:ext cx="16764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 b="1">
                <a:solidFill>
                  <a:srgbClr val="15171A"/>
                </a:solidFill>
                <a:latin typeface="Aptos"/>
              </a:rPr>
              <a:t>7-layer GRU</a:t>
            </a:r>
            <a:endParaRPr lang="hr-HR" sz="1020"/>
          </a:p>
        </p:txBody>
      </p:sp>
      <p:sp>
        <p:nvSpPr>
          <p:cNvPr id="24" name="Cell"/>
          <p:cNvSpPr txBox="1"/>
          <p:nvPr/>
        </p:nvSpPr>
        <p:spPr>
          <a:xfrm>
            <a:off x="2273300" y="2400300"/>
            <a:ext cx="9144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0.429</a:t>
            </a:r>
            <a:endParaRPr lang="hr-HR" sz="1020"/>
          </a:p>
        </p:txBody>
      </p:sp>
      <p:sp>
        <p:nvSpPr>
          <p:cNvPr id="25" name="Cell"/>
          <p:cNvSpPr txBox="1"/>
          <p:nvPr/>
        </p:nvSpPr>
        <p:spPr>
          <a:xfrm>
            <a:off x="3289300" y="2400300"/>
            <a:ext cx="9144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0.142</a:t>
            </a:r>
            <a:endParaRPr lang="hr-HR" sz="1020"/>
          </a:p>
        </p:txBody>
      </p:sp>
      <p:sp>
        <p:nvSpPr>
          <p:cNvPr id="26" name="Cell"/>
          <p:cNvSpPr txBox="1"/>
          <p:nvPr/>
        </p:nvSpPr>
        <p:spPr>
          <a:xfrm>
            <a:off x="4305300" y="2400300"/>
            <a:ext cx="977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0.127</a:t>
            </a:r>
            <a:endParaRPr lang="hr-HR" sz="1020"/>
          </a:p>
        </p:txBody>
      </p:sp>
      <p:sp>
        <p:nvSpPr>
          <p:cNvPr id="27" name="Cell"/>
          <p:cNvSpPr txBox="1"/>
          <p:nvPr/>
        </p:nvSpPr>
        <p:spPr>
          <a:xfrm>
            <a:off x="5384800" y="2400300"/>
            <a:ext cx="9144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0.094</a:t>
            </a:r>
            <a:endParaRPr lang="hr-HR" sz="1020"/>
          </a:p>
        </p:txBody>
      </p:sp>
      <p:sp>
        <p:nvSpPr>
          <p:cNvPr id="28" name="Cell"/>
          <p:cNvSpPr txBox="1"/>
          <p:nvPr/>
        </p:nvSpPr>
        <p:spPr>
          <a:xfrm>
            <a:off x="6400800" y="2400300"/>
            <a:ext cx="977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0.083</a:t>
            </a:r>
            <a:endParaRPr lang="hr-HR" sz="1020"/>
          </a:p>
        </p:txBody>
      </p:sp>
      <p:sp>
        <p:nvSpPr>
          <p:cNvPr id="29" name="Cell"/>
          <p:cNvSpPr txBox="1"/>
          <p:nvPr/>
        </p:nvSpPr>
        <p:spPr>
          <a:xfrm>
            <a:off x="7480300" y="2400300"/>
            <a:ext cx="977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0.171</a:t>
            </a:r>
            <a:endParaRPr lang="hr-HR" sz="1020"/>
          </a:p>
        </p:txBody>
      </p:sp>
      <p:sp>
        <p:nvSpPr>
          <p:cNvPr id="30" name="Cell"/>
          <p:cNvSpPr txBox="1"/>
          <p:nvPr/>
        </p:nvSpPr>
        <p:spPr>
          <a:xfrm>
            <a:off x="495300" y="2781300"/>
            <a:ext cx="16764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 b="1">
                <a:solidFill>
                  <a:srgbClr val="15171A"/>
                </a:solidFill>
                <a:latin typeface="Aptos"/>
              </a:rPr>
              <a:t>7-layer LSTM</a:t>
            </a:r>
            <a:endParaRPr lang="hr-HR" sz="1020"/>
          </a:p>
        </p:txBody>
      </p:sp>
      <p:sp>
        <p:nvSpPr>
          <p:cNvPr id="31" name="Cell"/>
          <p:cNvSpPr txBox="1"/>
          <p:nvPr/>
        </p:nvSpPr>
        <p:spPr>
          <a:xfrm>
            <a:off x="2273300" y="2781300"/>
            <a:ext cx="9144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0.535</a:t>
            </a:r>
            <a:endParaRPr lang="hr-HR" sz="1020"/>
          </a:p>
        </p:txBody>
      </p:sp>
      <p:sp>
        <p:nvSpPr>
          <p:cNvPr id="32" name="Cell"/>
          <p:cNvSpPr txBox="1"/>
          <p:nvPr/>
        </p:nvSpPr>
        <p:spPr>
          <a:xfrm>
            <a:off x="3289300" y="2781300"/>
            <a:ext cx="9144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0.175</a:t>
            </a:r>
            <a:endParaRPr lang="hr-HR" sz="1020"/>
          </a:p>
        </p:txBody>
      </p:sp>
      <p:sp>
        <p:nvSpPr>
          <p:cNvPr id="33" name="Cell"/>
          <p:cNvSpPr txBox="1"/>
          <p:nvPr/>
        </p:nvSpPr>
        <p:spPr>
          <a:xfrm>
            <a:off x="4305300" y="2781300"/>
            <a:ext cx="977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0.151</a:t>
            </a:r>
            <a:endParaRPr lang="hr-HR" sz="1020"/>
          </a:p>
        </p:txBody>
      </p:sp>
      <p:sp>
        <p:nvSpPr>
          <p:cNvPr id="34" name="Cell"/>
          <p:cNvSpPr txBox="1"/>
          <p:nvPr/>
        </p:nvSpPr>
        <p:spPr>
          <a:xfrm>
            <a:off x="5384800" y="2781300"/>
            <a:ext cx="9144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0.123</a:t>
            </a:r>
            <a:endParaRPr lang="hr-HR" sz="1020"/>
          </a:p>
        </p:txBody>
      </p:sp>
      <p:sp>
        <p:nvSpPr>
          <p:cNvPr id="35" name="Cell"/>
          <p:cNvSpPr txBox="1"/>
          <p:nvPr/>
        </p:nvSpPr>
        <p:spPr>
          <a:xfrm>
            <a:off x="6400800" y="2781300"/>
            <a:ext cx="977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0.095</a:t>
            </a:r>
            <a:endParaRPr lang="hr-HR" sz="1020"/>
          </a:p>
        </p:txBody>
      </p:sp>
      <p:sp>
        <p:nvSpPr>
          <p:cNvPr id="36" name="Cell"/>
          <p:cNvSpPr txBox="1"/>
          <p:nvPr/>
        </p:nvSpPr>
        <p:spPr>
          <a:xfrm>
            <a:off x="7480300" y="2781300"/>
            <a:ext cx="9779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20">
                <a:solidFill>
                  <a:srgbClr val="20282C"/>
                </a:solidFill>
                <a:latin typeface="Aptos"/>
              </a:rPr>
              <a:t>0.206</a:t>
            </a:r>
            <a:endParaRPr lang="hr-HR" sz="1020"/>
          </a:p>
        </p:txBody>
      </p:sp>
      <p:sp>
        <p:nvSpPr>
          <p:cNvPr id="37" name="Rectangle"/>
          <p:cNvSpPr/>
          <p:nvPr/>
        </p:nvSpPr>
        <p:spPr>
          <a:xfrm>
            <a:off x="571500" y="3479800"/>
            <a:ext cx="2286000" cy="76200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38" name="Text"/>
          <p:cNvSpPr txBox="1"/>
          <p:nvPr/>
        </p:nvSpPr>
        <p:spPr>
          <a:xfrm>
            <a:off x="723900" y="3594100"/>
            <a:ext cx="19050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00" b="1">
                <a:solidFill>
                  <a:srgbClr val="F8F3E8"/>
                </a:solidFill>
                <a:latin typeface="Aptos"/>
              </a:rPr>
              <a:t>Best VEPRAD model</a:t>
            </a:r>
            <a:endParaRPr lang="hr-HR" sz="1300"/>
          </a:p>
        </p:txBody>
      </p:sp>
      <p:sp>
        <p:nvSpPr>
          <p:cNvPr id="39" name="Text"/>
          <p:cNvSpPr txBox="1"/>
          <p:nvPr/>
        </p:nvSpPr>
        <p:spPr>
          <a:xfrm>
            <a:off x="723900" y="3784600"/>
            <a:ext cx="1968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50" b="1">
                <a:solidFill>
                  <a:srgbClr val="F8F3E8"/>
                </a:solidFill>
                <a:latin typeface="Aptos"/>
              </a:rPr>
              <a:t>paper-small GRU</a:t>
            </a:r>
            <a:endParaRPr lang="hr-HR" sz="1850"/>
          </a:p>
        </p:txBody>
      </p:sp>
      <p:sp>
        <p:nvSpPr>
          <p:cNvPr id="40" name="Text"/>
          <p:cNvSpPr txBox="1"/>
          <p:nvPr/>
        </p:nvSpPr>
        <p:spPr>
          <a:xfrm>
            <a:off x="723900" y="4038600"/>
            <a:ext cx="1905000" cy="139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>
                <a:solidFill>
                  <a:srgbClr val="F8F3E8"/>
                </a:solidFill>
                <a:latin typeface="Aptos"/>
              </a:rPr>
              <a:t>0.118 test WER</a:t>
            </a:r>
            <a:endParaRPr lang="hr-HR" sz="1050"/>
          </a:p>
        </p:txBody>
      </p:sp>
      <p:sp>
        <p:nvSpPr>
          <p:cNvPr id="41" name="Rectangle"/>
          <p:cNvSpPr/>
          <p:nvPr/>
        </p:nvSpPr>
        <p:spPr>
          <a:xfrm>
            <a:off x="3143250" y="3479800"/>
            <a:ext cx="2286000" cy="762000"/>
          </a:xfrm>
          <a:prstGeom prst="rect">
            <a:avLst/>
          </a:prstGeom>
          <a:solidFill>
            <a:srgbClr val="2C8C99"/>
          </a:solidFill>
          <a:ln>
            <a:noFill/>
          </a:ln>
        </p:spPr>
      </p:sp>
      <p:sp>
        <p:nvSpPr>
          <p:cNvPr id="42" name="Text"/>
          <p:cNvSpPr txBox="1"/>
          <p:nvPr/>
        </p:nvSpPr>
        <p:spPr>
          <a:xfrm>
            <a:off x="3295650" y="3594100"/>
            <a:ext cx="19050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00" b="1">
                <a:solidFill>
                  <a:srgbClr val="F8F3E8"/>
                </a:solidFill>
                <a:latin typeface="Aptos"/>
              </a:rPr>
              <a:t>VEPRAD LM effect</a:t>
            </a:r>
            <a:endParaRPr lang="hr-HR" sz="1300"/>
          </a:p>
        </p:txBody>
      </p:sp>
      <p:sp>
        <p:nvSpPr>
          <p:cNvPr id="43" name="Text"/>
          <p:cNvSpPr txBox="1"/>
          <p:nvPr/>
        </p:nvSpPr>
        <p:spPr>
          <a:xfrm>
            <a:off x="3295650" y="3784600"/>
            <a:ext cx="1968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50" b="1">
                <a:solidFill>
                  <a:srgbClr val="F8F3E8"/>
                </a:solidFill>
                <a:latin typeface="Aptos"/>
              </a:rPr>
              <a:t>0.453 → 0.118</a:t>
            </a:r>
            <a:endParaRPr lang="hr-HR" sz="1850"/>
          </a:p>
        </p:txBody>
      </p:sp>
      <p:sp>
        <p:nvSpPr>
          <p:cNvPr id="44" name="Text"/>
          <p:cNvSpPr txBox="1"/>
          <p:nvPr/>
        </p:nvSpPr>
        <p:spPr>
          <a:xfrm>
            <a:off x="3295650" y="4038600"/>
            <a:ext cx="1905000" cy="139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>
                <a:solidFill>
                  <a:srgbClr val="F8F3E8"/>
                </a:solidFill>
                <a:latin typeface="Aptos"/>
              </a:rPr>
              <a:t>best model test WER</a:t>
            </a:r>
            <a:endParaRPr lang="hr-HR" sz="1050"/>
          </a:p>
        </p:txBody>
      </p:sp>
      <p:sp>
        <p:nvSpPr>
          <p:cNvPr id="45" name="Rectangle"/>
          <p:cNvSpPr/>
          <p:nvPr/>
        </p:nvSpPr>
        <p:spPr>
          <a:xfrm>
            <a:off x="5715000" y="3479800"/>
            <a:ext cx="2286000" cy="762000"/>
          </a:xfrm>
          <a:prstGeom prst="rect">
            <a:avLst/>
          </a:prstGeom>
          <a:solidFill>
            <a:srgbClr val="F0B429"/>
          </a:solidFill>
          <a:ln>
            <a:noFill/>
          </a:ln>
        </p:spPr>
      </p:sp>
      <p:sp>
        <p:nvSpPr>
          <p:cNvPr id="46" name="Text"/>
          <p:cNvSpPr txBox="1"/>
          <p:nvPr/>
        </p:nvSpPr>
        <p:spPr>
          <a:xfrm>
            <a:off x="5867400" y="3594100"/>
            <a:ext cx="19050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00" b="1">
                <a:solidFill>
                  <a:srgbClr val="15171A"/>
                </a:solidFill>
                <a:latin typeface="Aptos"/>
              </a:rPr>
              <a:t>Speaker gap</a:t>
            </a:r>
            <a:endParaRPr lang="hr-HR" sz="1300"/>
          </a:p>
        </p:txBody>
      </p:sp>
      <p:sp>
        <p:nvSpPr>
          <p:cNvPr id="47" name="Text"/>
          <p:cNvSpPr txBox="1"/>
          <p:nvPr/>
        </p:nvSpPr>
        <p:spPr>
          <a:xfrm>
            <a:off x="5867400" y="3784600"/>
            <a:ext cx="19685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850" b="1">
                <a:solidFill>
                  <a:srgbClr val="15171A"/>
                </a:solidFill>
                <a:latin typeface="Aptos"/>
              </a:rPr>
              <a:t>0.075 vs 0.160</a:t>
            </a:r>
            <a:endParaRPr lang="hr-HR" sz="1850"/>
          </a:p>
        </p:txBody>
      </p:sp>
      <p:sp>
        <p:nvSpPr>
          <p:cNvPr id="48" name="Text"/>
          <p:cNvSpPr txBox="1"/>
          <p:nvPr/>
        </p:nvSpPr>
        <p:spPr>
          <a:xfrm>
            <a:off x="5867400" y="4038600"/>
            <a:ext cx="1905000" cy="139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050">
                <a:solidFill>
                  <a:srgbClr val="15171A"/>
                </a:solidFill>
                <a:latin typeface="Aptos"/>
              </a:rPr>
              <a:t>seen vs unseen VEPRAD</a:t>
            </a:r>
            <a:endParaRPr lang="hr-HR" sz="1050"/>
          </a:p>
        </p:txBody>
      </p:sp>
      <p:sp>
        <p:nvSpPr>
          <p:cNvPr id="49" name="Text"/>
          <p:cNvSpPr txBox="1"/>
          <p:nvPr/>
        </p:nvSpPr>
        <p:spPr>
          <a:xfrm>
            <a:off x="444500" y="4667250"/>
            <a:ext cx="38735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900" b="1">
                <a:solidFill>
                  <a:srgbClr val="15171A"/>
                </a:solidFill>
                <a:latin typeface="Aptos"/>
              </a:rPr>
              <a:t>Zaključci</a:t>
            </a:r>
            <a:endParaRPr lang="hr-HR" sz="1900"/>
          </a:p>
        </p:txBody>
      </p:sp>
      <p:sp>
        <p:nvSpPr>
          <p:cNvPr id="50" name="Rule"/>
          <p:cNvSpPr/>
          <p:nvPr/>
        </p:nvSpPr>
        <p:spPr>
          <a:xfrm>
            <a:off x="444500" y="4908550"/>
            <a:ext cx="571500" cy="38100"/>
          </a:xfrm>
          <a:prstGeom prst="rect">
            <a:avLst/>
          </a:prstGeom>
          <a:solidFill>
            <a:srgbClr val="E24A2A"/>
          </a:solidFill>
          <a:ln>
            <a:noFill/>
          </a:ln>
        </p:spPr>
      </p:sp>
      <p:sp>
        <p:nvSpPr>
          <p:cNvPr id="51" name="Text"/>
          <p:cNvSpPr txBox="1"/>
          <p:nvPr/>
        </p:nvSpPr>
        <p:spPr>
          <a:xfrm>
            <a:off x="444500" y="5080000"/>
            <a:ext cx="447675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50">
                <a:solidFill>
                  <a:srgbClr val="20282C"/>
                </a:solidFill>
                <a:latin typeface="Aptos"/>
              </a:rPr>
              <a:t>• Sustav radi end-to-end na VEPRAD-u: splitovi, trening, dekodiranje i metrike su reproducibilni.</a:t>
            </a:r>
            <a:endParaRPr lang="hr-HR" sz="1350"/>
          </a:p>
          <a:p>
            <a:r>
              <a:rPr lang="hr-HR" sz="1350">
                <a:solidFill>
                  <a:srgbClr val="20282C"/>
                </a:solidFill>
                <a:latin typeface="Aptos"/>
              </a:rPr>
              <a:t>• Dublje nije automatski bolje: 5-layer GRU je bolji od 7GRU i 7LSTM u ovoj postavci.</a:t>
            </a:r>
            <a:endParaRPr lang="hr-HR" sz="1350"/>
          </a:p>
          <a:p>
            <a:r>
              <a:rPr lang="hr-HR" sz="1350">
                <a:solidFill>
                  <a:srgbClr val="20282C"/>
                </a:solidFill>
                <a:latin typeface="Aptos"/>
              </a:rPr>
              <a:t>• KenLM je ključan jer VEPRAD sadrži mnogo ponavljajućih vremenskih fraza.</a:t>
            </a:r>
            <a:endParaRPr lang="hr-HR" sz="1350"/>
          </a:p>
        </p:txBody>
      </p:sp>
      <p:sp>
        <p:nvSpPr>
          <p:cNvPr id="52" name="Text"/>
          <p:cNvSpPr txBox="1"/>
          <p:nvPr/>
        </p:nvSpPr>
        <p:spPr>
          <a:xfrm>
            <a:off x="5683250" y="4667250"/>
            <a:ext cx="3302000" cy="21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900" b="1">
                <a:solidFill>
                  <a:srgbClr val="15171A"/>
                </a:solidFill>
                <a:latin typeface="Aptos"/>
              </a:rPr>
              <a:t>Što bi bilo iduće</a:t>
            </a:r>
            <a:endParaRPr lang="hr-HR" sz="1900"/>
          </a:p>
        </p:txBody>
      </p:sp>
      <p:sp>
        <p:nvSpPr>
          <p:cNvPr id="53" name="Rule"/>
          <p:cNvSpPr/>
          <p:nvPr/>
        </p:nvSpPr>
        <p:spPr>
          <a:xfrm>
            <a:off x="5683250" y="4908550"/>
            <a:ext cx="571500" cy="38100"/>
          </a:xfrm>
          <a:prstGeom prst="rect">
            <a:avLst/>
          </a:prstGeom>
          <a:solidFill>
            <a:srgbClr val="2C8C99"/>
          </a:solidFill>
          <a:ln>
            <a:noFill/>
          </a:ln>
        </p:spPr>
      </p:sp>
      <p:sp>
        <p:nvSpPr>
          <p:cNvPr id="54" name="Text"/>
          <p:cNvSpPr txBox="1"/>
          <p:nvPr/>
        </p:nvSpPr>
        <p:spPr>
          <a:xfrm>
            <a:off x="5683250" y="5080000"/>
            <a:ext cx="393700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1350">
                <a:solidFill>
                  <a:srgbClr val="20282C"/>
                </a:solidFill>
                <a:latin typeface="Aptos"/>
              </a:rPr>
              <a:t>• više CV splitova za stabilniju procjenu</a:t>
            </a:r>
            <a:endParaRPr lang="hr-HR" sz="1350"/>
          </a:p>
          <a:p>
            <a:r>
              <a:rPr lang="hr-HR" sz="1350">
                <a:solidFill>
                  <a:srgbClr val="20282C"/>
                </a:solidFill>
                <a:latin typeface="Aptos"/>
              </a:rPr>
              <a:t>• n-gram order sweep za KenLM</a:t>
            </a:r>
            <a:endParaRPr lang="hr-HR" sz="1350"/>
          </a:p>
          <a:p>
            <a:r>
              <a:rPr lang="hr-HR" sz="1350">
                <a:solidFill>
                  <a:srgbClr val="20282C"/>
                </a:solidFill>
                <a:latin typeface="Aptos"/>
              </a:rPr>
              <a:t>• eventualno model/feature promjene koje zahtijevaju PaddleSpeech source edit</a:t>
            </a:r>
            <a:endParaRPr lang="hr-HR" sz="1350"/>
          </a:p>
        </p:txBody>
      </p:sp>
      <p:sp>
        <p:nvSpPr>
          <p:cNvPr id="55" name="Footer"/>
          <p:cNvSpPr txBox="1"/>
          <p:nvPr/>
        </p:nvSpPr>
        <p:spPr>
          <a:xfrm>
            <a:off x="444500" y="6591300"/>
            <a:ext cx="92075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r>
              <a:rPr lang="hr-HR" sz="850">
                <a:solidFill>
                  <a:srgbClr val="6F6A5B"/>
                </a:solidFill>
                <a:latin typeface="Aptos"/>
              </a:rPr>
              <a:t>Tracked results: results/kenlm_sweep_all_models/metrics.json and per-run summary.md files.</a:t>
            </a:r>
            <a:endParaRPr lang="hr-HR" sz="85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OGJ VEPRAD">
  <a:themeElements>
    <a:clrScheme name="ROGJ">
      <a:dk1>
        <a:srgbClr val="15171A"/>
      </a:dk1>
      <a:lt1>
        <a:srgbClr val="F8F3E8"/>
      </a:lt1>
      <a:dk2>
        <a:srgbClr val="20282C"/>
      </a:dk2>
      <a:lt2>
        <a:srgbClr val="F2DFC7"/>
      </a:lt2>
      <a:accent1>
        <a:srgbClr val="E24A2A"/>
      </a:accent1>
      <a:accent2>
        <a:srgbClr val="2C8C99"/>
      </a:accent2>
      <a:accent3>
        <a:srgbClr val="F0B429"/>
      </a:accent3>
      <a:accent4>
        <a:srgbClr val="5A7D3A"/>
      </a:accent4>
      <a:accent5>
        <a:srgbClr val="7B4A2D"/>
      </a:accent5>
      <a:accent6>
        <a:srgbClr val="6F6A5B"/>
      </a:accent6>
      <a:hlink>
        <a:srgbClr val="2C8C99"/>
      </a:hlink>
      <a:folHlink>
        <a:srgbClr val="7B4A2D"/>
      </a:folHlink>
    </a:clrScheme>
    <a:fontScheme name="ROGJ Fonts">
      <a:majorFont>
        <a:latin typeface="Aptos Display"/>
      </a:majorFont>
      <a:minorFont>
        <a:latin typeface="Aptos"/>
      </a:minorFont>
    </a:fontScheme>
    <a:fmtScheme name="ROGJ Format">
      <a:fillStyleLst>
        <a:solidFill>
          <a:schemeClr val="accent1"/>
        </a:solidFill>
      </a:fillStyleLst>
      <a:lnStyleLst>
        <a:ln w="6350">
          <a:solidFill>
            <a:schemeClr val="accent1"/>
          </a:solidFill>
        </a:ln>
      </a:lnStyleLst>
      <a:effectStyleLst>
        <a:effectStyle>
          <a:effectLst/>
        </a:effectStyle>
      </a:effectStyleLst>
      <a:bgFillStyleLst>
        <a:solidFill>
          <a:schemeClr val="lt1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Codex</Application>
  <PresentationFormat>On-screen Show (16:9)</PresentationFormat>
  <Slides>7</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ROGJ DeepSpeech2 VEPRAD Presentation</dc:title>
  <dc:subject>DeepSpeech2 acoustic model training on VEPRAD</dc:subject>
  <dc:creator>Codex</dc:creator>
  <cp:lastModifiedBy>Codex</cp:lastModifiedBy>
  <dcterms:created xsi:type="dcterms:W3CDTF">2026-06-13T00:00:00Z</dcterms:created>
  <dcterms:modified xsi:type="dcterms:W3CDTF">2026-06-13T00:00:00Z</dcterms:modified>
</cp:coreProperties>
</file>